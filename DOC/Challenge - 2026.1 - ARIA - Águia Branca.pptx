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5143500" cy="9144000"/>
  <p:embeddedFontLst>
    <p:embeddedFont>
      <p:font typeface="Cormorant Garamond"/>
      <p:regular r:id="rId25"/>
      <p:bold r:id="rId26"/>
      <p:italic r:id="rId27"/>
      <p:boldItalic r:id="rId28"/>
    </p:embeddedFont>
    <p:embeddedFont>
      <p:font typeface="Outfit Light"/>
      <p:regular r:id="rId29"/>
      <p:bold r:id="rId30"/>
    </p:embeddedFont>
    <p:embeddedFont>
      <p:font typeface="Outfit"/>
      <p:regular r:id="rId31"/>
      <p:bold r:id="rId32"/>
    </p:embeddedFont>
    <p:embeddedFont>
      <p:font typeface="DM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jMuRulF3tOvv7j9EhJfRuWfMwH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ormorantGaramond-bold.fntdata"/><Relationship Id="rId25" Type="http://schemas.openxmlformats.org/officeDocument/2006/relationships/font" Target="fonts/CormorantGaramond-regular.fntdata"/><Relationship Id="rId28" Type="http://schemas.openxmlformats.org/officeDocument/2006/relationships/font" Target="fonts/CormorantGaramond-boldItalic.fntdata"/><Relationship Id="rId27" Type="http://schemas.openxmlformats.org/officeDocument/2006/relationships/font" Target="fonts/CormorantGaramond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utfitLigh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utfit-regular.fntdata"/><Relationship Id="rId30" Type="http://schemas.openxmlformats.org/officeDocument/2006/relationships/font" Target="fonts/OutfitLight-bold.fntdata"/><Relationship Id="rId11" Type="http://schemas.openxmlformats.org/officeDocument/2006/relationships/slide" Target="slides/slide7.xml"/><Relationship Id="rId33" Type="http://schemas.openxmlformats.org/officeDocument/2006/relationships/font" Target="fonts/DMSans-regular.fntdata"/><Relationship Id="rId10" Type="http://schemas.openxmlformats.org/officeDocument/2006/relationships/slide" Target="slides/slide6.xml"/><Relationship Id="rId32" Type="http://schemas.openxmlformats.org/officeDocument/2006/relationships/font" Target="fonts/Outfit-bold.fntdata"/><Relationship Id="rId13" Type="http://schemas.openxmlformats.org/officeDocument/2006/relationships/slide" Target="slides/slide9.xml"/><Relationship Id="rId35" Type="http://schemas.openxmlformats.org/officeDocument/2006/relationships/font" Target="fonts/DMSans-italic.fntdata"/><Relationship Id="rId12" Type="http://schemas.openxmlformats.org/officeDocument/2006/relationships/slide" Target="slides/slide8.xml"/><Relationship Id="rId34" Type="http://schemas.openxmlformats.org/officeDocument/2006/relationships/font" Target="fonts/DMSans-bold.fntdata"/><Relationship Id="rId15" Type="http://schemas.openxmlformats.org/officeDocument/2006/relationships/slide" Target="slides/slide11.xml"/><Relationship Id="rId37" Type="http://customschemas.google.com/relationships/presentationmetadata" Target="metadata"/><Relationship Id="rId14" Type="http://schemas.openxmlformats.org/officeDocument/2006/relationships/slide" Target="slides/slide10.xml"/><Relationship Id="rId36" Type="http://schemas.openxmlformats.org/officeDocument/2006/relationships/font" Target="fonts/DMSans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a8bb52cac1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g3a8bb52cac1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g3a8bb52cac1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8bb52cac1_0_2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a8bb52cac1_0_26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8bb52cac1_0_8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a8bb52cac1_0_84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8bb52cac1_0_10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a8bb52cac1_0_101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a8bb52cac1_0_11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a8bb52cac1_0_115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7" name="Google Shape;53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5" name="Google Shape;57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1" name="Google Shape;62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2" name="Google Shape;65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1" name="Google Shape;701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6" name="Google Shape;72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8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jpg"/><Relationship Id="rId4" Type="http://schemas.openxmlformats.org/officeDocument/2006/relationships/image" Target="../media/image2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jpg"/><Relationship Id="rId4" Type="http://schemas.openxmlformats.org/officeDocument/2006/relationships/image" Target="../media/image2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jpg"/><Relationship Id="rId4" Type="http://schemas.openxmlformats.org/officeDocument/2006/relationships/image" Target="../media/image3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2.jpg"/><Relationship Id="rId9" Type="http://schemas.openxmlformats.org/officeDocument/2006/relationships/image" Target="../media/image11.png"/><Relationship Id="rId5" Type="http://schemas.openxmlformats.org/officeDocument/2006/relationships/image" Target="../media/image22.jpg"/><Relationship Id="rId6" Type="http://schemas.openxmlformats.org/officeDocument/2006/relationships/image" Target="../media/image10.png"/><Relationship Id="rId7" Type="http://schemas.openxmlformats.org/officeDocument/2006/relationships/image" Target="../media/image21.png"/><Relationship Id="rId8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3.jpg"/><Relationship Id="rId10" Type="http://schemas.openxmlformats.org/officeDocument/2006/relationships/image" Target="../media/image32.png"/><Relationship Id="rId9" Type="http://schemas.openxmlformats.org/officeDocument/2006/relationships/image" Target="../media/image17.png"/><Relationship Id="rId5" Type="http://schemas.openxmlformats.org/officeDocument/2006/relationships/image" Target="../media/image4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9" Type="http://schemas.openxmlformats.org/officeDocument/2006/relationships/image" Target="../media/image29.png"/><Relationship Id="rId5" Type="http://schemas.openxmlformats.org/officeDocument/2006/relationships/hyperlink" Target="https://github.com/PROJETOS-FIAP-2TDSOD/aria-project" TargetMode="External"/><Relationship Id="rId6" Type="http://schemas.openxmlformats.org/officeDocument/2006/relationships/image" Target="../media/image28.png"/><Relationship Id="rId7" Type="http://schemas.openxmlformats.org/officeDocument/2006/relationships/hyperlink" Target="https://www.youtube.com/watch?v=ATDV6rCb3lc" TargetMode="External"/><Relationship Id="rId8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54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8bb52cac1_0_0"/>
          <p:cNvSpPr/>
          <p:nvPr/>
        </p:nvSpPr>
        <p:spPr>
          <a:xfrm>
            <a:off x="0" y="0"/>
            <a:ext cx="3346800" cy="5143500"/>
          </a:xfrm>
          <a:prstGeom prst="rect">
            <a:avLst/>
          </a:prstGeom>
          <a:solidFill>
            <a:srgbClr val="2A38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" name="Google Shape;13;g3a8bb52cac1_0_0"/>
          <p:cNvSpPr/>
          <p:nvPr/>
        </p:nvSpPr>
        <p:spPr>
          <a:xfrm>
            <a:off x="3359673" y="0"/>
            <a:ext cx="22800" cy="51435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14" name="Google Shape;14;g3a8bb52cac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595985"/>
            <a:ext cx="2788920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g3a8bb52cac1_0_0"/>
          <p:cNvSpPr/>
          <p:nvPr/>
        </p:nvSpPr>
        <p:spPr>
          <a:xfrm>
            <a:off x="251507" y="1300990"/>
            <a:ext cx="301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200"/>
              <a:buFont typeface="DM Sans"/>
              <a:buNone/>
            </a:pPr>
            <a:r>
              <a:rPr b="1" i="1" lang="en-US" sz="1500" u="none" cap="none" strike="noStrik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Transformando ideias em impacto</a:t>
            </a:r>
            <a:endParaRPr b="1" i="0" sz="15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16;g3a8bb52cac1_0_0"/>
          <p:cNvSpPr/>
          <p:nvPr/>
        </p:nvSpPr>
        <p:spPr>
          <a:xfrm>
            <a:off x="1005840" y="1844040"/>
            <a:ext cx="1508700" cy="228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" name="Google Shape;17;g3a8bb52cac1_0_0"/>
          <p:cNvSpPr/>
          <p:nvPr/>
        </p:nvSpPr>
        <p:spPr>
          <a:xfrm>
            <a:off x="256032" y="2066544"/>
            <a:ext cx="301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000"/>
              <a:buFont typeface="DM Sans"/>
              <a:buNone/>
            </a:pPr>
            <a:r>
              <a:rPr b="0" i="0" lang="en-US" sz="12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EQUIPE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" name="Google Shape;18;g3a8bb52cac1_0_0"/>
          <p:cNvSpPr/>
          <p:nvPr/>
        </p:nvSpPr>
        <p:spPr>
          <a:xfrm>
            <a:off x="182875" y="2322575"/>
            <a:ext cx="3163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DM Sa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Ana Cristina dos Santos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" name="Google Shape;19;g3a8bb52cac1_0_0"/>
          <p:cNvSpPr/>
          <p:nvPr/>
        </p:nvSpPr>
        <p:spPr>
          <a:xfrm>
            <a:off x="182875" y="2619553"/>
            <a:ext cx="31638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000"/>
              <a:buFont typeface="DM Sans"/>
              <a:buNone/>
            </a:pPr>
            <a:r>
              <a:rPr b="0" i="0" lang="en-US" sz="12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RM 565086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" name="Google Shape;20;g3a8bb52cac1_0_0"/>
          <p:cNvSpPr/>
          <p:nvPr/>
        </p:nvSpPr>
        <p:spPr>
          <a:xfrm>
            <a:off x="182875" y="2875569"/>
            <a:ext cx="3163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DM Sa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Bruno Queiroz Pires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" name="Google Shape;21;g3a8bb52cac1_0_0"/>
          <p:cNvSpPr/>
          <p:nvPr/>
        </p:nvSpPr>
        <p:spPr>
          <a:xfrm>
            <a:off x="182875" y="3172548"/>
            <a:ext cx="31638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000"/>
              <a:buFont typeface="DM Sans"/>
              <a:buNone/>
            </a:pPr>
            <a:r>
              <a:rPr b="0" i="0" lang="en-US" sz="12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RM 561676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" name="Google Shape;22;g3a8bb52cac1_0_0"/>
          <p:cNvSpPr/>
          <p:nvPr/>
        </p:nvSpPr>
        <p:spPr>
          <a:xfrm>
            <a:off x="182875" y="3428564"/>
            <a:ext cx="3163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DM Sa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b="0" i="0" lang="en-US" sz="1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tor Mello de Araújo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" name="Google Shape;23;g3a8bb52cac1_0_0"/>
          <p:cNvSpPr/>
          <p:nvPr/>
        </p:nvSpPr>
        <p:spPr>
          <a:xfrm>
            <a:off x="182875" y="3725543"/>
            <a:ext cx="31638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000"/>
              <a:buFont typeface="DM Sans"/>
              <a:buNone/>
            </a:pPr>
            <a:r>
              <a:rPr b="0" i="0" lang="en-US" sz="12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RM 561632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" name="Google Shape;24;g3a8bb52cac1_0_0"/>
          <p:cNvSpPr/>
          <p:nvPr/>
        </p:nvSpPr>
        <p:spPr>
          <a:xfrm>
            <a:off x="182875" y="3981559"/>
            <a:ext cx="3163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DM Sa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b="0" i="0" lang="en-US" sz="1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tor Passeri de Souza Kaluf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" name="Google Shape;25;g3a8bb52cac1_0_0"/>
          <p:cNvSpPr/>
          <p:nvPr/>
        </p:nvSpPr>
        <p:spPr>
          <a:xfrm>
            <a:off x="182875" y="4278537"/>
            <a:ext cx="31638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000"/>
              <a:buFont typeface="DM Sans"/>
              <a:buNone/>
            </a:pPr>
            <a:r>
              <a:rPr b="0" i="0" lang="en-US" sz="12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RM 562852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" name="Google Shape;26;g3a8bb52cac1_0_0"/>
          <p:cNvSpPr/>
          <p:nvPr/>
        </p:nvSpPr>
        <p:spPr>
          <a:xfrm>
            <a:off x="3794760" y="595985"/>
            <a:ext cx="5120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500"/>
              <a:buFont typeface="DM Sans"/>
              <a:buNone/>
            </a:pPr>
            <a:r>
              <a:rPr b="0" i="0" lang="en-US" sz="2200" u="none" cap="none" strike="noStrike">
                <a:solidFill>
                  <a:srgbClr val="AABBD0"/>
                </a:solidFill>
                <a:latin typeface="Outfit Light"/>
                <a:ea typeface="Outfit Light"/>
                <a:cs typeface="Outfit Light"/>
                <a:sym typeface="Outfit Light"/>
              </a:rPr>
              <a:t>Plataforma de Gestão de</a:t>
            </a:r>
            <a:endParaRPr b="0" i="0" sz="22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7" name="Google Shape;27;g3a8bb52cac1_0_0"/>
          <p:cNvSpPr/>
          <p:nvPr/>
        </p:nvSpPr>
        <p:spPr>
          <a:xfrm>
            <a:off x="3794760" y="989895"/>
            <a:ext cx="5120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DM Sans"/>
              <a:buNone/>
            </a:pPr>
            <a:r>
              <a:rPr b="0" i="0" lang="en-US" sz="3800" u="none" cap="none" strike="noStrike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rPr>
              <a:t>Inovação Corporativa</a:t>
            </a:r>
            <a:endParaRPr b="0" i="0" sz="38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8" name="Google Shape;28;g3a8bb52cac1_0_0"/>
          <p:cNvSpPr/>
          <p:nvPr/>
        </p:nvSpPr>
        <p:spPr>
          <a:xfrm>
            <a:off x="3794760" y="1843694"/>
            <a:ext cx="4846200" cy="321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" name="Google Shape;29;g3a8bb52cac1_0_0"/>
          <p:cNvSpPr/>
          <p:nvPr/>
        </p:nvSpPr>
        <p:spPr>
          <a:xfrm>
            <a:off x="3737706" y="2304350"/>
            <a:ext cx="5306100" cy="11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DM Sans"/>
              <a:buNone/>
            </a:pPr>
            <a:r>
              <a:rPr b="1" i="1" lang="en-US" sz="2400" u="none" cap="none" strike="noStrike">
                <a:solidFill>
                  <a:srgbClr val="EDE8D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Mais do que um app de ideias:</a:t>
            </a:r>
            <a:endParaRPr b="0" i="0" sz="2400" u="none" cap="none" strike="noStrike">
              <a:solidFill>
                <a:srgbClr val="EDE8D8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DM Sans"/>
              <a:buNone/>
            </a:pPr>
            <a:r>
              <a:rPr b="1" i="1" lang="en-US" sz="2400" u="none" cap="none" strike="noStrike">
                <a:solidFill>
                  <a:srgbClr val="EDE8D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um ecossistema de </a:t>
            </a:r>
            <a:endParaRPr b="0" i="1" sz="2400" u="none" cap="none" strike="noStrike">
              <a:solidFill>
                <a:srgbClr val="EDE8D8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DM Sans"/>
              <a:buNone/>
            </a:pPr>
            <a:r>
              <a:rPr b="1" i="1" lang="en-US" sz="2400" u="none" cap="none" strike="noStrike">
                <a:solidFill>
                  <a:srgbClr val="EDE8D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inovação corporativa</a:t>
            </a:r>
            <a:r>
              <a:rPr b="0" i="1" lang="en-US" sz="2200" u="none" cap="none" strike="noStrike">
                <a:solidFill>
                  <a:srgbClr val="EDE8D8"/>
                </a:solidFill>
                <a:latin typeface="Outfit Light"/>
                <a:ea typeface="Outfit Light"/>
                <a:cs typeface="Outfit Light"/>
                <a:sym typeface="Outfit Light"/>
              </a:rPr>
              <a:t>.</a:t>
            </a:r>
            <a:endParaRPr b="0" i="0" sz="2200" u="none" cap="none" strike="noStrike">
              <a:solidFill>
                <a:srgbClr val="EDE8D8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DE8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91440"/>
            <a:ext cx="777240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1060704" y="137160"/>
            <a:ext cx="1221638" cy="201168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060704" y="137160"/>
            <a:ext cx="122163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850"/>
              <a:buFont typeface="DM Sans"/>
              <a:buNone/>
            </a:pPr>
            <a:r>
              <a:rPr b="1" i="0" lang="en-US" sz="85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DIFERENCIAIS</a:t>
            </a:r>
            <a:endParaRPr b="0" i="0" sz="8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60704" y="135331"/>
            <a:ext cx="7863840" cy="204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2000"/>
              <a:buFont typeface="DM Sans"/>
              <a:buNone/>
            </a:pPr>
            <a:r>
              <a:rPr b="0" i="0" lang="en-US" sz="1400" u="none" cap="none" strike="noStrike">
                <a:solidFill>
                  <a:srgbClr val="1A2540"/>
                </a:solidFill>
                <a:latin typeface="Outfit Light"/>
                <a:ea typeface="Outfit Light"/>
                <a:cs typeface="Outfit Light"/>
                <a:sym typeface="Outfit Light"/>
              </a:rPr>
              <a:t>                                                                                                                      </a:t>
            </a:r>
            <a:r>
              <a:rPr b="0" i="0" lang="en-US" sz="14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rPr>
              <a:t>O que torna  o ARIA diferente?</a:t>
            </a:r>
            <a:endParaRPr b="0" i="0" sz="2000" u="none" cap="none" strike="noStrike">
              <a:solidFill>
                <a:schemeClr val="lt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407603" y="1025722"/>
            <a:ext cx="4149900" cy="184710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D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407600" y="1025702"/>
            <a:ext cx="4149900" cy="79380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9270" y="1268261"/>
            <a:ext cx="458095" cy="31089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5027374" y="1025702"/>
            <a:ext cx="33951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500"/>
              <a:buFont typeface="DM Sans"/>
              <a:buNone/>
            </a:pPr>
            <a:r>
              <a:rPr b="0" i="0" lang="en-US" sz="1800" u="none" cap="none" strike="noStrike">
                <a:solidFill>
                  <a:srgbClr val="C87D0E"/>
                </a:solidFill>
                <a:latin typeface="Outfit Light"/>
                <a:ea typeface="Outfit Light"/>
                <a:cs typeface="Outfit Light"/>
                <a:sym typeface="Outfit Light"/>
              </a:rPr>
              <a:t>Fluxo Ponta a Ponta</a:t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96223" y="1922285"/>
            <a:ext cx="37995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800"/>
              <a:buFont typeface="DM Sans"/>
              <a:buNone/>
            </a:pPr>
            <a:r>
              <a:rPr i="0" lang="en-US" sz="15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Da ideia ao ROI — inovação acompanhada em todas as etapas.</a:t>
            </a:r>
            <a:endParaRPr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64350" y="3143850"/>
            <a:ext cx="3884100" cy="184710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D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64353" y="3143850"/>
            <a:ext cx="3884100" cy="79380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47" name="Google Shape;4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679" y="3420524"/>
            <a:ext cx="468325" cy="33952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944454" y="3143850"/>
            <a:ext cx="31779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500"/>
              <a:buFont typeface="DM Sans"/>
              <a:buNone/>
            </a:pPr>
            <a:r>
              <a:rPr b="0" i="0" lang="en-US" sz="1800" u="none" cap="none" strike="noStrike">
                <a:solidFill>
                  <a:srgbClr val="C87D0E"/>
                </a:solidFill>
                <a:latin typeface="Outfit Light"/>
                <a:ea typeface="Outfit Light"/>
                <a:cs typeface="Outfit Light"/>
                <a:sym typeface="Outfit Light"/>
              </a:rPr>
              <a:t>Engajamento contínuo</a:t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0891" y="3956151"/>
            <a:ext cx="35562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800"/>
              <a:buFont typeface="DM Sans"/>
              <a:buNone/>
            </a:pPr>
            <a:r>
              <a:rPr i="0" lang="en-US" sz="15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Gamificação corporativa para incentivar participação real.</a:t>
            </a:r>
            <a:endParaRPr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407675" y="3143850"/>
            <a:ext cx="4149900" cy="184710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D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407676" y="3143850"/>
            <a:ext cx="4149900" cy="79380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52" name="Google Shape;5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69345" y="3365350"/>
            <a:ext cx="458085" cy="4202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5027443" y="3143850"/>
            <a:ext cx="33951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500"/>
              <a:buFont typeface="DM Sans"/>
              <a:buNone/>
            </a:pPr>
            <a:r>
              <a:rPr b="0" i="0" lang="en-US" sz="1800" u="none" cap="none" strike="noStrike">
                <a:solidFill>
                  <a:srgbClr val="C87D0E"/>
                </a:solidFill>
                <a:latin typeface="Outfit Light"/>
                <a:ea typeface="Outfit Light"/>
                <a:cs typeface="Outfit Light"/>
                <a:sym typeface="Outfit Light"/>
              </a:rPr>
              <a:t>Inteligência estratégica</a:t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96294" y="3956151"/>
            <a:ext cx="37992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800"/>
              <a:buFont typeface="DM Sans"/>
              <a:buNone/>
            </a:pPr>
            <a:r>
              <a:rPr i="0" lang="en-US" sz="15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Dashboard executivo com analytics, tendências e insights. </a:t>
            </a:r>
            <a:endParaRPr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64350" y="1015000"/>
            <a:ext cx="3918900" cy="184710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D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64350" y="1015000"/>
            <a:ext cx="3918900" cy="79380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57" name="Google Shape;5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8836" y="1286023"/>
            <a:ext cx="361339" cy="25968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/>
          <p:nvPr/>
        </p:nvSpPr>
        <p:spPr>
          <a:xfrm>
            <a:off x="949613" y="1015000"/>
            <a:ext cx="32061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500"/>
              <a:buFont typeface="DM Sans"/>
              <a:buNone/>
            </a:pPr>
            <a:r>
              <a:rPr b="0" i="0" lang="en-US" sz="1800" u="none" cap="none" strike="noStrike">
                <a:solidFill>
                  <a:srgbClr val="C87D0E"/>
                </a:solidFill>
                <a:latin typeface="Outfit Light"/>
                <a:ea typeface="Outfit Light"/>
                <a:cs typeface="Outfit Light"/>
                <a:sym typeface="Outfit Light"/>
              </a:rPr>
              <a:t>Captura estruturada</a:t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42462" y="1940050"/>
            <a:ext cx="35880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800"/>
              <a:buFont typeface="DM Sans"/>
              <a:buNone/>
            </a:pPr>
            <a:r>
              <a:rPr i="0" lang="en-US" sz="15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Ideias operacionais deixam de </a:t>
            </a:r>
            <a:endParaRPr i="0" sz="1500" u="none" cap="none" strike="noStrike"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800"/>
              <a:buFont typeface="DM Sans"/>
              <a:buNone/>
            </a:pPr>
            <a:r>
              <a:rPr i="0" lang="en-US" sz="15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se perder em </a:t>
            </a:r>
            <a:endParaRPr i="0" sz="1500" u="none" cap="none" strike="noStrike"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800"/>
              <a:buFont typeface="DM Sans"/>
              <a:buNone/>
            </a:pPr>
            <a:r>
              <a:rPr i="0" lang="en-US" sz="15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emails, whatsApp e papel. </a:t>
            </a:r>
            <a:endParaRPr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DE8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38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91440"/>
            <a:ext cx="777240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1060704" y="137160"/>
            <a:ext cx="796442" cy="201168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60704" y="137160"/>
            <a:ext cx="79644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850"/>
              <a:buFont typeface="DM Sans"/>
              <a:buNone/>
            </a:pPr>
            <a:r>
              <a:rPr b="1" i="0" lang="en-US" sz="85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DESAFIO</a:t>
            </a:r>
            <a:endParaRPr b="0" i="0" sz="8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060704" y="135331"/>
            <a:ext cx="7863840" cy="204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2000"/>
              <a:buFont typeface="DM Sans"/>
              <a:buNone/>
            </a:pPr>
            <a:r>
              <a:rPr b="0" i="0" lang="en-US" sz="1400" u="none" cap="none" strike="noStrike">
                <a:solidFill>
                  <a:srgbClr val="C87D0E"/>
                </a:solidFill>
                <a:latin typeface="Outfit Light"/>
                <a:ea typeface="Outfit Light"/>
                <a:cs typeface="Outfit Light"/>
                <a:sym typeface="Outfit Light"/>
              </a:rPr>
              <a:t>                                                                                                                     </a:t>
            </a:r>
            <a:r>
              <a:rPr b="0" i="0" lang="en-US" sz="1600" u="none" cap="none" strike="noStrike">
                <a:solidFill>
                  <a:srgbClr val="C87D0E"/>
                </a:solidFill>
                <a:latin typeface="Outfit Light"/>
                <a:ea typeface="Outfit Light"/>
                <a:cs typeface="Outfit Light"/>
                <a:sym typeface="Outfit Light"/>
              </a:rPr>
              <a:t>O Desafio do Grupo Águia Branca</a:t>
            </a:r>
            <a:endParaRPr b="0" i="0" sz="22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47472" y="56692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DM Sans"/>
              <a:buNone/>
            </a:pPr>
            <a:r>
              <a:rPr b="0" i="1" lang="en-US" sz="1400" u="none" cap="none" strike="noStrike">
                <a:solidFill>
                  <a:srgbClr val="37415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Como conectar 20 mil colaboradores à estratégia da diretoria?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228600" y="1005840"/>
            <a:ext cx="4251960" cy="192024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228600" y="1005840"/>
            <a:ext cx="4251960" cy="438912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73" name="Google Shape;7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" y="11064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667512" y="100584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800"/>
              <a:buFont typeface="DM Sans"/>
              <a:buNone/>
            </a:pPr>
            <a:r>
              <a:rPr b="1" i="0" lang="en-US" sz="19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Engajamento Operacional</a:t>
            </a:r>
            <a:endParaRPr b="0" i="0" sz="1900" u="none" cap="none" strike="noStrike"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56616" y="1517904"/>
            <a:ext cx="4005072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DM Sans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Ideias valiosas se perdem em rádio, WhatsApp e papel. </a:t>
            </a:r>
            <a:endParaRPr b="0" i="0" sz="1500" u="none" cap="none" strike="noStrike">
              <a:solidFill>
                <a:srgbClr val="37415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DM Sans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Sem canal estruturado.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681728" y="1005840"/>
            <a:ext cx="4251960" cy="192024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681728" y="1005840"/>
            <a:ext cx="4251960" cy="438912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78" name="Google Shape;7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9744" y="11064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5120640" y="100584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800"/>
              <a:buFont typeface="DM Sans"/>
              <a:buNone/>
            </a:pPr>
            <a:r>
              <a:rPr b="1" i="0" lang="en-US" sz="19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Visibilidade do Funil</a:t>
            </a:r>
            <a:endParaRPr b="0" i="0" sz="1900" u="none" cap="none" strike="noStrike"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809744" y="1517904"/>
            <a:ext cx="4005072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DM Sans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Gestores sem funil visual. </a:t>
            </a:r>
            <a:endParaRPr b="0" i="0" sz="1500" u="none" cap="none" strike="noStrike">
              <a:solidFill>
                <a:srgbClr val="37415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DM Sans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Priorização subjetiva. </a:t>
            </a:r>
            <a:endParaRPr b="0" i="0" sz="1500" u="none" cap="none" strike="noStrike">
              <a:solidFill>
                <a:srgbClr val="37415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DM Sans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Sem critério de aprovação.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228600" y="3090672"/>
            <a:ext cx="4251960" cy="192024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28600" y="3090672"/>
            <a:ext cx="4251960" cy="438912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83" name="Google Shape;8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6616" y="31912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667512" y="3090672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800"/>
              <a:buFont typeface="DM Sans"/>
              <a:buNone/>
            </a:pPr>
            <a:r>
              <a:rPr b="1" i="0" lang="en-US" sz="19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Mensuração de ROI</a:t>
            </a:r>
            <a:endParaRPr b="0" i="0" sz="1900" u="none" cap="none" strike="noStrike"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56616" y="3602736"/>
            <a:ext cx="4005072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DM Sans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Liderança toma decisões sem dados estruturados</a:t>
            </a:r>
            <a:r>
              <a:rPr b="0" i="0" lang="en-US" sz="15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500" u="none" cap="none" strike="noStrike">
              <a:solidFill>
                <a:srgbClr val="37415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DM Sans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Retorno financeiro das iniciativas invisível.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681728" y="3090672"/>
            <a:ext cx="4251960" cy="192024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681728" y="3090672"/>
            <a:ext cx="4251960" cy="438912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88" name="Google Shape;8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09744" y="31912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/>
          <p:nvPr/>
        </p:nvSpPr>
        <p:spPr>
          <a:xfrm>
            <a:off x="5120640" y="3090672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800"/>
              <a:buFont typeface="DM Sans"/>
              <a:buNone/>
            </a:pPr>
            <a:r>
              <a:rPr b="1" i="0" lang="en-US" sz="19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Conexão Estratégica</a:t>
            </a:r>
            <a:endParaRPr b="0" i="0" sz="1900" u="none" cap="none" strike="noStrike"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809744" y="3602736"/>
            <a:ext cx="4005072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DM Sans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Orientações da diretoria podem não chegar à operação. </a:t>
            </a:r>
            <a:endParaRPr b="0" i="0" sz="1500" u="none" cap="none" strike="noStrike">
              <a:solidFill>
                <a:srgbClr val="37415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DM Sans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Inovação desconectada da operação</a:t>
            </a:r>
            <a:r>
              <a:rPr b="0" i="0" lang="en-US" sz="15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DE8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8bb52cac1_0_26"/>
          <p:cNvSpPr/>
          <p:nvPr/>
        </p:nvSpPr>
        <p:spPr>
          <a:xfrm>
            <a:off x="0" y="0"/>
            <a:ext cx="9144000" cy="475500"/>
          </a:xfrm>
          <a:prstGeom prst="rect">
            <a:avLst/>
          </a:prstGeom>
          <a:solidFill>
            <a:srgbClr val="2A38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" name="Google Shape;96;g3a8bb52cac1_0_26"/>
          <p:cNvSpPr/>
          <p:nvPr/>
        </p:nvSpPr>
        <p:spPr>
          <a:xfrm>
            <a:off x="1060704" y="137160"/>
            <a:ext cx="796500" cy="2013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7" name="Google Shape;97;g3a8bb52cac1_0_26"/>
          <p:cNvSpPr/>
          <p:nvPr/>
        </p:nvSpPr>
        <p:spPr>
          <a:xfrm>
            <a:off x="1060704" y="137160"/>
            <a:ext cx="796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NEGÓCIO</a:t>
            </a:r>
            <a:endParaRPr/>
          </a:p>
        </p:txBody>
      </p:sp>
      <p:sp>
        <p:nvSpPr>
          <p:cNvPr id="98" name="Google Shape;98;g3a8bb52cac1_0_26"/>
          <p:cNvSpPr/>
          <p:nvPr/>
        </p:nvSpPr>
        <p:spPr>
          <a:xfrm>
            <a:off x="1060704" y="135331"/>
            <a:ext cx="78639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Impacto Real — Por Que o ARIA Vale o Investimento</a:t>
            </a:r>
            <a:endParaRPr sz="10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9" name="Google Shape;99;g3a8bb52cac1_0_26"/>
          <p:cNvSpPr/>
          <p:nvPr/>
        </p:nvSpPr>
        <p:spPr>
          <a:xfrm>
            <a:off x="347472" y="689953"/>
            <a:ext cx="84492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Cada problema tem um custo. O ARIA tem um retorno mensurável para cada um deles.</a:t>
            </a:r>
            <a:endParaRPr/>
          </a:p>
        </p:txBody>
      </p:sp>
      <p:sp>
        <p:nvSpPr>
          <p:cNvPr id="100" name="Google Shape;100;g3a8bb52cac1_0_26"/>
          <p:cNvSpPr/>
          <p:nvPr/>
        </p:nvSpPr>
        <p:spPr>
          <a:xfrm>
            <a:off x="347472" y="1085475"/>
            <a:ext cx="2630100" cy="135000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a8bb52cac1_0_26"/>
          <p:cNvSpPr/>
          <p:nvPr/>
        </p:nvSpPr>
        <p:spPr>
          <a:xfrm>
            <a:off x="347472" y="1085475"/>
            <a:ext cx="2630100" cy="1200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a8bb52cac1_0_26"/>
          <p:cNvSpPr/>
          <p:nvPr/>
        </p:nvSpPr>
        <p:spPr>
          <a:xfrm>
            <a:off x="347472" y="1205475"/>
            <a:ext cx="2630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-US" sz="32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20 mil</a:t>
            </a:r>
            <a:endParaRPr/>
          </a:p>
        </p:txBody>
      </p:sp>
      <p:sp>
        <p:nvSpPr>
          <p:cNvPr id="103" name="Google Shape;103;g3a8bb52cac1_0_26"/>
          <p:cNvSpPr/>
          <p:nvPr/>
        </p:nvSpPr>
        <p:spPr>
          <a:xfrm>
            <a:off x="347472" y="1705475"/>
            <a:ext cx="26301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colaboradores</a:t>
            </a:r>
            <a:endParaRPr/>
          </a:p>
        </p:txBody>
      </p:sp>
      <p:sp>
        <p:nvSpPr>
          <p:cNvPr id="104" name="Google Shape;104;g3a8bb52cac1_0_26"/>
          <p:cNvSpPr/>
          <p:nvPr/>
        </p:nvSpPr>
        <p:spPr>
          <a:xfrm>
            <a:off x="347475" y="1945428"/>
            <a:ext cx="2630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0BAD0"/>
                </a:solidFill>
                <a:latin typeface="DM Sans"/>
                <a:ea typeface="DM Sans"/>
                <a:cs typeface="DM Sans"/>
                <a:sym typeface="DM Sans"/>
              </a:rPr>
              <a:t>sem canal estruturado de ideias hoje</a:t>
            </a:r>
            <a:endParaRPr/>
          </a:p>
        </p:txBody>
      </p:sp>
      <p:sp>
        <p:nvSpPr>
          <p:cNvPr id="105" name="Google Shape;105;g3a8bb52cac1_0_26"/>
          <p:cNvSpPr/>
          <p:nvPr/>
        </p:nvSpPr>
        <p:spPr>
          <a:xfrm>
            <a:off x="3127472" y="1085475"/>
            <a:ext cx="2630100" cy="135000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a8bb52cac1_0_26"/>
          <p:cNvSpPr/>
          <p:nvPr/>
        </p:nvSpPr>
        <p:spPr>
          <a:xfrm>
            <a:off x="3127472" y="1085475"/>
            <a:ext cx="2630100" cy="1200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a8bb52cac1_0_26"/>
          <p:cNvSpPr/>
          <p:nvPr/>
        </p:nvSpPr>
        <p:spPr>
          <a:xfrm>
            <a:off x="3127472" y="1205475"/>
            <a:ext cx="2630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-US" sz="32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dias → h</a:t>
            </a:r>
            <a:endParaRPr/>
          </a:p>
        </p:txBody>
      </p:sp>
      <p:sp>
        <p:nvSpPr>
          <p:cNvPr id="108" name="Google Shape;108;g3a8bb52cac1_0_26"/>
          <p:cNvSpPr/>
          <p:nvPr/>
        </p:nvSpPr>
        <p:spPr>
          <a:xfrm>
            <a:off x="3127472" y="1705475"/>
            <a:ext cx="26301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tempo de análise</a:t>
            </a:r>
            <a:endParaRPr/>
          </a:p>
        </p:txBody>
      </p:sp>
      <p:sp>
        <p:nvSpPr>
          <p:cNvPr id="109" name="Google Shape;109;g3a8bb52cac1_0_26"/>
          <p:cNvSpPr/>
          <p:nvPr/>
        </p:nvSpPr>
        <p:spPr>
          <a:xfrm>
            <a:off x="3127475" y="1918770"/>
            <a:ext cx="2630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0BAD0"/>
                </a:solidFill>
                <a:latin typeface="DM Sans"/>
                <a:ea typeface="DM Sans"/>
                <a:cs typeface="DM Sans"/>
                <a:sym typeface="DM Sans"/>
              </a:rPr>
              <a:t>score automático substitui </a:t>
            </a:r>
            <a:r>
              <a:rPr lang="en-US" sz="1200">
                <a:solidFill>
                  <a:srgbClr val="B0BAD0"/>
                </a:solidFill>
                <a:latin typeface="DM Sans"/>
                <a:ea typeface="DM Sans"/>
                <a:cs typeface="DM Sans"/>
                <a:sym typeface="DM Sans"/>
              </a:rPr>
              <a:t>priorização</a:t>
            </a:r>
            <a:r>
              <a:rPr b="0" i="0" lang="en-US" sz="1200" u="none" cap="none" strike="noStrike">
                <a:solidFill>
                  <a:srgbClr val="B0BAD0"/>
                </a:solidFill>
                <a:latin typeface="DM Sans"/>
                <a:ea typeface="DM Sans"/>
                <a:cs typeface="DM Sans"/>
                <a:sym typeface="DM Sans"/>
              </a:rPr>
              <a:t> subjetiva</a:t>
            </a:r>
            <a:endParaRPr/>
          </a:p>
        </p:txBody>
      </p:sp>
      <p:sp>
        <p:nvSpPr>
          <p:cNvPr id="110" name="Google Shape;110;g3a8bb52cac1_0_26"/>
          <p:cNvSpPr/>
          <p:nvPr/>
        </p:nvSpPr>
        <p:spPr>
          <a:xfrm>
            <a:off x="5907472" y="1085475"/>
            <a:ext cx="2889000" cy="135000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a8bb52cac1_0_26"/>
          <p:cNvSpPr/>
          <p:nvPr/>
        </p:nvSpPr>
        <p:spPr>
          <a:xfrm>
            <a:off x="5907472" y="1085475"/>
            <a:ext cx="2889000" cy="1200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a8bb52cac1_0_26"/>
          <p:cNvSpPr/>
          <p:nvPr/>
        </p:nvSpPr>
        <p:spPr>
          <a:xfrm>
            <a:off x="5907472" y="1205475"/>
            <a:ext cx="2889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-US" sz="32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R$ 5,5M</a:t>
            </a:r>
            <a:endParaRPr/>
          </a:p>
        </p:txBody>
      </p:sp>
      <p:sp>
        <p:nvSpPr>
          <p:cNvPr id="113" name="Google Shape;113;g3a8bb52cac1_0_26"/>
          <p:cNvSpPr/>
          <p:nvPr/>
        </p:nvSpPr>
        <p:spPr>
          <a:xfrm>
            <a:off x="5907472" y="1705475"/>
            <a:ext cx="28890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ROI acumulado</a:t>
            </a:r>
            <a:endParaRPr/>
          </a:p>
        </p:txBody>
      </p:sp>
      <p:sp>
        <p:nvSpPr>
          <p:cNvPr id="114" name="Google Shape;114;g3a8bb52cac1_0_26"/>
          <p:cNvSpPr/>
          <p:nvPr/>
        </p:nvSpPr>
        <p:spPr>
          <a:xfrm>
            <a:off x="5907475" y="1945428"/>
            <a:ext cx="2889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0BAD0"/>
                </a:solidFill>
                <a:latin typeface="DM Sans"/>
                <a:ea typeface="DM Sans"/>
                <a:cs typeface="DM Sans"/>
                <a:sym typeface="DM Sans"/>
              </a:rPr>
              <a:t>+100% vs. plano · </a:t>
            </a:r>
            <a:endParaRPr b="0" i="0" sz="1200" u="none" cap="none" strike="noStrike">
              <a:solidFill>
                <a:srgbClr val="B0BAD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0BAD0"/>
                </a:solidFill>
                <a:latin typeface="DM Sans"/>
                <a:ea typeface="DM Sans"/>
                <a:cs typeface="DM Sans"/>
                <a:sym typeface="DM Sans"/>
              </a:rPr>
              <a:t>projetos reais Águia Branca</a:t>
            </a:r>
            <a:endParaRPr/>
          </a:p>
        </p:txBody>
      </p:sp>
      <p:sp>
        <p:nvSpPr>
          <p:cNvPr id="115" name="Google Shape;115;g3a8bb52cac1_0_26"/>
          <p:cNvSpPr/>
          <p:nvPr/>
        </p:nvSpPr>
        <p:spPr>
          <a:xfrm>
            <a:off x="347472" y="2585475"/>
            <a:ext cx="84492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300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CENÁRIOS DE USO - SE O ARIA ESTIVESSE ATIVO HOJE</a:t>
            </a:r>
            <a:endParaRPr sz="1500"/>
          </a:p>
        </p:txBody>
      </p:sp>
      <p:sp>
        <p:nvSpPr>
          <p:cNvPr id="116" name="Google Shape;116;g3a8bb52cac1_0_26"/>
          <p:cNvSpPr/>
          <p:nvPr/>
        </p:nvSpPr>
        <p:spPr>
          <a:xfrm>
            <a:off x="347472" y="2898770"/>
            <a:ext cx="2630100" cy="1050000"/>
          </a:xfrm>
          <a:prstGeom prst="rect">
            <a:avLst/>
          </a:prstGeom>
          <a:solidFill>
            <a:srgbClr val="DEDAD4"/>
          </a:solidFill>
          <a:ln>
            <a:noFill/>
          </a:ln>
        </p:spPr>
        <p:txBody>
          <a:bodyPr anchorCtr="0" anchor="t" bIns="91425" lIns="114300" spcFirstLastPara="1" rIns="1143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GuardIA — Câmeras</a:t>
            </a:r>
            <a:r>
              <a:rPr b="1" lang="en-US" sz="1300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Antifadiga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Segurança · R$ 1,8M realizado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Potencial</a:t>
            </a:r>
            <a:r>
              <a:rPr b="1" i="0" lang="en-US" sz="12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: R$ 5M </a:t>
            </a:r>
            <a:r>
              <a:rPr b="1" lang="en-US" sz="1200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total</a:t>
            </a:r>
            <a:endParaRPr sz="1500"/>
          </a:p>
        </p:txBody>
      </p:sp>
      <p:sp>
        <p:nvSpPr>
          <p:cNvPr id="117" name="Google Shape;117;g3a8bb52cac1_0_26"/>
          <p:cNvSpPr/>
          <p:nvPr/>
        </p:nvSpPr>
        <p:spPr>
          <a:xfrm>
            <a:off x="3127472" y="2898770"/>
            <a:ext cx="2630100" cy="1050000"/>
          </a:xfrm>
          <a:prstGeom prst="rect">
            <a:avLst/>
          </a:prstGeom>
          <a:solidFill>
            <a:srgbClr val="DEDAD4"/>
          </a:solidFill>
          <a:ln>
            <a:noFill/>
          </a:ln>
        </p:spPr>
        <p:txBody>
          <a:bodyPr anchorCtr="0" anchor="t" bIns="91425" lIns="114300" spcFirstLastPara="1" rIns="1143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Piloto Gamificação Frota Sul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7415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Engajamento · R$ 920k realizado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Potencial</a:t>
            </a:r>
            <a:r>
              <a:rPr b="1" i="0" lang="en-US" sz="12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b="1" lang="en-US" sz="1200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+</a:t>
            </a:r>
            <a:r>
              <a:rPr b="1" i="0" lang="en-US" sz="12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10% </a:t>
            </a:r>
            <a:r>
              <a:rPr b="1" lang="en-US" sz="1200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sobre a meta</a:t>
            </a:r>
            <a:endParaRPr sz="1500"/>
          </a:p>
        </p:txBody>
      </p:sp>
      <p:sp>
        <p:nvSpPr>
          <p:cNvPr id="118" name="Google Shape;118;g3a8bb52cac1_0_26"/>
          <p:cNvSpPr/>
          <p:nvPr/>
        </p:nvSpPr>
        <p:spPr>
          <a:xfrm>
            <a:off x="5907472" y="2898770"/>
            <a:ext cx="2889000" cy="1050000"/>
          </a:xfrm>
          <a:prstGeom prst="rect">
            <a:avLst/>
          </a:prstGeom>
          <a:solidFill>
            <a:srgbClr val="DEDAD4"/>
          </a:solidFill>
          <a:ln>
            <a:noFill/>
          </a:ln>
        </p:spPr>
        <p:txBody>
          <a:bodyPr anchorCtr="0" anchor="t" bIns="91425" lIns="114300" spcFirstLastPara="1" rIns="1143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Rota Inteligente 2.0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37415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Logística ·</a:t>
            </a:r>
            <a:r>
              <a:rPr lang="en-US" sz="1200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 ROI projetado por IA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Potencial</a:t>
            </a:r>
            <a:r>
              <a:rPr b="1" i="0" lang="en-US" sz="12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: R$ 1,2M · ROI </a:t>
            </a:r>
            <a:r>
              <a:rPr b="1" lang="en-US" sz="1200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via</a:t>
            </a:r>
            <a:r>
              <a:rPr b="1" i="0" lang="en-US" sz="12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 IA</a:t>
            </a:r>
            <a:endParaRPr sz="1500"/>
          </a:p>
        </p:txBody>
      </p:sp>
      <p:sp>
        <p:nvSpPr>
          <p:cNvPr id="119" name="Google Shape;119;g3a8bb52cac1_0_26"/>
          <p:cNvSpPr/>
          <p:nvPr/>
        </p:nvSpPr>
        <p:spPr>
          <a:xfrm>
            <a:off x="347400" y="4135574"/>
            <a:ext cx="84492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1" lang="en-US" sz="1200">
                <a:solidFill>
                  <a:srgbClr val="2D4A8A"/>
                </a:solidFill>
                <a:latin typeface="DM Sans"/>
                <a:ea typeface="DM Sans"/>
                <a:cs typeface="DM Sans"/>
                <a:sym typeface="DM Sans"/>
              </a:rPr>
              <a:t>* Cenários hipotéticos criados para ilustrar como o ARIA funcionaria no contexto real do Grupo Águia Branca — segurança de frota, engajamento operacional e roteirização logística. </a:t>
            </a:r>
            <a:endParaRPr i="1" sz="1200">
              <a:solidFill>
                <a:srgbClr val="2D4A8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1" lang="en-US" sz="1200">
                <a:solidFill>
                  <a:srgbClr val="2D4A8A"/>
                </a:solidFill>
                <a:latin typeface="DM Sans"/>
                <a:ea typeface="DM Sans"/>
                <a:cs typeface="DM Sans"/>
                <a:sym typeface="DM Sans"/>
              </a:rPr>
              <a:t>Valores de ROI estimados com base em benchmarks de mercado para iniciativas similares.</a:t>
            </a:r>
            <a:endParaRPr i="1" sz="1200">
              <a:solidFill>
                <a:srgbClr val="2D4A8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120" name="Google Shape;120;g3a8bb52cac1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91440"/>
            <a:ext cx="777240" cy="146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DE8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127" name="Google Shape;1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91440"/>
            <a:ext cx="777240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/>
          <p:nvPr/>
        </p:nvSpPr>
        <p:spPr>
          <a:xfrm>
            <a:off x="1060704" y="137160"/>
            <a:ext cx="796442" cy="201168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060704" y="137160"/>
            <a:ext cx="79644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850"/>
              <a:buFont typeface="DM Sans"/>
              <a:buNone/>
            </a:pPr>
            <a:r>
              <a:rPr b="1" i="0" lang="en-US" sz="85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SOLUÇÃO</a:t>
            </a:r>
            <a:endParaRPr b="0" i="0" sz="8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060704" y="135331"/>
            <a:ext cx="7863840" cy="204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2000"/>
              <a:buFont typeface="DM Sans"/>
              <a:buNone/>
            </a:pPr>
            <a:r>
              <a:rPr b="0" i="0" lang="en-US" sz="1400" u="none" cap="none" strike="noStrike">
                <a:solidFill>
                  <a:srgbClr val="1A2540"/>
                </a:solidFill>
                <a:latin typeface="Outfit Light"/>
                <a:ea typeface="Outfit Light"/>
                <a:cs typeface="Outfit Light"/>
                <a:sym typeface="Outfit Light"/>
              </a:rPr>
              <a:t>                                                           </a:t>
            </a:r>
            <a:r>
              <a:rPr b="0" i="0" lang="en-US" sz="16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rPr>
              <a:t>                               </a:t>
            </a:r>
            <a:r>
              <a:rPr b="0" i="0" lang="en-US" sz="18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rPr>
              <a:t>Problema → Solução</a:t>
            </a:r>
            <a:endParaRPr b="0" i="0" sz="2400" u="none" cap="none" strike="noStrike">
              <a:solidFill>
                <a:schemeClr val="lt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201175" y="566925"/>
            <a:ext cx="4041600" cy="437070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01168" y="566928"/>
            <a:ext cx="4041648" cy="402336"/>
          </a:xfrm>
          <a:prstGeom prst="rect">
            <a:avLst/>
          </a:prstGeom>
          <a:solidFill>
            <a:srgbClr val="2A38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29184" y="566928"/>
            <a:ext cx="380390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DM Sans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 PROBLEMA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34" name="Google Shape;134;p4"/>
          <p:cNvCxnSpPr/>
          <p:nvPr/>
        </p:nvCxnSpPr>
        <p:spPr>
          <a:xfrm>
            <a:off x="347472" y="1115568"/>
            <a:ext cx="256032" cy="256032"/>
          </a:xfrm>
          <a:prstGeom prst="straightConnector1">
            <a:avLst/>
          </a:prstGeom>
          <a:solidFill>
            <a:srgbClr val="C62828"/>
          </a:solidFill>
          <a:ln>
            <a:noFill/>
          </a:ln>
        </p:spPr>
      </p:cxnSp>
      <p:sp>
        <p:nvSpPr>
          <p:cNvPr id="135" name="Google Shape;135;p4"/>
          <p:cNvSpPr/>
          <p:nvPr/>
        </p:nvSpPr>
        <p:spPr>
          <a:xfrm>
            <a:off x="347472" y="1225295"/>
            <a:ext cx="256032" cy="256032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1" i="0" lang="en-US" sz="110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713107" y="1196045"/>
            <a:ext cx="34200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sz="16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Ideias sem conexão estratégica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37" name="Google Shape;137;p4"/>
          <p:cNvCxnSpPr/>
          <p:nvPr/>
        </p:nvCxnSpPr>
        <p:spPr>
          <a:xfrm>
            <a:off x="347472" y="1773936"/>
            <a:ext cx="256032" cy="256032"/>
          </a:xfrm>
          <a:prstGeom prst="straightConnector1">
            <a:avLst/>
          </a:prstGeom>
          <a:solidFill>
            <a:srgbClr val="C62828"/>
          </a:solidFill>
          <a:ln>
            <a:noFill/>
          </a:ln>
        </p:spPr>
      </p:cxnSp>
      <p:sp>
        <p:nvSpPr>
          <p:cNvPr id="138" name="Google Shape;138;p4"/>
          <p:cNvSpPr/>
          <p:nvPr/>
        </p:nvSpPr>
        <p:spPr>
          <a:xfrm>
            <a:off x="347479" y="1965948"/>
            <a:ext cx="255900" cy="2559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1" i="0" lang="en-US" sz="110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713107" y="1906822"/>
            <a:ext cx="34200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sz="16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Priorização sem critérios claros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40" name="Google Shape;140;p4"/>
          <p:cNvCxnSpPr/>
          <p:nvPr/>
        </p:nvCxnSpPr>
        <p:spPr>
          <a:xfrm>
            <a:off x="347472" y="2432304"/>
            <a:ext cx="256032" cy="256032"/>
          </a:xfrm>
          <a:prstGeom prst="straightConnector1">
            <a:avLst/>
          </a:prstGeom>
          <a:solidFill>
            <a:srgbClr val="C62828"/>
          </a:solidFill>
          <a:ln>
            <a:noFill/>
          </a:ln>
        </p:spPr>
      </p:cxnSp>
      <p:sp>
        <p:nvSpPr>
          <p:cNvPr id="141" name="Google Shape;141;p4"/>
          <p:cNvSpPr/>
          <p:nvPr/>
        </p:nvSpPr>
        <p:spPr>
          <a:xfrm>
            <a:off x="347479" y="2706618"/>
            <a:ext cx="255900" cy="2559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1" i="0" lang="en-US" sz="110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713107" y="2617598"/>
            <a:ext cx="34200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sz="16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Impacto financeiro não mensurado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43" name="Google Shape;143;p4"/>
          <p:cNvCxnSpPr/>
          <p:nvPr/>
        </p:nvCxnSpPr>
        <p:spPr>
          <a:xfrm>
            <a:off x="347472" y="3090672"/>
            <a:ext cx="256032" cy="256032"/>
          </a:xfrm>
          <a:prstGeom prst="straightConnector1">
            <a:avLst/>
          </a:prstGeom>
          <a:solidFill>
            <a:srgbClr val="C62828"/>
          </a:solidFill>
          <a:ln>
            <a:noFill/>
          </a:ln>
        </p:spPr>
      </p:cxnSp>
      <p:sp>
        <p:nvSpPr>
          <p:cNvPr id="144" name="Google Shape;144;p4"/>
          <p:cNvSpPr/>
          <p:nvPr/>
        </p:nvSpPr>
        <p:spPr>
          <a:xfrm>
            <a:off x="347492" y="3419926"/>
            <a:ext cx="255900" cy="2559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1" i="0" lang="en-US" sz="110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713107" y="3328374"/>
            <a:ext cx="34200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sz="16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Operação sem canal estruturado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46" name="Google Shape;146;p4"/>
          <p:cNvCxnSpPr/>
          <p:nvPr/>
        </p:nvCxnSpPr>
        <p:spPr>
          <a:xfrm>
            <a:off x="347472" y="3749040"/>
            <a:ext cx="256032" cy="256032"/>
          </a:xfrm>
          <a:prstGeom prst="straightConnector1">
            <a:avLst/>
          </a:prstGeom>
          <a:solidFill>
            <a:srgbClr val="C62828"/>
          </a:solidFill>
          <a:ln>
            <a:noFill/>
          </a:ln>
        </p:spPr>
      </p:cxnSp>
      <p:sp>
        <p:nvSpPr>
          <p:cNvPr id="147" name="Google Shape;147;p4"/>
          <p:cNvSpPr/>
          <p:nvPr/>
        </p:nvSpPr>
        <p:spPr>
          <a:xfrm>
            <a:off x="347479" y="4297671"/>
            <a:ext cx="255900" cy="256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1" i="0" lang="en-US" sz="110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713107" y="4039150"/>
            <a:ext cx="34200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sz="16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Estratégia desconectada da operação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4059936" y="2212848"/>
            <a:ext cx="10241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3000"/>
              <a:buFont typeface="DM Sans"/>
              <a:buNone/>
            </a:pPr>
            <a:r>
              <a:rPr b="0" i="0" lang="en-US" sz="3600" u="none" cap="none" strike="noStrike">
                <a:solidFill>
                  <a:srgbClr val="C87D0E"/>
                </a:solidFill>
                <a:latin typeface="Outfit Light"/>
                <a:ea typeface="Outfit Light"/>
                <a:cs typeface="Outfit Light"/>
                <a:sym typeface="Outfit Light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919472" y="566928"/>
            <a:ext cx="4041648" cy="4370832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919472" y="566928"/>
            <a:ext cx="4041648" cy="402336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5047488" y="566928"/>
            <a:ext cx="380390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800"/>
              <a:buFont typeface="DM Sans"/>
              <a:buNone/>
            </a:pPr>
            <a:r>
              <a:rPr i="0" lang="en-US" sz="16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A SOLUÇÃO — ARIA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53" name="Google Shape;153;p4"/>
          <p:cNvCxnSpPr/>
          <p:nvPr/>
        </p:nvCxnSpPr>
        <p:spPr>
          <a:xfrm>
            <a:off x="5047488" y="1115568"/>
            <a:ext cx="256032" cy="256032"/>
          </a:xfrm>
          <a:prstGeom prst="straightConnector1">
            <a:avLst/>
          </a:prstGeom>
          <a:solidFill>
            <a:srgbClr val="34A853"/>
          </a:solidFill>
          <a:ln>
            <a:noFill/>
          </a:ln>
        </p:spPr>
      </p:cxnSp>
      <p:sp>
        <p:nvSpPr>
          <p:cNvPr id="154" name="Google Shape;154;p4"/>
          <p:cNvSpPr/>
          <p:nvPr/>
        </p:nvSpPr>
        <p:spPr>
          <a:xfrm>
            <a:off x="5047488" y="1115568"/>
            <a:ext cx="256032" cy="256032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1" i="0" lang="en-US" sz="110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376675" y="1060700"/>
            <a:ext cx="3420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300"/>
              <a:buFont typeface="DM Sans"/>
              <a:buNone/>
            </a:pPr>
            <a:r>
              <a:rPr b="0" i="0" lang="en-US" sz="16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Fluxo estruturado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5376675" y="1351078"/>
            <a:ext cx="34200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100"/>
              <a:buFont typeface="DM Sans"/>
              <a:buNone/>
            </a:pPr>
            <a:r>
              <a:rPr b="0" i="0" lang="en-US" sz="14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Ideia → análise → impacto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57" name="Google Shape;157;p4"/>
          <p:cNvCxnSpPr/>
          <p:nvPr/>
        </p:nvCxnSpPr>
        <p:spPr>
          <a:xfrm>
            <a:off x="5047488" y="1773936"/>
            <a:ext cx="256032" cy="256032"/>
          </a:xfrm>
          <a:prstGeom prst="straightConnector1">
            <a:avLst/>
          </a:prstGeom>
          <a:solidFill>
            <a:srgbClr val="34A853"/>
          </a:solidFill>
          <a:ln>
            <a:noFill/>
          </a:ln>
        </p:spPr>
      </p:cxnSp>
      <p:sp>
        <p:nvSpPr>
          <p:cNvPr id="158" name="Google Shape;158;p4"/>
          <p:cNvSpPr/>
          <p:nvPr/>
        </p:nvSpPr>
        <p:spPr>
          <a:xfrm>
            <a:off x="5047426" y="1901961"/>
            <a:ext cx="255900" cy="2559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1" i="0" lang="en-US" sz="110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5376675" y="1807386"/>
            <a:ext cx="3420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300"/>
              <a:buFont typeface="DM Sans"/>
              <a:buNone/>
            </a:pPr>
            <a:r>
              <a:rPr b="0" i="0" lang="en-US" sz="16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3 perfis integrados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5376675" y="2097764"/>
            <a:ext cx="34200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100"/>
              <a:buFont typeface="DM Sans"/>
              <a:buNone/>
            </a:pPr>
            <a:r>
              <a:rPr b="0" i="0" lang="en-US" sz="14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Operação → gestão → estratégia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61" name="Google Shape;161;p4"/>
          <p:cNvCxnSpPr/>
          <p:nvPr/>
        </p:nvCxnSpPr>
        <p:spPr>
          <a:xfrm>
            <a:off x="5047488" y="2432304"/>
            <a:ext cx="256032" cy="256032"/>
          </a:xfrm>
          <a:prstGeom prst="straightConnector1">
            <a:avLst/>
          </a:prstGeom>
          <a:solidFill>
            <a:srgbClr val="34A853"/>
          </a:solidFill>
          <a:ln>
            <a:noFill/>
          </a:ln>
        </p:spPr>
      </p:cxnSp>
      <p:sp>
        <p:nvSpPr>
          <p:cNvPr id="162" name="Google Shape;162;p4"/>
          <p:cNvSpPr/>
          <p:nvPr/>
        </p:nvSpPr>
        <p:spPr>
          <a:xfrm>
            <a:off x="5047488" y="2596904"/>
            <a:ext cx="255900" cy="2559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1" i="0" lang="en-US" sz="110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5376675" y="2554073"/>
            <a:ext cx="3420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300"/>
              <a:buFont typeface="DM Sans"/>
              <a:buNone/>
            </a:pPr>
            <a:r>
              <a:rPr b="0" i="0" lang="en-US" sz="16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ROI mensurável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5376675" y="2844451"/>
            <a:ext cx="34200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100"/>
              <a:buFont typeface="DM Sans"/>
              <a:buNone/>
            </a:pPr>
            <a:r>
              <a:rPr b="0" i="0" lang="en-US" sz="14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Retorno visível por iniciativa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65" name="Google Shape;165;p4"/>
          <p:cNvCxnSpPr/>
          <p:nvPr/>
        </p:nvCxnSpPr>
        <p:spPr>
          <a:xfrm>
            <a:off x="5047488" y="3090672"/>
            <a:ext cx="256032" cy="256032"/>
          </a:xfrm>
          <a:prstGeom prst="straightConnector1">
            <a:avLst/>
          </a:prstGeom>
          <a:solidFill>
            <a:srgbClr val="34A853"/>
          </a:solidFill>
          <a:ln>
            <a:noFill/>
          </a:ln>
        </p:spPr>
      </p:cxnSp>
      <p:sp>
        <p:nvSpPr>
          <p:cNvPr id="166" name="Google Shape;166;p4"/>
          <p:cNvSpPr/>
          <p:nvPr/>
        </p:nvSpPr>
        <p:spPr>
          <a:xfrm>
            <a:off x="5047488" y="3419860"/>
            <a:ext cx="255900" cy="2559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1" i="0" lang="en-US" sz="110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5376675" y="3300759"/>
            <a:ext cx="3420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300"/>
              <a:buFont typeface="DM Sans"/>
              <a:buNone/>
            </a:pPr>
            <a:r>
              <a:rPr b="0" i="0" lang="en-US" sz="16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Gamificação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5376675" y="3591137"/>
            <a:ext cx="34200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100"/>
              <a:buFont typeface="DM Sans"/>
              <a:buNone/>
            </a:pPr>
            <a:r>
              <a:rPr b="0" i="0" lang="en-US" sz="14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Engajamento contínuo da operação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69" name="Google Shape;169;p4"/>
          <p:cNvCxnSpPr/>
          <p:nvPr/>
        </p:nvCxnSpPr>
        <p:spPr>
          <a:xfrm>
            <a:off x="5047488" y="3749040"/>
            <a:ext cx="256032" cy="256032"/>
          </a:xfrm>
          <a:prstGeom prst="straightConnector1">
            <a:avLst/>
          </a:prstGeom>
          <a:solidFill>
            <a:srgbClr val="34A853"/>
          </a:solidFill>
          <a:ln>
            <a:noFill/>
          </a:ln>
        </p:spPr>
      </p:cxnSp>
      <p:sp>
        <p:nvSpPr>
          <p:cNvPr id="170" name="Google Shape;170;p4"/>
          <p:cNvSpPr/>
          <p:nvPr/>
        </p:nvSpPr>
        <p:spPr>
          <a:xfrm>
            <a:off x="5047488" y="4114790"/>
            <a:ext cx="255900" cy="2559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1" i="0" lang="en-US" sz="110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5376675" y="4047446"/>
            <a:ext cx="3420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300"/>
              <a:buFont typeface="DM Sans"/>
              <a:buNone/>
            </a:pPr>
            <a:r>
              <a:rPr b="0" i="0" lang="en-US" sz="16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IA &amp; Analytics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5376675" y="4337824"/>
            <a:ext cx="34200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100"/>
              <a:buFont typeface="DM Sans"/>
              <a:buNone/>
            </a:pPr>
            <a:r>
              <a:rPr b="0" i="0" lang="en-US" sz="14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Insights e priorização inteligente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DE8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1060704" y="137160"/>
            <a:ext cx="881481" cy="201168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1060704" y="137160"/>
            <a:ext cx="881481" cy="2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1" i="0" lang="en-US" sz="9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USUÁRIOS</a:t>
            </a:r>
            <a:endParaRPr sz="900"/>
          </a:p>
        </p:txBody>
      </p:sp>
      <p:sp>
        <p:nvSpPr>
          <p:cNvPr id="181" name="Google Shape;181;p5"/>
          <p:cNvSpPr/>
          <p:nvPr/>
        </p:nvSpPr>
        <p:spPr>
          <a:xfrm>
            <a:off x="1060704" y="135298"/>
            <a:ext cx="78639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Perfil — Operador</a:t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201168" y="566928"/>
            <a:ext cx="4023360" cy="4498848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347472" y="731520"/>
            <a:ext cx="1005840" cy="1005840"/>
          </a:xfrm>
          <a:prstGeom prst="roundRect">
            <a:avLst>
              <a:gd fmla="val 50000" name="adj"/>
            </a:avLst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347472" y="1086534"/>
            <a:ext cx="1005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OP</a:t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347420" y="768100"/>
            <a:ext cx="3712500" cy="25590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347420" y="750888"/>
            <a:ext cx="3712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OPERACIONAL</a:t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1481328" y="1415718"/>
            <a:ext cx="2578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Operador</a:t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1481328" y="1772334"/>
            <a:ext cx="2578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Voz da operação</a:t>
            </a:r>
            <a:endParaRPr sz="1600"/>
          </a:p>
        </p:txBody>
      </p:sp>
      <p:sp>
        <p:nvSpPr>
          <p:cNvPr id="189" name="Google Shape;189;p5"/>
          <p:cNvSpPr/>
          <p:nvPr/>
        </p:nvSpPr>
        <p:spPr>
          <a:xfrm>
            <a:off x="347472" y="2202102"/>
            <a:ext cx="3529500" cy="201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283460" y="2331954"/>
            <a:ext cx="3657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n-US" sz="1500" u="none" cap="none" strike="noStrike">
                <a:solidFill>
                  <a:srgbClr val="37415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"Tenho ideias todos os dias, mas não existe um canal estruturado."</a:t>
            </a:r>
            <a:endParaRPr sz="1700"/>
          </a:p>
        </p:txBody>
      </p:sp>
      <p:sp>
        <p:nvSpPr>
          <p:cNvPr id="191" name="Google Shape;191;p5"/>
          <p:cNvSpPr/>
          <p:nvPr/>
        </p:nvSpPr>
        <p:spPr>
          <a:xfrm>
            <a:off x="4389120" y="640080"/>
            <a:ext cx="44988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O papel des</a:t>
            </a:r>
            <a:r>
              <a:rPr i="1" lang="en-US" sz="15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b="0" i="1" lang="en-US" sz="15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e perfil:</a:t>
            </a:r>
            <a:endParaRPr sz="1800"/>
          </a:p>
        </p:txBody>
      </p:sp>
      <p:sp>
        <p:nvSpPr>
          <p:cNvPr id="192" name="Google Shape;192;p5"/>
          <p:cNvSpPr/>
          <p:nvPr/>
        </p:nvSpPr>
        <p:spPr>
          <a:xfrm>
            <a:off x="4389120" y="1024128"/>
            <a:ext cx="4498848" cy="11704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4590288" y="1115568"/>
            <a:ext cx="41330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💡  Captura de ideias</a:t>
            </a:r>
            <a:endParaRPr b="1" sz="1500"/>
          </a:p>
        </p:txBody>
      </p:sp>
      <p:sp>
        <p:nvSpPr>
          <p:cNvPr id="194" name="Google Shape;194;p5"/>
          <p:cNvSpPr/>
          <p:nvPr/>
        </p:nvSpPr>
        <p:spPr>
          <a:xfrm>
            <a:off x="4590288" y="1444752"/>
            <a:ext cx="4133087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Registra insights operacionais em segundos.</a:t>
            </a:r>
            <a:endParaRPr sz="1500"/>
          </a:p>
        </p:txBody>
      </p:sp>
      <p:sp>
        <p:nvSpPr>
          <p:cNvPr id="195" name="Google Shape;195;p5"/>
          <p:cNvSpPr/>
          <p:nvPr/>
        </p:nvSpPr>
        <p:spPr>
          <a:xfrm>
            <a:off x="4389120" y="2304288"/>
            <a:ext cx="4498848" cy="11704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590288" y="2395728"/>
            <a:ext cx="41330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🏆  </a:t>
            </a:r>
            <a:r>
              <a:rPr b="1" i="0" lang="en-US" sz="15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Engajamento gamificado</a:t>
            </a:r>
            <a:endParaRPr b="1" sz="1500"/>
          </a:p>
        </p:txBody>
      </p:sp>
      <p:sp>
        <p:nvSpPr>
          <p:cNvPr id="197" name="Google Shape;197;p5"/>
          <p:cNvSpPr/>
          <p:nvPr/>
        </p:nvSpPr>
        <p:spPr>
          <a:xfrm>
            <a:off x="4590288" y="2724912"/>
            <a:ext cx="4133087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lang="en-US" sz="15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Badges e pontos incentivam participação contínua.</a:t>
            </a:r>
            <a:endParaRPr sz="1500"/>
          </a:p>
        </p:txBody>
      </p:sp>
      <p:sp>
        <p:nvSpPr>
          <p:cNvPr id="198" name="Google Shape;198;p5"/>
          <p:cNvSpPr/>
          <p:nvPr/>
        </p:nvSpPr>
        <p:spPr>
          <a:xfrm>
            <a:off x="4389120" y="3584448"/>
            <a:ext cx="4498848" cy="11704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4590288" y="3675887"/>
            <a:ext cx="41330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📋 </a:t>
            </a:r>
            <a:r>
              <a:rPr b="1" i="0" lang="en-US" sz="15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 Visibilidade contínua</a:t>
            </a:r>
            <a:endParaRPr b="1" sz="1500"/>
          </a:p>
        </p:txBody>
      </p:sp>
      <p:sp>
        <p:nvSpPr>
          <p:cNvPr id="200" name="Google Shape;200;p5"/>
          <p:cNvSpPr/>
          <p:nvPr/>
        </p:nvSpPr>
        <p:spPr>
          <a:xfrm>
            <a:off x="4590288" y="4005072"/>
            <a:ext cx="4133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Acompanha o status d</a:t>
            </a:r>
            <a:r>
              <a:rPr lang="en-US" sz="15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b="0" i="0" lang="en-US" sz="15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ideia em tempo real.</a:t>
            </a:r>
            <a:endParaRPr sz="1500"/>
          </a:p>
        </p:txBody>
      </p:sp>
      <p:sp>
        <p:nvSpPr>
          <p:cNvPr id="201" name="Google Shape;201;p5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2" name="Google Shape;2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91440"/>
            <a:ext cx="777240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5"/>
          <p:cNvSpPr/>
          <p:nvPr/>
        </p:nvSpPr>
        <p:spPr>
          <a:xfrm>
            <a:off x="431800" y="1229225"/>
            <a:ext cx="834600" cy="8229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DM Sans"/>
                <a:ea typeface="DM Sans"/>
                <a:cs typeface="DM Sans"/>
                <a:sym typeface="DM Sans"/>
              </a:rPr>
              <a:t>OP</a:t>
            </a:r>
            <a:endParaRPr sz="23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540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1060704" y="137160"/>
            <a:ext cx="881481" cy="201168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1060704" y="135331"/>
            <a:ext cx="881481" cy="2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USUÁRIOS</a:t>
            </a:r>
            <a:endParaRPr sz="1000"/>
          </a:p>
        </p:txBody>
      </p:sp>
      <p:sp>
        <p:nvSpPr>
          <p:cNvPr id="211" name="Google Shape;211;p20"/>
          <p:cNvSpPr/>
          <p:nvPr/>
        </p:nvSpPr>
        <p:spPr>
          <a:xfrm>
            <a:off x="1122904" y="135281"/>
            <a:ext cx="78639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Perfil — Gestor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201168" y="566928"/>
            <a:ext cx="4023360" cy="4498848"/>
          </a:xfrm>
          <a:prstGeom prst="rect">
            <a:avLst/>
          </a:prstGeom>
          <a:solidFill>
            <a:srgbClr val="2A3860"/>
          </a:solidFill>
          <a:ln cap="flat" cmpd="sng" w="9525">
            <a:solidFill>
              <a:srgbClr val="2D4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462125" y="1401963"/>
            <a:ext cx="881400" cy="900600"/>
          </a:xfrm>
          <a:prstGeom prst="roundRect">
            <a:avLst>
              <a:gd fmla="val 50000" name="adj"/>
            </a:avLst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347470" y="768100"/>
            <a:ext cx="3712500" cy="255900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347324" y="768100"/>
            <a:ext cx="3712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TÁTICO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1481328" y="1569237"/>
            <a:ext cx="2578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Gestor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1481328" y="1925853"/>
            <a:ext cx="2578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3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Curadoria estratégica</a:t>
            </a:r>
            <a:endParaRPr sz="1600"/>
          </a:p>
        </p:txBody>
      </p:sp>
      <p:sp>
        <p:nvSpPr>
          <p:cNvPr id="218" name="Google Shape;218;p20"/>
          <p:cNvSpPr/>
          <p:nvPr/>
        </p:nvSpPr>
        <p:spPr>
          <a:xfrm>
            <a:off x="347472" y="2355621"/>
            <a:ext cx="3529500" cy="201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347472" y="2428773"/>
            <a:ext cx="3657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n-US" sz="1500" u="none" cap="none" strike="noStrike">
                <a:solidFill>
                  <a:srgbClr val="EDE8D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"Preciso priorizar iniciativas com impacto real."</a:t>
            </a:r>
            <a:endParaRPr sz="1500">
              <a:solidFill>
                <a:srgbClr val="EDE8D8"/>
              </a:solidFill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4389120" y="640080"/>
            <a:ext cx="44988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5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O papel des</a:t>
            </a:r>
            <a:r>
              <a:rPr i="1" lang="en-US" sz="1500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b="0" i="1" lang="en-US" sz="15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e perfil:</a:t>
            </a:r>
            <a:endParaRPr sz="1800"/>
          </a:p>
        </p:txBody>
      </p:sp>
      <p:sp>
        <p:nvSpPr>
          <p:cNvPr id="221" name="Google Shape;221;p20"/>
          <p:cNvSpPr/>
          <p:nvPr/>
        </p:nvSpPr>
        <p:spPr>
          <a:xfrm>
            <a:off x="4389120" y="1024128"/>
            <a:ext cx="4498848" cy="1170432"/>
          </a:xfrm>
          <a:prstGeom prst="rect">
            <a:avLst/>
          </a:prstGeom>
          <a:solidFill>
            <a:srgbClr val="2A3860"/>
          </a:solidFill>
          <a:ln cap="flat" cmpd="sng" w="9525">
            <a:solidFill>
              <a:srgbClr val="2D4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4590288" y="1115568"/>
            <a:ext cx="41330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⚙️ </a:t>
            </a:r>
            <a:r>
              <a:rPr b="1" i="0" lang="en-US" sz="15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 Curadoria e análise</a:t>
            </a:r>
            <a:endParaRPr b="1" sz="1500"/>
          </a:p>
        </p:txBody>
      </p:sp>
      <p:sp>
        <p:nvSpPr>
          <p:cNvPr id="223" name="Google Shape;223;p20"/>
          <p:cNvSpPr/>
          <p:nvPr/>
        </p:nvSpPr>
        <p:spPr>
          <a:xfrm>
            <a:off x="4590288" y="1444752"/>
            <a:ext cx="4133087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lang="en-US" sz="1500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Prioriza</a:t>
            </a:r>
            <a:r>
              <a:rPr b="0" i="0" lang="en-US" sz="15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 ideias </a:t>
            </a:r>
            <a:r>
              <a:rPr lang="en-US" sz="1500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com</a:t>
            </a:r>
            <a:r>
              <a:rPr b="0" i="0" lang="en-US" sz="15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 score automático</a:t>
            </a:r>
            <a:r>
              <a:rPr lang="en-US" sz="1500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5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e viabilidade.</a:t>
            </a:r>
            <a:endParaRPr sz="1500">
              <a:solidFill>
                <a:srgbClr val="EDE8D8"/>
              </a:solidFill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4389120" y="2304288"/>
            <a:ext cx="4498848" cy="1170432"/>
          </a:xfrm>
          <a:prstGeom prst="rect">
            <a:avLst/>
          </a:prstGeom>
          <a:solidFill>
            <a:srgbClr val="2A3860"/>
          </a:solidFill>
          <a:ln cap="flat" cmpd="sng" w="9525">
            <a:solidFill>
              <a:srgbClr val="2D4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4590288" y="2395728"/>
            <a:ext cx="41330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📊  </a:t>
            </a:r>
            <a:r>
              <a:rPr b="1" i="0" lang="en-US" sz="15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ROI e aprovação</a:t>
            </a:r>
            <a:endParaRPr b="1" sz="1500"/>
          </a:p>
        </p:txBody>
      </p:sp>
      <p:sp>
        <p:nvSpPr>
          <p:cNvPr id="226" name="Google Shape;226;p20"/>
          <p:cNvSpPr/>
          <p:nvPr/>
        </p:nvSpPr>
        <p:spPr>
          <a:xfrm>
            <a:off x="4590288" y="2724912"/>
            <a:ext cx="4133087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US" sz="15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Aprova iniciativas com feedback estruturado.</a:t>
            </a:r>
            <a:endParaRPr sz="1500">
              <a:solidFill>
                <a:srgbClr val="EDE8D8"/>
              </a:solidFill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4389120" y="3584448"/>
            <a:ext cx="4498848" cy="1170432"/>
          </a:xfrm>
          <a:prstGeom prst="rect">
            <a:avLst/>
          </a:prstGeom>
          <a:solidFill>
            <a:srgbClr val="2A3860"/>
          </a:solidFill>
          <a:ln cap="flat" cmpd="sng" w="9525">
            <a:solidFill>
              <a:srgbClr val="2D4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4590288" y="3675887"/>
            <a:ext cx="41330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📁  </a:t>
            </a:r>
            <a:r>
              <a:rPr b="1" i="0" lang="en-US" sz="15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Gestão de projetos</a:t>
            </a:r>
            <a:endParaRPr b="1" sz="1500"/>
          </a:p>
        </p:txBody>
      </p:sp>
      <p:sp>
        <p:nvSpPr>
          <p:cNvPr id="229" name="Google Shape;229;p20"/>
          <p:cNvSpPr/>
          <p:nvPr/>
        </p:nvSpPr>
        <p:spPr>
          <a:xfrm>
            <a:off x="4590288" y="4005072"/>
            <a:ext cx="4133087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lang="en-US" sz="1500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Acompanha</a:t>
            </a:r>
            <a:r>
              <a:rPr b="0" i="0" lang="en-US" sz="15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 execução</a:t>
            </a:r>
            <a:r>
              <a:rPr lang="en-US" sz="1500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0" i="0" lang="en-US" sz="15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marcos e </a:t>
            </a:r>
            <a:r>
              <a:rPr lang="en-US" sz="1500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retorno financeiro.</a:t>
            </a:r>
            <a:endParaRPr sz="1500">
              <a:solidFill>
                <a:srgbClr val="EDE8D8"/>
              </a:solidFill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1" name="Google Shape;23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91440"/>
            <a:ext cx="777240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/>
          <p:nvPr/>
        </p:nvSpPr>
        <p:spPr>
          <a:xfrm>
            <a:off x="399872" y="1349313"/>
            <a:ext cx="1005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100"/>
              <a:t>GP</a:t>
            </a:r>
            <a:endParaRPr sz="2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540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1060704" y="137160"/>
            <a:ext cx="881481" cy="201168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1060704" y="135331"/>
            <a:ext cx="881481" cy="2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1" i="0" lang="en-US" sz="9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USUÁRIOS</a:t>
            </a:r>
            <a:endParaRPr sz="900"/>
          </a:p>
        </p:txBody>
      </p:sp>
      <p:sp>
        <p:nvSpPr>
          <p:cNvPr id="240" name="Google Shape;240;p21"/>
          <p:cNvSpPr/>
          <p:nvPr/>
        </p:nvSpPr>
        <p:spPr>
          <a:xfrm>
            <a:off x="1060704" y="135281"/>
            <a:ext cx="78639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Perfil — Liderança</a:t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201168" y="566928"/>
            <a:ext cx="4023360" cy="4498848"/>
          </a:xfrm>
          <a:prstGeom prst="rect">
            <a:avLst/>
          </a:prstGeom>
          <a:solidFill>
            <a:srgbClr val="0E1828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337877" y="1383090"/>
            <a:ext cx="1005900" cy="1005900"/>
          </a:xfrm>
          <a:prstGeom prst="roundRect">
            <a:avLst>
              <a:gd fmla="val 50000" name="adj"/>
            </a:avLst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347472" y="1364788"/>
            <a:ext cx="1005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LD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337870" y="768100"/>
            <a:ext cx="3722100" cy="2559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315224" y="762917"/>
            <a:ext cx="372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ESTRATÉGICO</a:t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1481328" y="1693972"/>
            <a:ext cx="2578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0EDE8"/>
                </a:solidFill>
                <a:latin typeface="DM Sans"/>
                <a:ea typeface="DM Sans"/>
                <a:cs typeface="DM Sans"/>
                <a:sym typeface="DM Sans"/>
              </a:rPr>
              <a:t>Liderança</a:t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1481328" y="2050588"/>
            <a:ext cx="2578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500" u="none" cap="none" strike="noStrike">
                <a:solidFill>
                  <a:srgbClr val="F0EDE8"/>
                </a:solidFill>
                <a:latin typeface="DM Sans"/>
                <a:ea typeface="DM Sans"/>
                <a:cs typeface="DM Sans"/>
                <a:sym typeface="DM Sans"/>
              </a:rPr>
              <a:t>Inteligência executiva</a:t>
            </a:r>
            <a:endParaRPr sz="1500"/>
          </a:p>
        </p:txBody>
      </p:sp>
      <p:sp>
        <p:nvSpPr>
          <p:cNvPr id="248" name="Google Shape;248;p21"/>
          <p:cNvSpPr/>
          <p:nvPr/>
        </p:nvSpPr>
        <p:spPr>
          <a:xfrm>
            <a:off x="347472" y="2480356"/>
            <a:ext cx="3529500" cy="201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347472" y="2553508"/>
            <a:ext cx="3657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n-US" sz="1500" u="none" cap="none" strike="noStrike">
                <a:solidFill>
                  <a:srgbClr val="F0EDE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"A inovação precisa gerar resultado mensurável."</a:t>
            </a:r>
            <a:endParaRPr sz="1500"/>
          </a:p>
        </p:txBody>
      </p:sp>
      <p:sp>
        <p:nvSpPr>
          <p:cNvPr id="250" name="Google Shape;250;p21"/>
          <p:cNvSpPr/>
          <p:nvPr/>
        </p:nvSpPr>
        <p:spPr>
          <a:xfrm>
            <a:off x="4389120" y="640080"/>
            <a:ext cx="44988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500" u="none" cap="none" strike="noStrike">
                <a:solidFill>
                  <a:srgbClr val="F0EDE8"/>
                </a:solidFill>
                <a:latin typeface="DM Sans"/>
                <a:ea typeface="DM Sans"/>
                <a:cs typeface="DM Sans"/>
                <a:sym typeface="DM Sans"/>
              </a:rPr>
              <a:t>O papel des</a:t>
            </a:r>
            <a:r>
              <a:rPr i="1" lang="en-US" sz="1500">
                <a:solidFill>
                  <a:srgbClr val="F0EDE8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b="0" i="1" lang="en-US" sz="1500" u="none" cap="none" strike="noStrike">
                <a:solidFill>
                  <a:srgbClr val="F0EDE8"/>
                </a:solidFill>
                <a:latin typeface="DM Sans"/>
                <a:ea typeface="DM Sans"/>
                <a:cs typeface="DM Sans"/>
                <a:sym typeface="DM Sans"/>
              </a:rPr>
              <a:t>e perfil:</a:t>
            </a:r>
            <a:endParaRPr sz="1500"/>
          </a:p>
        </p:txBody>
      </p:sp>
      <p:sp>
        <p:nvSpPr>
          <p:cNvPr id="251" name="Google Shape;251;p21"/>
          <p:cNvSpPr/>
          <p:nvPr/>
        </p:nvSpPr>
        <p:spPr>
          <a:xfrm>
            <a:off x="4389120" y="1024128"/>
            <a:ext cx="4498848" cy="1170432"/>
          </a:xfrm>
          <a:prstGeom prst="rect">
            <a:avLst/>
          </a:prstGeom>
          <a:solidFill>
            <a:srgbClr val="1A2540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4590288" y="1115568"/>
            <a:ext cx="41330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📈  Dashboard executivo</a:t>
            </a:r>
            <a:endParaRPr sz="1500"/>
          </a:p>
        </p:txBody>
      </p:sp>
      <p:sp>
        <p:nvSpPr>
          <p:cNvPr id="253" name="Google Shape;253;p21"/>
          <p:cNvSpPr/>
          <p:nvPr/>
        </p:nvSpPr>
        <p:spPr>
          <a:xfrm>
            <a:off x="4590288" y="1444752"/>
            <a:ext cx="4133087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US" sz="15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ROI acumulado, funil e tendências </a:t>
            </a:r>
            <a:r>
              <a:rPr lang="en-US" sz="1500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estratégicas.</a:t>
            </a:r>
            <a:endParaRPr sz="1500"/>
          </a:p>
        </p:txBody>
      </p:sp>
      <p:sp>
        <p:nvSpPr>
          <p:cNvPr id="254" name="Google Shape;254;p21"/>
          <p:cNvSpPr/>
          <p:nvPr/>
        </p:nvSpPr>
        <p:spPr>
          <a:xfrm>
            <a:off x="4389120" y="2304288"/>
            <a:ext cx="4498848" cy="1170432"/>
          </a:xfrm>
          <a:prstGeom prst="rect">
            <a:avLst/>
          </a:prstGeom>
          <a:solidFill>
            <a:srgbClr val="1A2540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4590288" y="2395728"/>
            <a:ext cx="41330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🤖  Inteligência por IA</a:t>
            </a:r>
            <a:endParaRPr sz="1500"/>
          </a:p>
        </p:txBody>
      </p:sp>
      <p:sp>
        <p:nvSpPr>
          <p:cNvPr id="256" name="Google Shape;256;p21"/>
          <p:cNvSpPr/>
          <p:nvPr/>
        </p:nvSpPr>
        <p:spPr>
          <a:xfrm>
            <a:off x="4590288" y="2724912"/>
            <a:ext cx="4133087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US" sz="15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Insights, previsão de </a:t>
            </a:r>
            <a:r>
              <a:rPr lang="en-US" sz="1500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ROI e classificação automática</a:t>
            </a:r>
            <a:r>
              <a:rPr b="0" i="0" lang="en-US" sz="15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500"/>
          </a:p>
        </p:txBody>
      </p:sp>
      <p:sp>
        <p:nvSpPr>
          <p:cNvPr id="257" name="Google Shape;257;p21"/>
          <p:cNvSpPr/>
          <p:nvPr/>
        </p:nvSpPr>
        <p:spPr>
          <a:xfrm>
            <a:off x="4389120" y="3584448"/>
            <a:ext cx="4498848" cy="1170432"/>
          </a:xfrm>
          <a:prstGeom prst="rect">
            <a:avLst/>
          </a:prstGeom>
          <a:solidFill>
            <a:srgbClr val="1A2540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4590288" y="3675887"/>
            <a:ext cx="41330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5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📄  Export para o board</a:t>
            </a:r>
            <a:endParaRPr sz="1500"/>
          </a:p>
        </p:txBody>
      </p:sp>
      <p:sp>
        <p:nvSpPr>
          <p:cNvPr id="259" name="Google Shape;259;p21"/>
          <p:cNvSpPr/>
          <p:nvPr/>
        </p:nvSpPr>
        <p:spPr>
          <a:xfrm>
            <a:off x="4590288" y="4005072"/>
            <a:ext cx="4133087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57150" spcFirstLastPara="1" rIns="57150" wrap="square" tIns="22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US" sz="15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Relatórios executivos compartilháve</a:t>
            </a:r>
            <a:r>
              <a:rPr lang="en-US" sz="1500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is em PDF.</a:t>
            </a:r>
            <a:endParaRPr sz="1500"/>
          </a:p>
        </p:txBody>
      </p:sp>
      <p:sp>
        <p:nvSpPr>
          <p:cNvPr id="260" name="Google Shape;260;p21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1" name="Google Shape;2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91440"/>
            <a:ext cx="777240" cy="146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DE8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38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268" name="Google Shape;2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91440"/>
            <a:ext cx="777240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6"/>
          <p:cNvSpPr/>
          <p:nvPr/>
        </p:nvSpPr>
        <p:spPr>
          <a:xfrm>
            <a:off x="1060704" y="137160"/>
            <a:ext cx="640080" cy="201168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1060704" y="13716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850"/>
              <a:buFont typeface="DM Sans"/>
              <a:buNone/>
            </a:pPr>
            <a:r>
              <a:rPr b="1" i="0" lang="en-US" sz="85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FLUXO</a:t>
            </a:r>
            <a:endParaRPr b="0" i="0" sz="8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1060704" y="135331"/>
            <a:ext cx="7863840" cy="204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2000"/>
              <a:buFont typeface="DM Sans"/>
              <a:buNone/>
            </a:pPr>
            <a:r>
              <a:rPr lang="en-US" sz="2000">
                <a:solidFill>
                  <a:srgbClr val="C87D0E"/>
                </a:solidFill>
                <a:latin typeface="Outfit Light"/>
                <a:ea typeface="Outfit Light"/>
                <a:cs typeface="Outfit Light"/>
                <a:sym typeface="Outfit Light"/>
              </a:rPr>
              <a:t>                                                                                               </a:t>
            </a:r>
            <a:r>
              <a:rPr b="0" i="0" lang="en-US" sz="1600" u="none" cap="none" strike="noStrike">
                <a:solidFill>
                  <a:srgbClr val="EDE8D8"/>
                </a:solidFill>
                <a:latin typeface="Outfit Light"/>
                <a:ea typeface="Outfit Light"/>
                <a:cs typeface="Outfit Light"/>
                <a:sym typeface="Outfit Light"/>
              </a:rPr>
              <a:t>Fluxo do Sistema ARIA</a:t>
            </a:r>
            <a:endParaRPr b="0" i="0" sz="2200" u="none" cap="none" strike="noStrike">
              <a:solidFill>
                <a:srgbClr val="EDE8D8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347472" y="5669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DM Sans"/>
              <a:buNone/>
            </a:pPr>
            <a:r>
              <a:rPr b="0" i="1" lang="en-US" sz="1600" u="none" cap="none" strike="noStrike">
                <a:solidFill>
                  <a:srgbClr val="37415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De uma ideia operacional a um resultado financeiro mensurável.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201168" y="896112"/>
            <a:ext cx="1627632" cy="3822192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201168" y="896112"/>
            <a:ext cx="1627632" cy="438912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75" name="Google Shape;275;p6"/>
          <p:cNvCxnSpPr/>
          <p:nvPr/>
        </p:nvCxnSpPr>
        <p:spPr>
          <a:xfrm>
            <a:off x="274320" y="950976"/>
            <a:ext cx="310896" cy="310896"/>
          </a:xfrm>
          <a:prstGeom prst="straightConnector1">
            <a:avLst/>
          </a:prstGeom>
          <a:solidFill>
            <a:srgbClr val="1A2540"/>
          </a:solidFill>
          <a:ln>
            <a:noFill/>
          </a:ln>
        </p:spPr>
      </p:cxnSp>
      <p:sp>
        <p:nvSpPr>
          <p:cNvPr id="276" name="Google Shape;276;p6"/>
          <p:cNvSpPr/>
          <p:nvPr/>
        </p:nvSpPr>
        <p:spPr>
          <a:xfrm>
            <a:off x="274320" y="950976"/>
            <a:ext cx="310896" cy="310896"/>
          </a:xfrm>
          <a:prstGeom prst="rect">
            <a:avLst/>
          </a:prstGeom>
          <a:solidFill>
            <a:srgbClr val="0E1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EDE8D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rgbClr val="EDE8D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640080" y="987552"/>
            <a:ext cx="1115568" cy="237744"/>
          </a:xfrm>
          <a:prstGeom prst="rect">
            <a:avLst/>
          </a:prstGeom>
          <a:solidFill>
            <a:srgbClr val="0E182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640080" y="987552"/>
            <a:ext cx="1115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900"/>
              <a:buFont typeface="DM Sans"/>
              <a:buNone/>
            </a:pPr>
            <a:r>
              <a:rPr b="0" i="0" lang="en-US" sz="11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OPERADOR</a:t>
            </a:r>
            <a:endParaRPr b="0" i="0" sz="1100" u="none" cap="none" strike="noStrike">
              <a:solidFill>
                <a:srgbClr val="EDE8D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279" name="Google Shape;27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384" y="148132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6"/>
          <p:cNvSpPr/>
          <p:nvPr/>
        </p:nvSpPr>
        <p:spPr>
          <a:xfrm>
            <a:off x="274320" y="2011680"/>
            <a:ext cx="148132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sz="15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Registra Ideia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292608" y="2706624"/>
            <a:ext cx="1444752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Alinhada à estratégia da liderança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1828800" y="2029968"/>
            <a:ext cx="1463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2400"/>
              <a:buFont typeface="DM Sans"/>
              <a:buNone/>
            </a:pPr>
            <a:r>
              <a:rPr b="0" i="0" lang="en-US" sz="2600" u="none" cap="none" strike="noStrike">
                <a:solidFill>
                  <a:srgbClr val="C87D0E"/>
                </a:solidFill>
                <a:latin typeface="Outfit Light"/>
                <a:ea typeface="Outfit Light"/>
                <a:cs typeface="Outfit Light"/>
                <a:sym typeface="Outfit Light"/>
              </a:rPr>
              <a:t>›</a:t>
            </a:r>
            <a:endParaRPr b="0" i="0" sz="26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1975104" y="896112"/>
            <a:ext cx="1627632" cy="3822192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1975104" y="896112"/>
            <a:ext cx="1627632" cy="438912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85" name="Google Shape;285;p6"/>
          <p:cNvCxnSpPr/>
          <p:nvPr/>
        </p:nvCxnSpPr>
        <p:spPr>
          <a:xfrm>
            <a:off x="2048256" y="950976"/>
            <a:ext cx="310896" cy="310896"/>
          </a:xfrm>
          <a:prstGeom prst="straightConnector1">
            <a:avLst/>
          </a:prstGeom>
          <a:solidFill>
            <a:srgbClr val="1A2540"/>
          </a:solidFill>
          <a:ln>
            <a:noFill/>
          </a:ln>
        </p:spPr>
      </p:cxnSp>
      <p:sp>
        <p:nvSpPr>
          <p:cNvPr id="286" name="Google Shape;286;p6"/>
          <p:cNvSpPr/>
          <p:nvPr/>
        </p:nvSpPr>
        <p:spPr>
          <a:xfrm>
            <a:off x="2048256" y="950976"/>
            <a:ext cx="310896" cy="310896"/>
          </a:xfrm>
          <a:prstGeom prst="rect">
            <a:avLst/>
          </a:prstGeom>
          <a:solidFill>
            <a:srgbClr val="0E1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EDE8D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rgbClr val="EDE8D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2414016" y="987552"/>
            <a:ext cx="1115568" cy="237744"/>
          </a:xfrm>
          <a:prstGeom prst="rect">
            <a:avLst/>
          </a:prstGeom>
          <a:solidFill>
            <a:srgbClr val="0E182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2414016" y="987552"/>
            <a:ext cx="1115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900"/>
              <a:buFont typeface="DM Sans"/>
              <a:buNone/>
            </a:pPr>
            <a:r>
              <a:rPr b="0" i="0" lang="en-US" sz="11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GESTOR</a:t>
            </a:r>
            <a:endParaRPr b="0" i="0" sz="1100" u="none" cap="none" strike="noStrike">
              <a:solidFill>
                <a:srgbClr val="EDE8D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289" name="Google Shape;28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0320" y="148132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6"/>
          <p:cNvSpPr/>
          <p:nvPr/>
        </p:nvSpPr>
        <p:spPr>
          <a:xfrm>
            <a:off x="2048256" y="2011680"/>
            <a:ext cx="148132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sz="15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Avalia Viabilidade e ROI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2066544" y="2706624"/>
            <a:ext cx="1444752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Score automático e aprovação fundamentada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3602736" y="2029968"/>
            <a:ext cx="1463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2400"/>
              <a:buFont typeface="DM Sans"/>
              <a:buNone/>
            </a:pPr>
            <a:r>
              <a:rPr b="0" i="0" lang="en-US" sz="2600" u="none" cap="none" strike="noStrike">
                <a:solidFill>
                  <a:srgbClr val="C87D0E"/>
                </a:solidFill>
                <a:latin typeface="Outfit Light"/>
                <a:ea typeface="Outfit Light"/>
                <a:cs typeface="Outfit Light"/>
                <a:sym typeface="Outfit Light"/>
              </a:rPr>
              <a:t>›</a:t>
            </a:r>
            <a:endParaRPr b="0" i="0" sz="26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3749040" y="896112"/>
            <a:ext cx="1627632" cy="3822192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3749040" y="896112"/>
            <a:ext cx="1627632" cy="438912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95" name="Google Shape;295;p6"/>
          <p:cNvCxnSpPr/>
          <p:nvPr/>
        </p:nvCxnSpPr>
        <p:spPr>
          <a:xfrm>
            <a:off x="3822192" y="950976"/>
            <a:ext cx="310896" cy="310896"/>
          </a:xfrm>
          <a:prstGeom prst="straightConnector1">
            <a:avLst/>
          </a:prstGeom>
          <a:solidFill>
            <a:srgbClr val="1A2540"/>
          </a:solidFill>
          <a:ln>
            <a:noFill/>
          </a:ln>
        </p:spPr>
      </p:cxnSp>
      <p:sp>
        <p:nvSpPr>
          <p:cNvPr id="296" name="Google Shape;296;p6"/>
          <p:cNvSpPr/>
          <p:nvPr/>
        </p:nvSpPr>
        <p:spPr>
          <a:xfrm>
            <a:off x="3822192" y="950976"/>
            <a:ext cx="310896" cy="310896"/>
          </a:xfrm>
          <a:prstGeom prst="rect">
            <a:avLst/>
          </a:prstGeom>
          <a:solidFill>
            <a:srgbClr val="0E1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EDE8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rgbClr val="EDE8D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4187952" y="987552"/>
            <a:ext cx="1115568" cy="237744"/>
          </a:xfrm>
          <a:prstGeom prst="rect">
            <a:avLst/>
          </a:prstGeom>
          <a:solidFill>
            <a:srgbClr val="0E182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4187952" y="987552"/>
            <a:ext cx="1115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900"/>
              <a:buFont typeface="DM Sans"/>
              <a:buNone/>
            </a:pPr>
            <a:r>
              <a:rPr b="0" i="0" lang="en-US" sz="11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GESTOR</a:t>
            </a:r>
            <a:endParaRPr b="0" i="0" sz="1100" u="none" cap="none" strike="noStrike">
              <a:solidFill>
                <a:srgbClr val="EDE8D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299" name="Google Shape;29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34256" y="148132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6"/>
          <p:cNvSpPr/>
          <p:nvPr/>
        </p:nvSpPr>
        <p:spPr>
          <a:xfrm>
            <a:off x="3822192" y="2011680"/>
            <a:ext cx="148132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sz="15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Ideia vira Projeto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3840480" y="2706624"/>
            <a:ext cx="1444752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Estruturado com prazo, marcos e investimento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5376672" y="2029968"/>
            <a:ext cx="1463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2400"/>
              <a:buFont typeface="DM Sans"/>
              <a:buNone/>
            </a:pPr>
            <a:r>
              <a:rPr b="0" i="0" lang="en-US" sz="2600" u="none" cap="none" strike="noStrike">
                <a:solidFill>
                  <a:srgbClr val="C87D0E"/>
                </a:solidFill>
                <a:latin typeface="Outfit Light"/>
                <a:ea typeface="Outfit Light"/>
                <a:cs typeface="Outfit Light"/>
                <a:sym typeface="Outfit Light"/>
              </a:rPr>
              <a:t>›</a:t>
            </a:r>
            <a:endParaRPr b="0" i="0" sz="26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5522976" y="896112"/>
            <a:ext cx="1627632" cy="3822192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5522976" y="896112"/>
            <a:ext cx="1627632" cy="438912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05" name="Google Shape;305;p6"/>
          <p:cNvCxnSpPr/>
          <p:nvPr/>
        </p:nvCxnSpPr>
        <p:spPr>
          <a:xfrm>
            <a:off x="5596128" y="950976"/>
            <a:ext cx="310896" cy="310896"/>
          </a:xfrm>
          <a:prstGeom prst="straightConnector1">
            <a:avLst/>
          </a:prstGeom>
          <a:solidFill>
            <a:srgbClr val="1A2540"/>
          </a:solidFill>
          <a:ln>
            <a:noFill/>
          </a:ln>
        </p:spPr>
      </p:cxnSp>
      <p:sp>
        <p:nvSpPr>
          <p:cNvPr id="306" name="Google Shape;306;p6"/>
          <p:cNvSpPr/>
          <p:nvPr/>
        </p:nvSpPr>
        <p:spPr>
          <a:xfrm>
            <a:off x="5596128" y="950976"/>
            <a:ext cx="310896" cy="310896"/>
          </a:xfrm>
          <a:prstGeom prst="rect">
            <a:avLst/>
          </a:prstGeom>
          <a:solidFill>
            <a:srgbClr val="0E1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EDE8D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rgbClr val="EDE8D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5961888" y="987552"/>
            <a:ext cx="1115568" cy="237744"/>
          </a:xfrm>
          <a:prstGeom prst="rect">
            <a:avLst/>
          </a:prstGeom>
          <a:solidFill>
            <a:srgbClr val="0E182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5961888" y="987552"/>
            <a:ext cx="1115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900"/>
              <a:buFont typeface="DM Sans"/>
              <a:buNone/>
            </a:pPr>
            <a:r>
              <a:rPr b="0" i="0" lang="en-US" sz="11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GESTOR</a:t>
            </a:r>
            <a:endParaRPr b="0" i="0" sz="1100" u="none" cap="none" strike="noStrike">
              <a:solidFill>
                <a:srgbClr val="EDE8D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309" name="Google Shape;30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08192" y="148132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6"/>
          <p:cNvSpPr/>
          <p:nvPr/>
        </p:nvSpPr>
        <p:spPr>
          <a:xfrm>
            <a:off x="5596128" y="2011680"/>
            <a:ext cx="148132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sz="15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Resultados em Tempo Real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5614416" y="2706624"/>
            <a:ext cx="1444752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ROI atualizado conforme execução avança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7150608" y="2029968"/>
            <a:ext cx="1463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2400"/>
              <a:buFont typeface="DM Sans"/>
              <a:buNone/>
            </a:pPr>
            <a:r>
              <a:rPr b="0" i="0" lang="en-US" sz="2600" u="none" cap="none" strike="noStrike">
                <a:solidFill>
                  <a:srgbClr val="C87D0E"/>
                </a:solidFill>
                <a:latin typeface="Outfit Light"/>
                <a:ea typeface="Outfit Light"/>
                <a:cs typeface="Outfit Light"/>
                <a:sym typeface="Outfit Light"/>
              </a:rPr>
              <a:t>›</a:t>
            </a:r>
            <a:endParaRPr b="0" i="0" sz="26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7296912" y="896112"/>
            <a:ext cx="1627632" cy="3822192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7296912" y="896112"/>
            <a:ext cx="1627632" cy="438912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15" name="Google Shape;315;p6"/>
          <p:cNvCxnSpPr/>
          <p:nvPr/>
        </p:nvCxnSpPr>
        <p:spPr>
          <a:xfrm>
            <a:off x="7370064" y="950976"/>
            <a:ext cx="310896" cy="310896"/>
          </a:xfrm>
          <a:prstGeom prst="straightConnector1">
            <a:avLst/>
          </a:prstGeom>
          <a:solidFill>
            <a:srgbClr val="1A2540"/>
          </a:solidFill>
          <a:ln>
            <a:noFill/>
          </a:ln>
        </p:spPr>
      </p:cxnSp>
      <p:sp>
        <p:nvSpPr>
          <p:cNvPr id="316" name="Google Shape;316;p6"/>
          <p:cNvSpPr/>
          <p:nvPr/>
        </p:nvSpPr>
        <p:spPr>
          <a:xfrm>
            <a:off x="7370064" y="950976"/>
            <a:ext cx="310896" cy="310896"/>
          </a:xfrm>
          <a:prstGeom prst="rect">
            <a:avLst/>
          </a:prstGeom>
          <a:solidFill>
            <a:srgbClr val="0E1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EDE8D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rgbClr val="EDE8D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7735824" y="987552"/>
            <a:ext cx="1115568" cy="237744"/>
          </a:xfrm>
          <a:prstGeom prst="rect">
            <a:avLst/>
          </a:prstGeom>
          <a:solidFill>
            <a:srgbClr val="0E182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7735824" y="987552"/>
            <a:ext cx="1115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900"/>
              <a:buFont typeface="DM Sans"/>
              <a:buNone/>
            </a:pPr>
            <a:r>
              <a:rPr b="0" i="0" lang="en-US" sz="11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LIDERANÇA</a:t>
            </a:r>
            <a:endParaRPr b="0" i="0" sz="1100" u="none" cap="none" strike="noStrike">
              <a:solidFill>
                <a:srgbClr val="EDE8D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319" name="Google Shape;319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82128" y="148132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6"/>
          <p:cNvSpPr/>
          <p:nvPr/>
        </p:nvSpPr>
        <p:spPr>
          <a:xfrm>
            <a:off x="7370064" y="2011680"/>
            <a:ext cx="148132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sz="15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Dashboard Estratégico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7388352" y="2706624"/>
            <a:ext cx="1444752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Analytics, IA e Export PDF para o board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201168" y="4791456"/>
            <a:ext cx="8741664" cy="274320"/>
          </a:xfrm>
          <a:prstGeom prst="rect">
            <a:avLst/>
          </a:prstGeom>
          <a:solidFill>
            <a:srgbClr val="2A38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201168" y="4791456"/>
            <a:ext cx="87416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200"/>
              <a:buFont typeface="DM Sans"/>
              <a:buNone/>
            </a:pPr>
            <a:r>
              <a:rPr i="0" lang="en-US" sz="14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Gamificação ativa em cada etapa  ·  IA e analytics  ·  Export PDF para o board</a:t>
            </a:r>
            <a:endParaRPr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DE8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8bb52cac1_0_84"/>
          <p:cNvSpPr/>
          <p:nvPr/>
        </p:nvSpPr>
        <p:spPr>
          <a:xfrm>
            <a:off x="5116538" y="137135"/>
            <a:ext cx="881400" cy="2013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a8bb52cac1_0_84"/>
          <p:cNvSpPr/>
          <p:nvPr/>
        </p:nvSpPr>
        <p:spPr>
          <a:xfrm>
            <a:off x="5116538" y="135306"/>
            <a:ext cx="881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1" i="0" lang="en-US" sz="10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FRONTEND</a:t>
            </a:r>
            <a:endParaRPr sz="1000"/>
          </a:p>
        </p:txBody>
      </p:sp>
      <p:sp>
        <p:nvSpPr>
          <p:cNvPr id="330" name="Google Shape;330;g3a8bb52cac1_0_84"/>
          <p:cNvSpPr/>
          <p:nvPr/>
        </p:nvSpPr>
        <p:spPr>
          <a:xfrm>
            <a:off x="5116550" y="135300"/>
            <a:ext cx="39807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334466"/>
                </a:solidFill>
                <a:latin typeface="DM Sans"/>
                <a:ea typeface="DM Sans"/>
                <a:cs typeface="DM Sans"/>
                <a:sym typeface="DM Sans"/>
              </a:rPr>
              <a:t>                      </a:t>
            </a:r>
            <a:r>
              <a:rPr b="0" i="0" lang="en-US" sz="1600" u="none" cap="none" strike="noStrike">
                <a:solidFill>
                  <a:srgbClr val="334466"/>
                </a:solidFill>
                <a:latin typeface="DM Sans"/>
                <a:ea typeface="DM Sans"/>
                <a:cs typeface="DM Sans"/>
                <a:sym typeface="DM Sans"/>
              </a:rPr>
              <a:t>Interface do Produto</a:t>
            </a:r>
            <a:endParaRPr>
              <a:solidFill>
                <a:srgbClr val="334466"/>
              </a:solidFill>
            </a:endParaRPr>
          </a:p>
        </p:txBody>
      </p:sp>
      <p:sp>
        <p:nvSpPr>
          <p:cNvPr id="331" name="Google Shape;331;g3a8bb52cac1_0_84"/>
          <p:cNvSpPr/>
          <p:nvPr/>
        </p:nvSpPr>
        <p:spPr>
          <a:xfrm>
            <a:off x="5174102" y="542475"/>
            <a:ext cx="18501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OPERADOR</a:t>
            </a:r>
            <a:r>
              <a:rPr b="1" i="0" lang="en-US" sz="20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       </a:t>
            </a:r>
            <a:endParaRPr/>
          </a:p>
        </p:txBody>
      </p:sp>
      <p:sp>
        <p:nvSpPr>
          <p:cNvPr id="332" name="Google Shape;332;g3a8bb52cac1_0_84"/>
          <p:cNvSpPr/>
          <p:nvPr/>
        </p:nvSpPr>
        <p:spPr>
          <a:xfrm>
            <a:off x="5183699" y="970350"/>
            <a:ext cx="32298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1" lang="en-US" sz="1700">
                <a:solidFill>
                  <a:srgbClr val="1A254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Captura de ideias em segundos</a:t>
            </a:r>
            <a:endParaRPr b="1" sz="1700"/>
          </a:p>
        </p:txBody>
      </p:sp>
      <p:sp>
        <p:nvSpPr>
          <p:cNvPr id="333" name="Google Shape;333;g3a8bb52cac1_0_84"/>
          <p:cNvSpPr/>
          <p:nvPr/>
        </p:nvSpPr>
        <p:spPr>
          <a:xfrm>
            <a:off x="124735" y="97993"/>
            <a:ext cx="2299500" cy="4952700"/>
          </a:xfrm>
          <a:prstGeom prst="roundRect">
            <a:avLst>
              <a:gd fmla="val 8000" name="adj"/>
            </a:avLst>
          </a:prstGeom>
          <a:solidFill>
            <a:srgbClr val="0E1828"/>
          </a:solidFill>
          <a:ln cap="flat" cmpd="sng" w="17875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4300" lIns="128625" spcFirstLastPara="1" rIns="128625" wrap="square" tIns="6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a8bb52cac1_0_84"/>
          <p:cNvSpPr/>
          <p:nvPr/>
        </p:nvSpPr>
        <p:spPr>
          <a:xfrm flipH="1">
            <a:off x="4962263" y="137125"/>
            <a:ext cx="28800" cy="48330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a8bb52cac1_0_84"/>
          <p:cNvSpPr/>
          <p:nvPr/>
        </p:nvSpPr>
        <p:spPr>
          <a:xfrm>
            <a:off x="5258050" y="1652850"/>
            <a:ext cx="3780600" cy="30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00" spcFirstLastPara="1" rIns="45700" wrap="square" tIns="22850">
            <a:noAutofit/>
          </a:bodyPr>
          <a:lstStyle/>
          <a:p>
            <a:pPr indent="-127000" lvl="0" marL="14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C87D0E"/>
              </a:buClr>
              <a:buSzPts val="2000"/>
              <a:buChar char="▪"/>
            </a:pPr>
            <a:r>
              <a:rPr lang="en-US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Registro de ideias em segundos</a:t>
            </a:r>
            <a:endParaRPr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27000" lvl="0" marL="14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C87D0E"/>
              </a:buClr>
              <a:buSzPts val="2000"/>
              <a:buChar char="▪"/>
            </a:pPr>
            <a:r>
              <a:rPr lang="en-US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 Acompanhamento em tempo real</a:t>
            </a:r>
            <a:endParaRPr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27000" lvl="0" marL="14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C87D0E"/>
              </a:buClr>
              <a:buSzPts val="2000"/>
              <a:buChar char="▪"/>
            </a:pPr>
            <a:r>
              <a:rPr lang="en-US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 Gamificação por badges e pontos</a:t>
            </a:r>
            <a:endParaRPr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27000" lvl="0" marL="14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C87D0E"/>
              </a:buClr>
              <a:buSzPts val="2000"/>
              <a:buChar char="▪"/>
            </a:pPr>
            <a:r>
              <a:rPr lang="en-US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 Orientações estratégicas da liderança</a:t>
            </a:r>
            <a:endParaRPr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6" name="Google Shape;336;g3a8bb52cac1_0_84"/>
          <p:cNvSpPr/>
          <p:nvPr/>
        </p:nvSpPr>
        <p:spPr>
          <a:xfrm>
            <a:off x="2516688" y="108000"/>
            <a:ext cx="2340600" cy="4952700"/>
          </a:xfrm>
          <a:prstGeom prst="roundRect">
            <a:avLst>
              <a:gd fmla="val 8000" name="adj"/>
            </a:avLst>
          </a:prstGeom>
          <a:solidFill>
            <a:srgbClr val="0E1828"/>
          </a:solidFill>
          <a:ln cap="flat" cmpd="sng" w="17875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4300" lIns="128625" spcFirstLastPara="1" rIns="128625" wrap="square" tIns="6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reenshot" id="337" name="Google Shape;337;g3a8bb52cac1_0_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525" y="230275"/>
            <a:ext cx="2039224" cy="470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g3a8bb52cac1_0_84" title="Screenshot_20260526_153202_ARIA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4450" y="230275"/>
            <a:ext cx="2111524" cy="47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DE8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a8bb52cac1_0_101"/>
          <p:cNvSpPr/>
          <p:nvPr/>
        </p:nvSpPr>
        <p:spPr>
          <a:xfrm>
            <a:off x="5116538" y="137135"/>
            <a:ext cx="881400" cy="2013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a8bb52cac1_0_101"/>
          <p:cNvSpPr/>
          <p:nvPr/>
        </p:nvSpPr>
        <p:spPr>
          <a:xfrm>
            <a:off x="5116538" y="135306"/>
            <a:ext cx="881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1" i="0" lang="en-US" sz="10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FRONTEND</a:t>
            </a:r>
            <a:endParaRPr sz="1000"/>
          </a:p>
        </p:txBody>
      </p:sp>
      <p:sp>
        <p:nvSpPr>
          <p:cNvPr id="345" name="Google Shape;345;g3a8bb52cac1_0_101"/>
          <p:cNvSpPr/>
          <p:nvPr/>
        </p:nvSpPr>
        <p:spPr>
          <a:xfrm>
            <a:off x="5116550" y="135300"/>
            <a:ext cx="39807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334466"/>
                </a:solidFill>
                <a:latin typeface="DM Sans"/>
                <a:ea typeface="DM Sans"/>
                <a:cs typeface="DM Sans"/>
                <a:sym typeface="DM Sans"/>
              </a:rPr>
              <a:t>                      </a:t>
            </a:r>
            <a:r>
              <a:rPr b="0" i="0" lang="en-US" sz="1600" u="none" cap="none" strike="noStrike">
                <a:solidFill>
                  <a:srgbClr val="334466"/>
                </a:solidFill>
                <a:latin typeface="DM Sans"/>
                <a:ea typeface="DM Sans"/>
                <a:cs typeface="DM Sans"/>
                <a:sym typeface="DM Sans"/>
              </a:rPr>
              <a:t>Interface do Produto</a:t>
            </a:r>
            <a:endParaRPr>
              <a:solidFill>
                <a:srgbClr val="334466"/>
              </a:solidFill>
            </a:endParaRPr>
          </a:p>
        </p:txBody>
      </p:sp>
      <p:sp>
        <p:nvSpPr>
          <p:cNvPr id="346" name="Google Shape;346;g3a8bb52cac1_0_101"/>
          <p:cNvSpPr/>
          <p:nvPr/>
        </p:nvSpPr>
        <p:spPr>
          <a:xfrm>
            <a:off x="5174102" y="542475"/>
            <a:ext cx="18501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GESTOR</a:t>
            </a:r>
            <a:r>
              <a:rPr b="1" i="0" lang="en-US" sz="20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        </a:t>
            </a:r>
            <a:endParaRPr/>
          </a:p>
        </p:txBody>
      </p:sp>
      <p:sp>
        <p:nvSpPr>
          <p:cNvPr id="347" name="Google Shape;347;g3a8bb52cac1_0_101"/>
          <p:cNvSpPr/>
          <p:nvPr/>
        </p:nvSpPr>
        <p:spPr>
          <a:xfrm>
            <a:off x="5183699" y="970350"/>
            <a:ext cx="32298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1" lang="en-US" sz="1700">
                <a:solidFill>
                  <a:srgbClr val="1A254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Curadoria e viabilidade operacional</a:t>
            </a:r>
            <a:endParaRPr b="1" sz="1700"/>
          </a:p>
        </p:txBody>
      </p:sp>
      <p:sp>
        <p:nvSpPr>
          <p:cNvPr id="348" name="Google Shape;348;g3a8bb52cac1_0_101"/>
          <p:cNvSpPr/>
          <p:nvPr/>
        </p:nvSpPr>
        <p:spPr>
          <a:xfrm>
            <a:off x="124735" y="97993"/>
            <a:ext cx="2299500" cy="4952700"/>
          </a:xfrm>
          <a:prstGeom prst="roundRect">
            <a:avLst>
              <a:gd fmla="val 8000" name="adj"/>
            </a:avLst>
          </a:prstGeom>
          <a:solidFill>
            <a:srgbClr val="0E1828"/>
          </a:solidFill>
          <a:ln cap="flat" cmpd="sng" w="17875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4300" lIns="128625" spcFirstLastPara="1" rIns="128625" wrap="square" tIns="6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a8bb52cac1_0_101"/>
          <p:cNvSpPr/>
          <p:nvPr/>
        </p:nvSpPr>
        <p:spPr>
          <a:xfrm flipH="1">
            <a:off x="4962263" y="137125"/>
            <a:ext cx="28800" cy="48330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a8bb52cac1_0_101"/>
          <p:cNvSpPr/>
          <p:nvPr/>
        </p:nvSpPr>
        <p:spPr>
          <a:xfrm>
            <a:off x="5258050" y="1652850"/>
            <a:ext cx="3780600" cy="30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00" spcFirstLastPara="1" rIns="45700" wrap="square" tIns="22850">
            <a:noAutofit/>
          </a:bodyPr>
          <a:lstStyle/>
          <a:p>
            <a:pPr indent="-127000" lvl="0" marL="14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C87D0E"/>
              </a:buClr>
              <a:buSzPts val="2000"/>
              <a:buChar char="▪"/>
            </a:pPr>
            <a:r>
              <a:rPr lang="en-US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Priorização automática por score</a:t>
            </a:r>
            <a:endParaRPr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27000" lvl="0" marL="14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C87D0E"/>
              </a:buClr>
              <a:buSzPts val="2000"/>
              <a:buChar char="▪"/>
            </a:pPr>
            <a:r>
              <a:rPr lang="en-US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 Feedback estruturado e ROI estimado</a:t>
            </a:r>
            <a:endParaRPr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27000" lvl="0" marL="14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C87D0E"/>
              </a:buClr>
              <a:buSzPts val="2000"/>
              <a:buChar char="▪"/>
            </a:pPr>
            <a:r>
              <a:rPr lang="en-US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 Gestão completa de projetos</a:t>
            </a:r>
            <a:endParaRPr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27000" lvl="0" marL="14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C87D0E"/>
              </a:buClr>
              <a:buSzPts val="2000"/>
              <a:buChar char="▪"/>
            </a:pPr>
            <a:r>
              <a:rPr lang="en-US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 Atualização financeira contínua</a:t>
            </a:r>
            <a:endParaRPr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1" name="Google Shape;351;g3a8bb52cac1_0_101"/>
          <p:cNvSpPr/>
          <p:nvPr/>
        </p:nvSpPr>
        <p:spPr>
          <a:xfrm>
            <a:off x="2521488" y="108000"/>
            <a:ext cx="2335800" cy="4952700"/>
          </a:xfrm>
          <a:prstGeom prst="roundRect">
            <a:avLst>
              <a:gd fmla="val 8000" name="adj"/>
            </a:avLst>
          </a:prstGeom>
          <a:solidFill>
            <a:srgbClr val="0E1828"/>
          </a:solidFill>
          <a:ln cap="flat" cmpd="sng" w="17875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4300" lIns="128625" spcFirstLastPara="1" rIns="128625" wrap="square" tIns="6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g3a8bb52cac1_0_101" title="Screenshot_20260526_153333_ARI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650" y="212200"/>
            <a:ext cx="2137025" cy="4652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g3a8bb52cac1_0_101" title="Screenshot_20260526_153504_ARIA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600" y="275675"/>
            <a:ext cx="2026374" cy="4603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DE8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8bb52cac1_0_115"/>
          <p:cNvSpPr/>
          <p:nvPr/>
        </p:nvSpPr>
        <p:spPr>
          <a:xfrm>
            <a:off x="5116538" y="137135"/>
            <a:ext cx="881400" cy="2013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a8bb52cac1_0_115"/>
          <p:cNvSpPr/>
          <p:nvPr/>
        </p:nvSpPr>
        <p:spPr>
          <a:xfrm>
            <a:off x="5116538" y="135306"/>
            <a:ext cx="881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1" i="0" lang="en-US" sz="10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FRONTEND</a:t>
            </a:r>
            <a:endParaRPr sz="1000"/>
          </a:p>
        </p:txBody>
      </p:sp>
      <p:sp>
        <p:nvSpPr>
          <p:cNvPr id="360" name="Google Shape;360;g3a8bb52cac1_0_115"/>
          <p:cNvSpPr/>
          <p:nvPr/>
        </p:nvSpPr>
        <p:spPr>
          <a:xfrm>
            <a:off x="5116550" y="135300"/>
            <a:ext cx="39807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334466"/>
                </a:solidFill>
                <a:latin typeface="DM Sans"/>
                <a:ea typeface="DM Sans"/>
                <a:cs typeface="DM Sans"/>
                <a:sym typeface="DM Sans"/>
              </a:rPr>
              <a:t>                      </a:t>
            </a:r>
            <a:r>
              <a:rPr b="0" i="0" lang="en-US" sz="1600" u="none" cap="none" strike="noStrike">
                <a:solidFill>
                  <a:srgbClr val="334466"/>
                </a:solidFill>
                <a:latin typeface="DM Sans"/>
                <a:ea typeface="DM Sans"/>
                <a:cs typeface="DM Sans"/>
                <a:sym typeface="DM Sans"/>
              </a:rPr>
              <a:t>Interface do Produto</a:t>
            </a:r>
            <a:endParaRPr>
              <a:solidFill>
                <a:srgbClr val="334466"/>
              </a:solidFill>
            </a:endParaRPr>
          </a:p>
        </p:txBody>
      </p:sp>
      <p:sp>
        <p:nvSpPr>
          <p:cNvPr id="361" name="Google Shape;361;g3a8bb52cac1_0_115"/>
          <p:cNvSpPr/>
          <p:nvPr/>
        </p:nvSpPr>
        <p:spPr>
          <a:xfrm>
            <a:off x="5174102" y="542475"/>
            <a:ext cx="18501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LIDERANÇA        </a:t>
            </a:r>
            <a:endParaRPr/>
          </a:p>
        </p:txBody>
      </p:sp>
      <p:sp>
        <p:nvSpPr>
          <p:cNvPr id="362" name="Google Shape;362;g3a8bb52cac1_0_115"/>
          <p:cNvSpPr/>
          <p:nvPr/>
        </p:nvSpPr>
        <p:spPr>
          <a:xfrm>
            <a:off x="5183699" y="970350"/>
            <a:ext cx="32298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1" lang="en-US" sz="1700" u="none" cap="none" strike="noStrike">
                <a:solidFill>
                  <a:srgbClr val="1A254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Inteligência estratégica e ROI</a:t>
            </a:r>
            <a:endParaRPr b="1" sz="1700"/>
          </a:p>
        </p:txBody>
      </p:sp>
      <p:sp>
        <p:nvSpPr>
          <p:cNvPr id="363" name="Google Shape;363;g3a8bb52cac1_0_115"/>
          <p:cNvSpPr/>
          <p:nvPr/>
        </p:nvSpPr>
        <p:spPr>
          <a:xfrm>
            <a:off x="124735" y="97993"/>
            <a:ext cx="2299500" cy="4952700"/>
          </a:xfrm>
          <a:prstGeom prst="roundRect">
            <a:avLst>
              <a:gd fmla="val 8000" name="adj"/>
            </a:avLst>
          </a:prstGeom>
          <a:solidFill>
            <a:srgbClr val="0E1828"/>
          </a:solidFill>
          <a:ln cap="flat" cmpd="sng" w="17875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4300" lIns="128625" spcFirstLastPara="1" rIns="128625" wrap="square" tIns="6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a8bb52cac1_0_115"/>
          <p:cNvSpPr/>
          <p:nvPr/>
        </p:nvSpPr>
        <p:spPr>
          <a:xfrm flipH="1">
            <a:off x="4962263" y="137125"/>
            <a:ext cx="28800" cy="48330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a8bb52cac1_0_115"/>
          <p:cNvSpPr/>
          <p:nvPr/>
        </p:nvSpPr>
        <p:spPr>
          <a:xfrm>
            <a:off x="5258050" y="1652850"/>
            <a:ext cx="3780600" cy="30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00" spcFirstLastPara="1" rIns="45700" wrap="square" tIns="22850">
            <a:noAutofit/>
          </a:bodyPr>
          <a:lstStyle/>
          <a:p>
            <a:pPr indent="-127000" lvl="0" marL="14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C87D0E"/>
              </a:buClr>
              <a:buSzPts val="2000"/>
              <a:buChar char="▪"/>
            </a:pPr>
            <a:r>
              <a:rPr lang="en-US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 Dashboard executivo com ROI acumulado</a:t>
            </a:r>
            <a:endParaRPr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27000" lvl="0" marL="14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C87D0E"/>
              </a:buClr>
              <a:buSzPts val="2000"/>
              <a:buChar char="▪"/>
            </a:pPr>
            <a:r>
              <a:rPr lang="en-US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 Analytics e tendências por IA</a:t>
            </a:r>
            <a:endParaRPr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27000" lvl="0" marL="14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C87D0E"/>
              </a:buClr>
              <a:buSzPts val="2000"/>
              <a:buChar char="▪"/>
            </a:pPr>
            <a:r>
              <a:rPr lang="en-US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 Funil completo de inovação</a:t>
            </a:r>
            <a:endParaRPr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27000" lvl="0" marL="14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C87D0E"/>
              </a:buClr>
              <a:buSzPts val="2000"/>
              <a:buChar char="▪"/>
            </a:pPr>
            <a:r>
              <a:rPr lang="en-US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 Export executivo em PDF</a:t>
            </a:r>
            <a:endParaRPr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6" name="Google Shape;366;g3a8bb52cac1_0_115"/>
          <p:cNvSpPr/>
          <p:nvPr/>
        </p:nvSpPr>
        <p:spPr>
          <a:xfrm>
            <a:off x="2557898" y="107995"/>
            <a:ext cx="2299500" cy="4952700"/>
          </a:xfrm>
          <a:prstGeom prst="roundRect">
            <a:avLst>
              <a:gd fmla="val 8000" name="adj"/>
            </a:avLst>
          </a:prstGeom>
          <a:solidFill>
            <a:srgbClr val="0E1828"/>
          </a:solidFill>
          <a:ln cap="flat" cmpd="sng" w="17875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4300" lIns="128625" spcFirstLastPara="1" rIns="128625" wrap="square" tIns="6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g3a8bb52cac1_0_115" title="Screenshot_20260526_153549_ARI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4452" y="303450"/>
            <a:ext cx="2067713" cy="4575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g3a8bb52cac1_0_115" title="Aria-tela-lider-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595" y="303450"/>
            <a:ext cx="2133747" cy="4575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DE8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8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38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375" name="Google Shape;3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91440"/>
            <a:ext cx="777240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8"/>
          <p:cNvSpPr/>
          <p:nvPr/>
        </p:nvSpPr>
        <p:spPr>
          <a:xfrm>
            <a:off x="1060704" y="137160"/>
            <a:ext cx="1051560" cy="201168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1060704" y="137160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850"/>
              <a:buFont typeface="DM Sans"/>
              <a:buNone/>
            </a:pPr>
            <a:r>
              <a:rPr b="1" i="0" lang="en-US" sz="85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TECNOLOGIA</a:t>
            </a:r>
            <a:endParaRPr b="0" i="0" sz="8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1060700" y="135325"/>
            <a:ext cx="7772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2000"/>
              <a:buFont typeface="DM Sans"/>
              <a:buNone/>
            </a:pPr>
            <a:r>
              <a:rPr b="0" i="0" lang="en-US" sz="1600" u="none" cap="none" strike="noStrike">
                <a:solidFill>
                  <a:srgbClr val="C87D0E"/>
                </a:solidFill>
                <a:latin typeface="Outfit Light"/>
                <a:ea typeface="Outfit Light"/>
                <a:cs typeface="Outfit Light"/>
                <a:sym typeface="Outfit Light"/>
              </a:rPr>
              <a:t>Stack Tecnológica</a:t>
            </a:r>
            <a:endParaRPr b="0" i="0" sz="16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347472" y="56692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Tecnologias utilizadas no desenvolvimento do ARIA — Sprint 1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201168" y="914400"/>
            <a:ext cx="2048256" cy="416966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201168" y="914400"/>
            <a:ext cx="2048256" cy="420624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382" name="Google Shape;38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896" y="10058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8"/>
          <p:cNvSpPr/>
          <p:nvPr/>
        </p:nvSpPr>
        <p:spPr>
          <a:xfrm>
            <a:off x="603504" y="914400"/>
            <a:ext cx="15727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Frontend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310896" y="1444752"/>
            <a:ext cx="1828800" cy="457200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5" name="Google Shape;385;p8"/>
          <p:cNvSpPr/>
          <p:nvPr/>
        </p:nvSpPr>
        <p:spPr>
          <a:xfrm>
            <a:off x="310896" y="1444752"/>
            <a:ext cx="36576" cy="457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402336" y="144475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Kotlin + Android Nativo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310896" y="1993392"/>
            <a:ext cx="1828800" cy="457200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310896" y="1993392"/>
            <a:ext cx="36576" cy="457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402336" y="199339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Jetpack Compose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310896" y="2542032"/>
            <a:ext cx="1828800" cy="457200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310896" y="2542032"/>
            <a:ext cx="36576" cy="457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402336" y="254203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Material 3 + Adaptive Nav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310896" y="3090672"/>
            <a:ext cx="1828800" cy="457200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4" name="Google Shape;394;p8"/>
          <p:cNvSpPr/>
          <p:nvPr/>
        </p:nvSpPr>
        <p:spPr>
          <a:xfrm>
            <a:off x="310896" y="3090672"/>
            <a:ext cx="36576" cy="457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5" name="Google Shape;395;p8"/>
          <p:cNvSpPr/>
          <p:nvPr/>
        </p:nvSpPr>
        <p:spPr>
          <a:xfrm>
            <a:off x="402336" y="309067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Gestão de mídia/avatar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6" name="Google Shape;396;p8"/>
          <p:cNvSpPr/>
          <p:nvPr/>
        </p:nvSpPr>
        <p:spPr>
          <a:xfrm>
            <a:off x="310896" y="3639312"/>
            <a:ext cx="1828800" cy="457200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7" name="Google Shape;397;p8"/>
          <p:cNvSpPr/>
          <p:nvPr/>
        </p:nvSpPr>
        <p:spPr>
          <a:xfrm>
            <a:off x="310896" y="3639312"/>
            <a:ext cx="36576" cy="457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8" name="Google Shape;398;p8"/>
          <p:cNvSpPr/>
          <p:nvPr/>
        </p:nvSpPr>
        <p:spPr>
          <a:xfrm>
            <a:off x="402336" y="363931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Navigation Compose 2.9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9" name="Google Shape;399;p8"/>
          <p:cNvSpPr/>
          <p:nvPr/>
        </p:nvSpPr>
        <p:spPr>
          <a:xfrm>
            <a:off x="2395728" y="914400"/>
            <a:ext cx="2048256" cy="416966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0" name="Google Shape;400;p8"/>
          <p:cNvSpPr/>
          <p:nvPr/>
        </p:nvSpPr>
        <p:spPr>
          <a:xfrm>
            <a:off x="2395728" y="914400"/>
            <a:ext cx="2048256" cy="420624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401" name="Google Shape;40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05456" y="10058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8"/>
          <p:cNvSpPr/>
          <p:nvPr/>
        </p:nvSpPr>
        <p:spPr>
          <a:xfrm>
            <a:off x="2798064" y="914400"/>
            <a:ext cx="15727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Arquitetura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2505456" y="1444752"/>
            <a:ext cx="1828800" cy="457200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2505456" y="1444752"/>
            <a:ext cx="36576" cy="457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2596896" y="144475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Arquitetura em camadas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2505456" y="1993392"/>
            <a:ext cx="1828800" cy="457200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2505456" y="1993392"/>
            <a:ext cx="36576" cy="457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2596896" y="199339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Abstração de dados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2505456" y="2542032"/>
            <a:ext cx="1828800" cy="457200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2505456" y="2542032"/>
            <a:ext cx="36576" cy="457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2596900" y="2542025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Injeção de dependência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2505456" y="3090672"/>
            <a:ext cx="1828800" cy="457200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2505456" y="3090672"/>
            <a:ext cx="36576" cy="457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14" name="Google Shape;414;p8"/>
          <p:cNvSpPr/>
          <p:nvPr/>
        </p:nvSpPr>
        <p:spPr>
          <a:xfrm>
            <a:off x="2596896" y="309067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Estado reativo da aplicação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5" name="Google Shape;415;p8"/>
          <p:cNvSpPr/>
          <p:nvPr/>
        </p:nvSpPr>
        <p:spPr>
          <a:xfrm>
            <a:off x="2505456" y="3639312"/>
            <a:ext cx="1828800" cy="457200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16" name="Google Shape;416;p8"/>
          <p:cNvSpPr/>
          <p:nvPr/>
        </p:nvSpPr>
        <p:spPr>
          <a:xfrm>
            <a:off x="2505456" y="3639312"/>
            <a:ext cx="36576" cy="457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17" name="Google Shape;417;p8"/>
          <p:cNvSpPr/>
          <p:nvPr/>
        </p:nvSpPr>
        <p:spPr>
          <a:xfrm>
            <a:off x="2596896" y="363931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Arquitetura modular MVVM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4590288" y="914400"/>
            <a:ext cx="2048256" cy="416966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4590288" y="914400"/>
            <a:ext cx="2048256" cy="420624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420" name="Google Shape;42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00016" y="10058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8"/>
          <p:cNvSpPr/>
          <p:nvPr/>
        </p:nvSpPr>
        <p:spPr>
          <a:xfrm>
            <a:off x="4992624" y="914400"/>
            <a:ext cx="15727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Dados &amp; APIs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2" name="Google Shape;422;p8"/>
          <p:cNvSpPr/>
          <p:nvPr/>
        </p:nvSpPr>
        <p:spPr>
          <a:xfrm>
            <a:off x="4700016" y="1444752"/>
            <a:ext cx="1828800" cy="457200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3" name="Google Shape;423;p8"/>
          <p:cNvSpPr/>
          <p:nvPr/>
        </p:nvSpPr>
        <p:spPr>
          <a:xfrm>
            <a:off x="4700016" y="1444752"/>
            <a:ext cx="36576" cy="457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4" name="Google Shape;424;p8"/>
          <p:cNvSpPr/>
          <p:nvPr/>
        </p:nvSpPr>
        <p:spPr>
          <a:xfrm>
            <a:off x="4791456" y="144475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APIs REST + comunicação HTTP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5" name="Google Shape;425;p8"/>
          <p:cNvSpPr/>
          <p:nvPr/>
        </p:nvSpPr>
        <p:spPr>
          <a:xfrm>
            <a:off x="4700016" y="1993392"/>
            <a:ext cx="1828800" cy="457200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6" name="Google Shape;426;p8"/>
          <p:cNvSpPr/>
          <p:nvPr/>
        </p:nvSpPr>
        <p:spPr>
          <a:xfrm>
            <a:off x="4700016" y="1993392"/>
            <a:ext cx="36576" cy="457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7" name="Google Shape;427;p8"/>
          <p:cNvSpPr/>
          <p:nvPr/>
        </p:nvSpPr>
        <p:spPr>
          <a:xfrm>
            <a:off x="4791456" y="199339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Persistência local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8" name="Google Shape;428;p8"/>
          <p:cNvSpPr/>
          <p:nvPr/>
        </p:nvSpPr>
        <p:spPr>
          <a:xfrm>
            <a:off x="4700016" y="2542032"/>
            <a:ext cx="1828800" cy="457200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9" name="Google Shape;429;p8"/>
          <p:cNvSpPr/>
          <p:nvPr/>
        </p:nvSpPr>
        <p:spPr>
          <a:xfrm>
            <a:off x="4700016" y="2542032"/>
            <a:ext cx="36576" cy="457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0" name="Google Shape;430;p8"/>
          <p:cNvSpPr/>
          <p:nvPr/>
        </p:nvSpPr>
        <p:spPr>
          <a:xfrm>
            <a:off x="4791456" y="254203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Autenticação simulada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1" name="Google Shape;431;p8"/>
          <p:cNvSpPr/>
          <p:nvPr/>
        </p:nvSpPr>
        <p:spPr>
          <a:xfrm>
            <a:off x="4700016" y="3090672"/>
            <a:ext cx="1828800" cy="457200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2" name="Google Shape;432;p8"/>
          <p:cNvSpPr/>
          <p:nvPr/>
        </p:nvSpPr>
        <p:spPr>
          <a:xfrm>
            <a:off x="4700016" y="3090672"/>
            <a:ext cx="36576" cy="457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3" name="Google Shape;433;p8"/>
          <p:cNvSpPr/>
          <p:nvPr/>
        </p:nvSpPr>
        <p:spPr>
          <a:xfrm>
            <a:off x="4791456" y="309067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Simulação de APIs para MVP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4" name="Google Shape;434;p8"/>
          <p:cNvSpPr/>
          <p:nvPr/>
        </p:nvSpPr>
        <p:spPr>
          <a:xfrm>
            <a:off x="4700016" y="3639312"/>
            <a:ext cx="1828800" cy="457200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5" name="Google Shape;435;p8"/>
          <p:cNvSpPr/>
          <p:nvPr/>
        </p:nvSpPr>
        <p:spPr>
          <a:xfrm>
            <a:off x="4700016" y="3639312"/>
            <a:ext cx="36576" cy="457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6" name="Google Shape;436;p8"/>
          <p:cNvSpPr/>
          <p:nvPr/>
        </p:nvSpPr>
        <p:spPr>
          <a:xfrm>
            <a:off x="4791456" y="363931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Export PDF nativo (Canvas)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7" name="Google Shape;437;p8"/>
          <p:cNvSpPr/>
          <p:nvPr/>
        </p:nvSpPr>
        <p:spPr>
          <a:xfrm>
            <a:off x="6784848" y="914400"/>
            <a:ext cx="2048256" cy="416966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8" name="Google Shape;438;p8"/>
          <p:cNvSpPr/>
          <p:nvPr/>
        </p:nvSpPr>
        <p:spPr>
          <a:xfrm>
            <a:off x="6784848" y="914400"/>
            <a:ext cx="2048256" cy="420624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439" name="Google Shape;43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4576" y="10058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8"/>
          <p:cNvSpPr/>
          <p:nvPr/>
        </p:nvSpPr>
        <p:spPr>
          <a:xfrm>
            <a:off x="7187184" y="914400"/>
            <a:ext cx="15727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500"/>
              <a:buFont typeface="DM Sans"/>
              <a:buNone/>
            </a:pPr>
            <a:r>
              <a:rPr b="0" i="0" lang="en-US" sz="15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Sprint 2 →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1" name="Google Shape;441;p8"/>
          <p:cNvSpPr/>
          <p:nvPr/>
        </p:nvSpPr>
        <p:spPr>
          <a:xfrm>
            <a:off x="6894576" y="1444752"/>
            <a:ext cx="1828800" cy="457200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2" name="Google Shape;442;p8"/>
          <p:cNvSpPr/>
          <p:nvPr/>
        </p:nvSpPr>
        <p:spPr>
          <a:xfrm>
            <a:off x="6894576" y="1444752"/>
            <a:ext cx="36576" cy="457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8"/>
          <p:cNvSpPr/>
          <p:nvPr/>
        </p:nvSpPr>
        <p:spPr>
          <a:xfrm>
            <a:off x="6986016" y="144475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5 Microsserviços Spring Boot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4" name="Google Shape;444;p8"/>
          <p:cNvSpPr/>
          <p:nvPr/>
        </p:nvSpPr>
        <p:spPr>
          <a:xfrm>
            <a:off x="6894576" y="1993392"/>
            <a:ext cx="1828800" cy="457200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5" name="Google Shape;445;p8"/>
          <p:cNvSpPr/>
          <p:nvPr/>
        </p:nvSpPr>
        <p:spPr>
          <a:xfrm>
            <a:off x="6894576" y="1993392"/>
            <a:ext cx="36576" cy="457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6" name="Google Shape;446;p8"/>
          <p:cNvSpPr/>
          <p:nvPr/>
        </p:nvSpPr>
        <p:spPr>
          <a:xfrm>
            <a:off x="6986016" y="199339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PostgreSQL + MongoDB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7" name="Google Shape;447;p8"/>
          <p:cNvSpPr/>
          <p:nvPr/>
        </p:nvSpPr>
        <p:spPr>
          <a:xfrm>
            <a:off x="6894576" y="2542032"/>
            <a:ext cx="1828800" cy="457200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8" name="Google Shape;448;p8"/>
          <p:cNvSpPr/>
          <p:nvPr/>
        </p:nvSpPr>
        <p:spPr>
          <a:xfrm>
            <a:off x="6894576" y="2542032"/>
            <a:ext cx="36576" cy="457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9" name="Google Shape;449;p8"/>
          <p:cNvSpPr/>
          <p:nvPr/>
        </p:nvSpPr>
        <p:spPr>
          <a:xfrm>
            <a:off x="6986016" y="254203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Spring Security + JWT real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0" name="Google Shape;450;p8"/>
          <p:cNvSpPr/>
          <p:nvPr/>
        </p:nvSpPr>
        <p:spPr>
          <a:xfrm>
            <a:off x="6894576" y="3090672"/>
            <a:ext cx="1828800" cy="457200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1" name="Google Shape;451;p8"/>
          <p:cNvSpPr/>
          <p:nvPr/>
        </p:nvSpPr>
        <p:spPr>
          <a:xfrm>
            <a:off x="6894576" y="3090672"/>
            <a:ext cx="36576" cy="457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2" name="Google Shape;452;p8"/>
          <p:cNvSpPr/>
          <p:nvPr/>
        </p:nvSpPr>
        <p:spPr>
          <a:xfrm>
            <a:off x="6986016" y="309067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Docker + AWS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3" name="Google Shape;453;p8"/>
          <p:cNvSpPr/>
          <p:nvPr/>
        </p:nvSpPr>
        <p:spPr>
          <a:xfrm>
            <a:off x="6894576" y="3639312"/>
            <a:ext cx="1828800" cy="457200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6894576" y="3639312"/>
            <a:ext cx="36576" cy="4572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5" name="Google Shape;455;p8"/>
          <p:cNvSpPr/>
          <p:nvPr/>
        </p:nvSpPr>
        <p:spPr>
          <a:xfrm>
            <a:off x="6986016" y="363931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CI/CD automatizado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DE8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9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462" name="Google Shape;4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91440"/>
            <a:ext cx="777240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9"/>
          <p:cNvSpPr/>
          <p:nvPr/>
        </p:nvSpPr>
        <p:spPr>
          <a:xfrm>
            <a:off x="1060704" y="137160"/>
            <a:ext cx="1476756" cy="201168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4" name="Google Shape;464;p9"/>
          <p:cNvSpPr/>
          <p:nvPr/>
        </p:nvSpPr>
        <p:spPr>
          <a:xfrm>
            <a:off x="1060704" y="137160"/>
            <a:ext cx="14767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850"/>
              <a:buFont typeface="DM Sans"/>
              <a:buNone/>
            </a:pPr>
            <a:r>
              <a:rPr b="1" i="0" lang="en-US" sz="85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FUNCIONALIDADES</a:t>
            </a:r>
            <a:endParaRPr b="0" i="0" sz="8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5" name="Google Shape;465;p9"/>
          <p:cNvSpPr/>
          <p:nvPr/>
        </p:nvSpPr>
        <p:spPr>
          <a:xfrm>
            <a:off x="1060704" y="135331"/>
            <a:ext cx="7863840" cy="204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2000"/>
              <a:buFont typeface="DM Sans"/>
              <a:buNone/>
            </a:pPr>
            <a:r>
              <a:rPr b="0" i="0" lang="en-US" sz="1400" u="none" cap="none" strike="noStrike">
                <a:solidFill>
                  <a:srgbClr val="EDE8D8"/>
                </a:solidFill>
                <a:latin typeface="Outfit Light"/>
                <a:ea typeface="Outfit Light"/>
                <a:cs typeface="Outfit Light"/>
                <a:sym typeface="Outfit Light"/>
              </a:rPr>
              <a:t>Funcionalidades por Perfil</a:t>
            </a:r>
            <a:endParaRPr b="0" i="0" sz="2000" u="none" cap="none" strike="noStrike">
              <a:solidFill>
                <a:srgbClr val="EDE8D8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6" name="Google Shape;466;p9"/>
          <p:cNvSpPr/>
          <p:nvPr/>
        </p:nvSpPr>
        <p:spPr>
          <a:xfrm>
            <a:off x="201168" y="566928"/>
            <a:ext cx="2816352" cy="435254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D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7" name="Google Shape;467;p9"/>
          <p:cNvSpPr/>
          <p:nvPr/>
        </p:nvSpPr>
        <p:spPr>
          <a:xfrm>
            <a:off x="201168" y="566928"/>
            <a:ext cx="2816352" cy="402336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8" name="Google Shape;468;p9"/>
          <p:cNvSpPr/>
          <p:nvPr/>
        </p:nvSpPr>
        <p:spPr>
          <a:xfrm>
            <a:off x="310896" y="566928"/>
            <a:ext cx="259689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800"/>
              <a:buFont typeface="DM Sans"/>
              <a:buNone/>
            </a:pPr>
            <a:r>
              <a:rPr b="1" i="0" lang="en-US" sz="18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OPERADOR</a:t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9" name="Google Shape;469;p9"/>
          <p:cNvSpPr/>
          <p:nvPr/>
        </p:nvSpPr>
        <p:spPr>
          <a:xfrm>
            <a:off x="310896" y="1024128"/>
            <a:ext cx="2596896" cy="69494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0" name="Google Shape;470;p9"/>
          <p:cNvSpPr/>
          <p:nvPr/>
        </p:nvSpPr>
        <p:spPr>
          <a:xfrm>
            <a:off x="310896" y="1024128"/>
            <a:ext cx="45720" cy="694944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1" name="Google Shape;471;p9"/>
          <p:cNvSpPr/>
          <p:nvPr/>
        </p:nvSpPr>
        <p:spPr>
          <a:xfrm>
            <a:off x="420624" y="1088136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Orientações Estratégicas</a:t>
            </a:r>
            <a:endParaRPr b="0" i="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2" name="Google Shape;472;p9"/>
          <p:cNvSpPr/>
          <p:nvPr/>
        </p:nvSpPr>
        <p:spPr>
          <a:xfrm>
            <a:off x="420624" y="1327169"/>
            <a:ext cx="239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Diretrizes da liderança (leitura)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3" name="Google Shape;473;p9"/>
          <p:cNvSpPr/>
          <p:nvPr/>
        </p:nvSpPr>
        <p:spPr>
          <a:xfrm>
            <a:off x="310896" y="1792224"/>
            <a:ext cx="2596896" cy="69494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4" name="Google Shape;474;p9"/>
          <p:cNvSpPr/>
          <p:nvPr/>
        </p:nvSpPr>
        <p:spPr>
          <a:xfrm>
            <a:off x="310896" y="1792224"/>
            <a:ext cx="45720" cy="694944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5" name="Google Shape;475;p9"/>
          <p:cNvSpPr/>
          <p:nvPr/>
        </p:nvSpPr>
        <p:spPr>
          <a:xfrm>
            <a:off x="420624" y="1856232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Nova Ideia</a:t>
            </a:r>
            <a:endParaRPr b="0" i="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6" name="Google Shape;476;p9"/>
          <p:cNvSpPr/>
          <p:nvPr/>
        </p:nvSpPr>
        <p:spPr>
          <a:xfrm>
            <a:off x="420624" y="2086378"/>
            <a:ext cx="239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Registro em menos de 30 segundos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7" name="Google Shape;477;p9"/>
          <p:cNvSpPr/>
          <p:nvPr/>
        </p:nvSpPr>
        <p:spPr>
          <a:xfrm>
            <a:off x="310896" y="2560320"/>
            <a:ext cx="2596896" cy="69494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8" name="Google Shape;478;p9"/>
          <p:cNvSpPr/>
          <p:nvPr/>
        </p:nvSpPr>
        <p:spPr>
          <a:xfrm>
            <a:off x="310896" y="2560320"/>
            <a:ext cx="45720" cy="694944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9" name="Google Shape;479;p9"/>
          <p:cNvSpPr/>
          <p:nvPr/>
        </p:nvSpPr>
        <p:spPr>
          <a:xfrm>
            <a:off x="420624" y="2624328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Minhas Ideias</a:t>
            </a:r>
            <a:endParaRPr b="0" i="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0" name="Google Shape;480;p9"/>
          <p:cNvSpPr/>
          <p:nvPr/>
        </p:nvSpPr>
        <p:spPr>
          <a:xfrm>
            <a:off x="420624" y="2907792"/>
            <a:ext cx="23957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Status e histórico completo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1" name="Google Shape;481;p9"/>
          <p:cNvSpPr/>
          <p:nvPr/>
        </p:nvSpPr>
        <p:spPr>
          <a:xfrm>
            <a:off x="310896" y="3328416"/>
            <a:ext cx="2596896" cy="69494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2" name="Google Shape;482;p9"/>
          <p:cNvSpPr/>
          <p:nvPr/>
        </p:nvSpPr>
        <p:spPr>
          <a:xfrm>
            <a:off x="310896" y="3328416"/>
            <a:ext cx="45720" cy="694944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3" name="Google Shape;483;p9"/>
          <p:cNvSpPr/>
          <p:nvPr/>
        </p:nvSpPr>
        <p:spPr>
          <a:xfrm>
            <a:off x="420624" y="3392424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Notificações</a:t>
            </a:r>
            <a:endParaRPr b="0" i="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4" name="Google Shape;484;p9"/>
          <p:cNvSpPr/>
          <p:nvPr/>
        </p:nvSpPr>
        <p:spPr>
          <a:xfrm>
            <a:off x="420624" y="3631457"/>
            <a:ext cx="239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Aprovação e progresso em tempo real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5" name="Google Shape;485;p9"/>
          <p:cNvSpPr/>
          <p:nvPr/>
        </p:nvSpPr>
        <p:spPr>
          <a:xfrm>
            <a:off x="310896" y="4096512"/>
            <a:ext cx="2596896" cy="69494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6" name="Google Shape;486;p9"/>
          <p:cNvSpPr/>
          <p:nvPr/>
        </p:nvSpPr>
        <p:spPr>
          <a:xfrm>
            <a:off x="310896" y="4096512"/>
            <a:ext cx="45720" cy="694944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7" name="Google Shape;487;p9"/>
          <p:cNvSpPr/>
          <p:nvPr/>
        </p:nvSpPr>
        <p:spPr>
          <a:xfrm>
            <a:off x="420624" y="4160520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Perfil &amp; Gamificação</a:t>
            </a:r>
            <a:endParaRPr b="0" i="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8" name="Google Shape;488;p9"/>
          <p:cNvSpPr/>
          <p:nvPr/>
        </p:nvSpPr>
        <p:spPr>
          <a:xfrm>
            <a:off x="420625" y="4390657"/>
            <a:ext cx="24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Pontos, badges e conquistas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9" name="Google Shape;489;p9"/>
          <p:cNvSpPr/>
          <p:nvPr/>
        </p:nvSpPr>
        <p:spPr>
          <a:xfrm>
            <a:off x="3182112" y="566928"/>
            <a:ext cx="2816352" cy="435254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D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0" name="Google Shape;490;p9"/>
          <p:cNvSpPr/>
          <p:nvPr/>
        </p:nvSpPr>
        <p:spPr>
          <a:xfrm>
            <a:off x="3182112" y="566928"/>
            <a:ext cx="2816352" cy="402336"/>
          </a:xfrm>
          <a:prstGeom prst="rect">
            <a:avLst/>
          </a:prstGeom>
          <a:solidFill>
            <a:srgbClr val="2A38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1" name="Google Shape;491;p9"/>
          <p:cNvSpPr/>
          <p:nvPr/>
        </p:nvSpPr>
        <p:spPr>
          <a:xfrm>
            <a:off x="3291840" y="566928"/>
            <a:ext cx="259689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800"/>
              <a:buFont typeface="DM Sans"/>
              <a:buNone/>
            </a:pPr>
            <a:r>
              <a:rPr b="1" i="0" lang="en-US" sz="18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GESTOR</a:t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2" name="Google Shape;492;p9"/>
          <p:cNvSpPr/>
          <p:nvPr/>
        </p:nvSpPr>
        <p:spPr>
          <a:xfrm>
            <a:off x="3291840" y="1024128"/>
            <a:ext cx="2596896" cy="69494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3" name="Google Shape;493;p9"/>
          <p:cNvSpPr/>
          <p:nvPr/>
        </p:nvSpPr>
        <p:spPr>
          <a:xfrm>
            <a:off x="3291840" y="1024128"/>
            <a:ext cx="45720" cy="694944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4" name="Google Shape;494;p9"/>
          <p:cNvSpPr/>
          <p:nvPr/>
        </p:nvSpPr>
        <p:spPr>
          <a:xfrm>
            <a:off x="3401568" y="1088136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Fila Priorizada</a:t>
            </a:r>
            <a:endParaRPr b="0" i="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5" name="Google Shape;495;p9"/>
          <p:cNvSpPr/>
          <p:nvPr/>
        </p:nvSpPr>
        <p:spPr>
          <a:xfrm>
            <a:off x="3401568" y="1327169"/>
            <a:ext cx="239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Ordenada por score de viabilidade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6" name="Google Shape;496;p9"/>
          <p:cNvSpPr/>
          <p:nvPr/>
        </p:nvSpPr>
        <p:spPr>
          <a:xfrm>
            <a:off x="3291840" y="1792224"/>
            <a:ext cx="2596896" cy="69494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7" name="Google Shape;497;p9"/>
          <p:cNvSpPr/>
          <p:nvPr/>
        </p:nvSpPr>
        <p:spPr>
          <a:xfrm>
            <a:off x="3291840" y="1792224"/>
            <a:ext cx="45720" cy="694944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8" name="Google Shape;498;p9"/>
          <p:cNvSpPr/>
          <p:nvPr/>
        </p:nvSpPr>
        <p:spPr>
          <a:xfrm>
            <a:off x="3401568" y="1856232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Analisar &amp; Aprovar</a:t>
            </a:r>
            <a:endParaRPr b="0" i="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9" name="Google Shape;499;p9"/>
          <p:cNvSpPr/>
          <p:nvPr/>
        </p:nvSpPr>
        <p:spPr>
          <a:xfrm>
            <a:off x="3401568" y="2086378"/>
            <a:ext cx="239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Feedback fundamentado + ROI estimado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0" name="Google Shape;500;p9"/>
          <p:cNvSpPr/>
          <p:nvPr/>
        </p:nvSpPr>
        <p:spPr>
          <a:xfrm>
            <a:off x="3291840" y="2560320"/>
            <a:ext cx="2596896" cy="69494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1" name="Google Shape;501;p9"/>
          <p:cNvSpPr/>
          <p:nvPr/>
        </p:nvSpPr>
        <p:spPr>
          <a:xfrm>
            <a:off x="3291840" y="2560320"/>
            <a:ext cx="45720" cy="694944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2" name="Google Shape;502;p9"/>
          <p:cNvSpPr/>
          <p:nvPr/>
        </p:nvSpPr>
        <p:spPr>
          <a:xfrm>
            <a:off x="3401568" y="2624328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Gestão de Projetos</a:t>
            </a:r>
            <a:endParaRPr b="0" i="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3" name="Google Shape;503;p9"/>
          <p:cNvSpPr/>
          <p:nvPr/>
        </p:nvSpPr>
        <p:spPr>
          <a:xfrm>
            <a:off x="3401568" y="2907792"/>
            <a:ext cx="23957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Criar · editar · excluir + marcos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4" name="Google Shape;504;p9"/>
          <p:cNvSpPr/>
          <p:nvPr/>
        </p:nvSpPr>
        <p:spPr>
          <a:xfrm>
            <a:off x="3291840" y="3328416"/>
            <a:ext cx="2596896" cy="69494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5" name="Google Shape;505;p9"/>
          <p:cNvSpPr/>
          <p:nvPr/>
        </p:nvSpPr>
        <p:spPr>
          <a:xfrm>
            <a:off x="3291840" y="3328416"/>
            <a:ext cx="45720" cy="694944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6" name="Google Shape;506;p9"/>
          <p:cNvSpPr/>
          <p:nvPr/>
        </p:nvSpPr>
        <p:spPr>
          <a:xfrm>
            <a:off x="3401568" y="3392424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Atualizar ROI</a:t>
            </a:r>
            <a:endParaRPr b="0" i="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7" name="Google Shape;507;p9"/>
          <p:cNvSpPr/>
          <p:nvPr/>
        </p:nvSpPr>
        <p:spPr>
          <a:xfrm>
            <a:off x="3401568" y="3631457"/>
            <a:ext cx="239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Retorno financeiro em tempo real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8" name="Google Shape;508;p9"/>
          <p:cNvSpPr/>
          <p:nvPr/>
        </p:nvSpPr>
        <p:spPr>
          <a:xfrm>
            <a:off x="3291840" y="4096512"/>
            <a:ext cx="2596896" cy="69494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9" name="Google Shape;509;p9"/>
          <p:cNvSpPr/>
          <p:nvPr/>
        </p:nvSpPr>
        <p:spPr>
          <a:xfrm>
            <a:off x="3291840" y="4096512"/>
            <a:ext cx="45720" cy="694944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0" name="Google Shape;510;p9"/>
          <p:cNvSpPr/>
          <p:nvPr/>
        </p:nvSpPr>
        <p:spPr>
          <a:xfrm>
            <a:off x="3401568" y="4160520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Orientações</a:t>
            </a:r>
            <a:endParaRPr b="0" i="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1" name="Google Shape;511;p9"/>
          <p:cNvSpPr/>
          <p:nvPr/>
        </p:nvSpPr>
        <p:spPr>
          <a:xfrm>
            <a:off x="3434181" y="4390657"/>
            <a:ext cx="24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Diretrizes da liderança (leitura)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2" name="Google Shape;512;p9"/>
          <p:cNvSpPr/>
          <p:nvPr/>
        </p:nvSpPr>
        <p:spPr>
          <a:xfrm>
            <a:off x="6163056" y="566928"/>
            <a:ext cx="2816352" cy="435254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D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3" name="Google Shape;513;p9"/>
          <p:cNvSpPr/>
          <p:nvPr/>
        </p:nvSpPr>
        <p:spPr>
          <a:xfrm>
            <a:off x="6163056" y="566928"/>
            <a:ext cx="2816352" cy="402336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4" name="Google Shape;514;p9"/>
          <p:cNvSpPr/>
          <p:nvPr/>
        </p:nvSpPr>
        <p:spPr>
          <a:xfrm>
            <a:off x="6272784" y="566928"/>
            <a:ext cx="259689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800"/>
              <a:buFont typeface="DM Sans"/>
              <a:buNone/>
            </a:pPr>
            <a:r>
              <a:rPr b="1" i="0" lang="en-US" sz="18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LIDERANÇA</a:t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5" name="Google Shape;515;p9"/>
          <p:cNvSpPr/>
          <p:nvPr/>
        </p:nvSpPr>
        <p:spPr>
          <a:xfrm>
            <a:off x="6272784" y="1024128"/>
            <a:ext cx="2596896" cy="69494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6" name="Google Shape;516;p9"/>
          <p:cNvSpPr/>
          <p:nvPr/>
        </p:nvSpPr>
        <p:spPr>
          <a:xfrm>
            <a:off x="6272784" y="1024128"/>
            <a:ext cx="45720" cy="694944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7" name="Google Shape;517;p9"/>
          <p:cNvSpPr/>
          <p:nvPr/>
        </p:nvSpPr>
        <p:spPr>
          <a:xfrm>
            <a:off x="6382512" y="1088136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Dashboard Estratégico</a:t>
            </a:r>
            <a:endParaRPr b="0" i="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8" name="Google Shape;518;p9"/>
          <p:cNvSpPr/>
          <p:nvPr/>
        </p:nvSpPr>
        <p:spPr>
          <a:xfrm>
            <a:off x="6382512" y="1327169"/>
            <a:ext cx="239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ROI, funil e métricas em tempo real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9" name="Google Shape;519;p9"/>
          <p:cNvSpPr/>
          <p:nvPr/>
        </p:nvSpPr>
        <p:spPr>
          <a:xfrm>
            <a:off x="6272784" y="1792224"/>
            <a:ext cx="2596896" cy="69494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0" name="Google Shape;520;p9"/>
          <p:cNvSpPr/>
          <p:nvPr/>
        </p:nvSpPr>
        <p:spPr>
          <a:xfrm>
            <a:off x="6272784" y="1792224"/>
            <a:ext cx="45720" cy="694944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1" name="Google Shape;521;p9"/>
          <p:cNvSpPr/>
          <p:nvPr/>
        </p:nvSpPr>
        <p:spPr>
          <a:xfrm>
            <a:off x="6382512" y="1856232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Analytics &amp; Tendências</a:t>
            </a:r>
            <a:endParaRPr b="0" i="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2" name="Google Shape;522;p9"/>
          <p:cNvSpPr/>
          <p:nvPr/>
        </p:nvSpPr>
        <p:spPr>
          <a:xfrm>
            <a:off x="6382512" y="2086378"/>
            <a:ext cx="239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IA, gráficos e insights por categoria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3" name="Google Shape;523;p9"/>
          <p:cNvSpPr/>
          <p:nvPr/>
        </p:nvSpPr>
        <p:spPr>
          <a:xfrm>
            <a:off x="6272784" y="2560320"/>
            <a:ext cx="2596896" cy="69494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4" name="Google Shape;524;p9"/>
          <p:cNvSpPr/>
          <p:nvPr/>
        </p:nvSpPr>
        <p:spPr>
          <a:xfrm>
            <a:off x="6272784" y="2560320"/>
            <a:ext cx="45720" cy="694944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5" name="Google Shape;525;p9"/>
          <p:cNvSpPr/>
          <p:nvPr/>
        </p:nvSpPr>
        <p:spPr>
          <a:xfrm>
            <a:off x="6382512" y="2624328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Orientações (CRUD)</a:t>
            </a:r>
            <a:endParaRPr b="0" i="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6" name="Google Shape;526;p9"/>
          <p:cNvSpPr/>
          <p:nvPr/>
        </p:nvSpPr>
        <p:spPr>
          <a:xfrm>
            <a:off x="6382512" y="2907792"/>
            <a:ext cx="23957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Criar e gerir diretrizes para o time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7" name="Google Shape;527;p9"/>
          <p:cNvSpPr/>
          <p:nvPr/>
        </p:nvSpPr>
        <p:spPr>
          <a:xfrm>
            <a:off x="6272784" y="3328416"/>
            <a:ext cx="2596896" cy="69494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8" name="Google Shape;528;p9"/>
          <p:cNvSpPr/>
          <p:nvPr/>
        </p:nvSpPr>
        <p:spPr>
          <a:xfrm>
            <a:off x="6272784" y="3328416"/>
            <a:ext cx="45720" cy="694944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9" name="Google Shape;529;p9"/>
          <p:cNvSpPr/>
          <p:nvPr/>
        </p:nvSpPr>
        <p:spPr>
          <a:xfrm>
            <a:off x="6382512" y="3392424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Portfólio de Projetos</a:t>
            </a:r>
            <a:endParaRPr b="0" i="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0" name="Google Shape;530;p9"/>
          <p:cNvSpPr/>
          <p:nvPr/>
        </p:nvSpPr>
        <p:spPr>
          <a:xfrm>
            <a:off x="6382512" y="3631457"/>
            <a:ext cx="239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Etapa, prazo, investimento e ROI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1" name="Google Shape;531;p9"/>
          <p:cNvSpPr/>
          <p:nvPr/>
        </p:nvSpPr>
        <p:spPr>
          <a:xfrm>
            <a:off x="6272784" y="4096512"/>
            <a:ext cx="2596896" cy="694944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2" name="Google Shape;532;p9"/>
          <p:cNvSpPr/>
          <p:nvPr/>
        </p:nvSpPr>
        <p:spPr>
          <a:xfrm>
            <a:off x="6272784" y="4096512"/>
            <a:ext cx="45720" cy="694944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3" name="Google Shape;533;p9"/>
          <p:cNvSpPr/>
          <p:nvPr/>
        </p:nvSpPr>
        <p:spPr>
          <a:xfrm>
            <a:off x="6382512" y="4160520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Export PDF</a:t>
            </a:r>
            <a:endParaRPr b="0" i="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4" name="Google Shape;534;p9"/>
          <p:cNvSpPr/>
          <p:nvPr/>
        </p:nvSpPr>
        <p:spPr>
          <a:xfrm>
            <a:off x="6447737" y="4390657"/>
            <a:ext cx="242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Relatório para o board via FileProvider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DE8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38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541" name="Google Shape;5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91440"/>
            <a:ext cx="777240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10"/>
          <p:cNvSpPr/>
          <p:nvPr/>
        </p:nvSpPr>
        <p:spPr>
          <a:xfrm>
            <a:off x="1060704" y="137160"/>
            <a:ext cx="1136599" cy="201168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3" name="Google Shape;543;p10"/>
          <p:cNvSpPr/>
          <p:nvPr/>
        </p:nvSpPr>
        <p:spPr>
          <a:xfrm>
            <a:off x="1060704" y="137160"/>
            <a:ext cx="113659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850"/>
              <a:buFont typeface="DM Sans"/>
              <a:buNone/>
            </a:pPr>
            <a:r>
              <a:rPr b="1" i="0" lang="en-US" sz="85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GAMIFICAÇÃO</a:t>
            </a:r>
            <a:endParaRPr b="0" i="0" sz="8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4" name="Google Shape;544;p10"/>
          <p:cNvSpPr/>
          <p:nvPr/>
        </p:nvSpPr>
        <p:spPr>
          <a:xfrm>
            <a:off x="1060704" y="135331"/>
            <a:ext cx="7863840" cy="204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2000"/>
              <a:buFont typeface="DM Sans"/>
              <a:buNone/>
            </a:pPr>
            <a:r>
              <a:rPr b="0" i="0" lang="en-US" sz="1600" u="none" cap="none" strike="noStrike">
                <a:solidFill>
                  <a:srgbClr val="C87D0E"/>
                </a:solidFill>
                <a:latin typeface="Outfit Light"/>
                <a:ea typeface="Outfit Light"/>
                <a:cs typeface="Outfit Light"/>
                <a:sym typeface="Outfit Light"/>
              </a:rPr>
              <a:t>Engajamento por Gamificação</a:t>
            </a:r>
            <a:endParaRPr b="0" i="0" sz="22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10"/>
          <p:cNvSpPr/>
          <p:nvPr/>
        </p:nvSpPr>
        <p:spPr>
          <a:xfrm>
            <a:off x="201175" y="848138"/>
            <a:ext cx="1874400" cy="3623100"/>
          </a:xfrm>
          <a:prstGeom prst="rect">
            <a:avLst/>
          </a:prstGeom>
          <a:solidFill>
            <a:srgbClr val="0E1828"/>
          </a:solidFill>
          <a:ln cap="flat" cmpd="sng" w="9525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546" name="Google Shape;54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607" y="965019"/>
            <a:ext cx="1687724" cy="3311307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0"/>
          <p:cNvSpPr/>
          <p:nvPr/>
        </p:nvSpPr>
        <p:spPr>
          <a:xfrm>
            <a:off x="2176278" y="848138"/>
            <a:ext cx="1874400" cy="3623100"/>
          </a:xfrm>
          <a:prstGeom prst="rect">
            <a:avLst/>
          </a:prstGeom>
          <a:solidFill>
            <a:srgbClr val="0E1828"/>
          </a:solidFill>
          <a:ln cap="flat" cmpd="sng" w="9525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548" name="Google Shape;54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67718" y="965008"/>
            <a:ext cx="1687719" cy="3311317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10"/>
          <p:cNvSpPr/>
          <p:nvPr/>
        </p:nvSpPr>
        <p:spPr>
          <a:xfrm>
            <a:off x="4152926" y="848138"/>
            <a:ext cx="1170300" cy="362310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0" name="Google Shape;550;p10"/>
          <p:cNvSpPr/>
          <p:nvPr/>
        </p:nvSpPr>
        <p:spPr>
          <a:xfrm>
            <a:off x="4152926" y="848138"/>
            <a:ext cx="1170300" cy="4089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551" name="Google Shape;55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44366" y="906573"/>
            <a:ext cx="219456" cy="23374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10"/>
          <p:cNvSpPr/>
          <p:nvPr/>
        </p:nvSpPr>
        <p:spPr>
          <a:xfrm>
            <a:off x="4505361" y="848125"/>
            <a:ext cx="7671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000"/>
              <a:buFont typeface="DM Sans"/>
              <a:buNone/>
            </a:pPr>
            <a:r>
              <a:rPr b="0" i="0" lang="en-US" sz="11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Primeira Ideia</a:t>
            </a:r>
            <a:endParaRPr b="0" i="0" sz="1100" u="none" cap="none" strike="noStrike"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3" name="Google Shape;553;p10"/>
          <p:cNvSpPr/>
          <p:nvPr/>
        </p:nvSpPr>
        <p:spPr>
          <a:xfrm>
            <a:off x="4207790" y="1354575"/>
            <a:ext cx="1060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2800"/>
              <a:buFont typeface="DM Sans"/>
              <a:buNone/>
            </a:pPr>
            <a:r>
              <a:rPr b="1" i="1" lang="en-US" sz="2800" u="none" cap="none" strike="noStrike">
                <a:solidFill>
                  <a:srgbClr val="C87D0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+10</a:t>
            </a:r>
            <a:endParaRPr b="0" i="0" sz="28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10"/>
          <p:cNvSpPr/>
          <p:nvPr/>
        </p:nvSpPr>
        <p:spPr>
          <a:xfrm>
            <a:off x="4226078" y="1880490"/>
            <a:ext cx="1024200" cy="25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Primeira contribuição registrada no app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5" name="Google Shape;555;p10"/>
          <p:cNvSpPr/>
          <p:nvPr/>
        </p:nvSpPr>
        <p:spPr>
          <a:xfrm>
            <a:off x="5396509" y="848138"/>
            <a:ext cx="1170300" cy="362310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6" name="Google Shape;556;p10"/>
          <p:cNvSpPr/>
          <p:nvPr/>
        </p:nvSpPr>
        <p:spPr>
          <a:xfrm>
            <a:off x="5396509" y="848138"/>
            <a:ext cx="1170300" cy="4089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557" name="Google Shape;557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87949" y="906573"/>
            <a:ext cx="219456" cy="23374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10"/>
          <p:cNvSpPr/>
          <p:nvPr/>
        </p:nvSpPr>
        <p:spPr>
          <a:xfrm>
            <a:off x="5747567" y="848125"/>
            <a:ext cx="7671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000"/>
              <a:buFont typeface="DM Sans"/>
              <a:buNone/>
            </a:pPr>
            <a:r>
              <a:rPr b="0" i="0" lang="en-US" sz="11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5 Ideias</a:t>
            </a:r>
            <a:endParaRPr b="0" i="0" sz="1100" u="none" cap="none" strike="noStrike"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9" name="Google Shape;559;p10"/>
          <p:cNvSpPr/>
          <p:nvPr/>
        </p:nvSpPr>
        <p:spPr>
          <a:xfrm>
            <a:off x="5451373" y="1354575"/>
            <a:ext cx="1060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2800"/>
              <a:buFont typeface="DM Sans"/>
              <a:buNone/>
            </a:pPr>
            <a:r>
              <a:rPr b="1" i="1" lang="en-US" sz="2800" u="none" cap="none" strike="noStrike">
                <a:solidFill>
                  <a:srgbClr val="C87D0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+50</a:t>
            </a:r>
            <a:endParaRPr b="0" i="0" sz="28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60" name="Google Shape;560;p10"/>
          <p:cNvSpPr/>
          <p:nvPr/>
        </p:nvSpPr>
        <p:spPr>
          <a:xfrm>
            <a:off x="5469661" y="1880490"/>
            <a:ext cx="1024200" cy="25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Inovador Bronze — engajamento contínuo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1" name="Google Shape;561;p10"/>
          <p:cNvSpPr/>
          <p:nvPr/>
        </p:nvSpPr>
        <p:spPr>
          <a:xfrm>
            <a:off x="6640093" y="848138"/>
            <a:ext cx="1170300" cy="362310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2" name="Google Shape;562;p10"/>
          <p:cNvSpPr/>
          <p:nvPr/>
        </p:nvSpPr>
        <p:spPr>
          <a:xfrm>
            <a:off x="6640093" y="848138"/>
            <a:ext cx="1170300" cy="4089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563" name="Google Shape;563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31533" y="906573"/>
            <a:ext cx="219456" cy="23374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10"/>
          <p:cNvSpPr/>
          <p:nvPr/>
        </p:nvSpPr>
        <p:spPr>
          <a:xfrm>
            <a:off x="6939028" y="848125"/>
            <a:ext cx="8178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000"/>
              <a:buFont typeface="DM Sans"/>
              <a:buNone/>
            </a:pPr>
            <a:r>
              <a:rPr b="0" i="0" lang="en-US" sz="11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Ideia Aprovada</a:t>
            </a:r>
            <a:endParaRPr b="0" i="0" sz="1100" u="none" cap="none" strike="noStrike"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5" name="Google Shape;565;p10"/>
          <p:cNvSpPr/>
          <p:nvPr/>
        </p:nvSpPr>
        <p:spPr>
          <a:xfrm>
            <a:off x="6694957" y="1354575"/>
            <a:ext cx="1060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2800"/>
              <a:buFont typeface="DM Sans"/>
              <a:buNone/>
            </a:pPr>
            <a:r>
              <a:rPr b="1" i="1" lang="en-US" sz="2800" u="none" cap="none" strike="noStrike">
                <a:solidFill>
                  <a:srgbClr val="C87D0E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+30</a:t>
            </a:r>
            <a:endParaRPr b="0" i="0" sz="28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66" name="Google Shape;566;p10"/>
          <p:cNvSpPr/>
          <p:nvPr/>
        </p:nvSpPr>
        <p:spPr>
          <a:xfrm>
            <a:off x="6713245" y="1880490"/>
            <a:ext cx="1024200" cy="25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Gestor aprovou com score elevado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7" name="Google Shape;567;p10"/>
          <p:cNvSpPr/>
          <p:nvPr/>
        </p:nvSpPr>
        <p:spPr>
          <a:xfrm>
            <a:off x="7883676" y="848138"/>
            <a:ext cx="1170300" cy="362310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8" name="Google Shape;568;p10"/>
          <p:cNvSpPr/>
          <p:nvPr/>
        </p:nvSpPr>
        <p:spPr>
          <a:xfrm>
            <a:off x="7883676" y="848138"/>
            <a:ext cx="1170300" cy="4089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569" name="Google Shape;569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75116" y="906573"/>
            <a:ext cx="219456" cy="23374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10"/>
          <p:cNvSpPr/>
          <p:nvPr/>
        </p:nvSpPr>
        <p:spPr>
          <a:xfrm>
            <a:off x="8231979" y="848125"/>
            <a:ext cx="7671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000"/>
              <a:buFont typeface="DM Sans"/>
              <a:buNone/>
            </a:pPr>
            <a:r>
              <a:rPr b="0" i="0" lang="en-US" sz="11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High Score</a:t>
            </a:r>
            <a:endParaRPr b="0" i="0" sz="1100" u="none" cap="none" strike="noStrike">
              <a:solidFill>
                <a:srgbClr val="1A254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1" name="Google Shape;571;p10"/>
          <p:cNvSpPr/>
          <p:nvPr/>
        </p:nvSpPr>
        <p:spPr>
          <a:xfrm>
            <a:off x="7938540" y="1354575"/>
            <a:ext cx="1060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2800"/>
              <a:buFont typeface="DM Sans"/>
              <a:buNone/>
            </a:pPr>
            <a:r>
              <a:rPr b="0" i="0" lang="en-US" sz="2800" u="none" cap="none" strike="noStrike">
                <a:solidFill>
                  <a:srgbClr val="C87D0E"/>
                </a:solidFill>
                <a:latin typeface="Outfit Light"/>
                <a:ea typeface="Outfit Light"/>
                <a:cs typeface="Outfit Light"/>
                <a:sym typeface="Outfit Light"/>
              </a:rPr>
              <a:t>⭐</a:t>
            </a:r>
            <a:endParaRPr b="0" i="0" sz="28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72" name="Google Shape;572;p10"/>
          <p:cNvSpPr/>
          <p:nvPr/>
        </p:nvSpPr>
        <p:spPr>
          <a:xfrm>
            <a:off x="7956828" y="1880490"/>
            <a:ext cx="1024200" cy="25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Viabilidade acima de 85 pontos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DE8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579" name="Google Shape;5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91440"/>
            <a:ext cx="777240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11"/>
          <p:cNvSpPr/>
          <p:nvPr/>
        </p:nvSpPr>
        <p:spPr>
          <a:xfrm>
            <a:off x="1060704" y="137160"/>
            <a:ext cx="966521" cy="201168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1" name="Google Shape;581;p11"/>
          <p:cNvSpPr/>
          <p:nvPr/>
        </p:nvSpPr>
        <p:spPr>
          <a:xfrm>
            <a:off x="1060704" y="137160"/>
            <a:ext cx="966521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850"/>
              <a:buFont typeface="DM Sans"/>
              <a:buNone/>
            </a:pPr>
            <a:r>
              <a:rPr b="1" i="0" lang="en-US" sz="85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DASHBOARD</a:t>
            </a:r>
            <a:endParaRPr b="0" i="0" sz="8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2" name="Google Shape;582;p11"/>
          <p:cNvSpPr/>
          <p:nvPr/>
        </p:nvSpPr>
        <p:spPr>
          <a:xfrm>
            <a:off x="1060700" y="135325"/>
            <a:ext cx="77541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2000"/>
              <a:buFont typeface="DM Sans"/>
              <a:buNone/>
            </a:pPr>
            <a:r>
              <a:rPr b="0" i="0" lang="en-US" sz="1600" u="none" cap="none" strike="noStrike">
                <a:solidFill>
                  <a:srgbClr val="EDE8D8"/>
                </a:solidFill>
                <a:latin typeface="Outfit Light"/>
                <a:ea typeface="Outfit Light"/>
                <a:cs typeface="Outfit Light"/>
                <a:sym typeface="Outfit Light"/>
              </a:rPr>
              <a:t>Dashboard Executivo — Liderança</a:t>
            </a:r>
            <a:endParaRPr b="0" i="0" sz="1600" u="none" cap="none" strike="noStrike">
              <a:solidFill>
                <a:srgbClr val="EDE8D8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83" name="Google Shape;583;p11"/>
          <p:cNvSpPr/>
          <p:nvPr/>
        </p:nvSpPr>
        <p:spPr>
          <a:xfrm>
            <a:off x="201168" y="566928"/>
            <a:ext cx="2395728" cy="4352544"/>
          </a:xfrm>
          <a:prstGeom prst="rect">
            <a:avLst/>
          </a:prstGeom>
          <a:solidFill>
            <a:srgbClr val="0E1828"/>
          </a:solidFill>
          <a:ln cap="flat" cmpd="sng" w="9525">
            <a:solidFill>
              <a:srgbClr val="33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584" name="Google Shape;58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" y="676656"/>
            <a:ext cx="1918933" cy="4133087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11"/>
          <p:cNvSpPr/>
          <p:nvPr/>
        </p:nvSpPr>
        <p:spPr>
          <a:xfrm>
            <a:off x="2743200" y="566925"/>
            <a:ext cx="6071700" cy="138990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6" name="Google Shape;586;p11"/>
          <p:cNvSpPr/>
          <p:nvPr/>
        </p:nvSpPr>
        <p:spPr>
          <a:xfrm>
            <a:off x="2834640" y="621792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5200"/>
              <a:buFont typeface="DM Sans"/>
              <a:buNone/>
            </a:pPr>
            <a:r>
              <a:rPr b="1" i="1" lang="en-US" sz="5200" u="none" cap="none" strike="noStrike">
                <a:solidFill>
                  <a:srgbClr val="C87D0E"/>
                </a:solidFill>
                <a:latin typeface="Outfit"/>
                <a:ea typeface="Outfit"/>
                <a:cs typeface="Outfit"/>
                <a:sym typeface="Outfit"/>
              </a:rPr>
              <a:t>R$ 5,5M</a:t>
            </a:r>
            <a:endParaRPr i="0" sz="52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87" name="Google Shape;587;p11"/>
          <p:cNvSpPr/>
          <p:nvPr/>
        </p:nvSpPr>
        <p:spPr>
          <a:xfrm>
            <a:off x="2834640" y="1409078"/>
            <a:ext cx="3200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ROI Acumulado</a:t>
            </a:r>
            <a:endParaRPr b="0" i="0" sz="1600" u="none" cap="none" strike="noStrike">
              <a:solidFill>
                <a:srgbClr val="EDE8D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8" name="Google Shape;588;p11"/>
          <p:cNvSpPr/>
          <p:nvPr/>
        </p:nvSpPr>
        <p:spPr>
          <a:xfrm>
            <a:off x="6400800" y="1409078"/>
            <a:ext cx="155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+100% vs. plano</a:t>
            </a:r>
            <a:endParaRPr b="0" i="0" sz="1400" u="none" cap="none" strike="noStrike">
              <a:solidFill>
                <a:srgbClr val="EDE8D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9" name="Google Shape;589;p11"/>
          <p:cNvSpPr/>
          <p:nvPr/>
        </p:nvSpPr>
        <p:spPr>
          <a:xfrm>
            <a:off x="2743200" y="2103120"/>
            <a:ext cx="2926080" cy="82296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D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0" name="Google Shape;590;p11"/>
          <p:cNvSpPr/>
          <p:nvPr/>
        </p:nvSpPr>
        <p:spPr>
          <a:xfrm>
            <a:off x="2743200" y="2103120"/>
            <a:ext cx="50292" cy="822960"/>
          </a:xfrm>
          <a:prstGeom prst="rect">
            <a:avLst/>
          </a:prstGeom>
          <a:solidFill>
            <a:srgbClr val="C87D0E"/>
          </a:solidFill>
          <a:ln cap="flat" cmpd="sng" w="12700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591" name="Google Shape;59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1216" y="226771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11"/>
          <p:cNvSpPr/>
          <p:nvPr/>
        </p:nvSpPr>
        <p:spPr>
          <a:xfrm>
            <a:off x="3182112" y="2157984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ROI Mensal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3" name="Google Shape;593;p11"/>
          <p:cNvSpPr/>
          <p:nvPr/>
        </p:nvSpPr>
        <p:spPr>
          <a:xfrm>
            <a:off x="3182112" y="2432304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Jan→Mai: R$0 → R$1,8M → R$2,5M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4" name="Google Shape;594;p11"/>
          <p:cNvSpPr/>
          <p:nvPr/>
        </p:nvSpPr>
        <p:spPr>
          <a:xfrm>
            <a:off x="5888736" y="2103120"/>
            <a:ext cx="2926080" cy="82296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D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5" name="Google Shape;595;p11"/>
          <p:cNvSpPr/>
          <p:nvPr/>
        </p:nvSpPr>
        <p:spPr>
          <a:xfrm>
            <a:off x="5888736" y="2103120"/>
            <a:ext cx="50292" cy="822960"/>
          </a:xfrm>
          <a:prstGeom prst="rect">
            <a:avLst/>
          </a:prstGeom>
          <a:solidFill>
            <a:srgbClr val="C87D0E"/>
          </a:solidFill>
          <a:ln cap="flat" cmpd="sng" w="12700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596" name="Google Shape;59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16752" y="226771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11"/>
          <p:cNvSpPr/>
          <p:nvPr/>
        </p:nvSpPr>
        <p:spPr>
          <a:xfrm>
            <a:off x="6327648" y="2157984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Funil Completo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8" name="Google Shape;598;p11"/>
          <p:cNvSpPr/>
          <p:nvPr/>
        </p:nvSpPr>
        <p:spPr>
          <a:xfrm>
            <a:off x="6327648" y="2432304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Submetidas → Aprovadas → Projeto → Concluídas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9" name="Google Shape;599;p11"/>
          <p:cNvSpPr/>
          <p:nvPr/>
        </p:nvSpPr>
        <p:spPr>
          <a:xfrm>
            <a:off x="2743200" y="3035808"/>
            <a:ext cx="2926080" cy="82296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D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0" name="Google Shape;600;p11"/>
          <p:cNvSpPr/>
          <p:nvPr/>
        </p:nvSpPr>
        <p:spPr>
          <a:xfrm>
            <a:off x="2743200" y="3035808"/>
            <a:ext cx="50292" cy="822960"/>
          </a:xfrm>
          <a:prstGeom prst="rect">
            <a:avLst/>
          </a:prstGeom>
          <a:solidFill>
            <a:srgbClr val="C87D0E"/>
          </a:solidFill>
          <a:ln cap="flat" cmpd="sng" w="12700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601" name="Google Shape;60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71216" y="32004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11"/>
          <p:cNvSpPr/>
          <p:nvPr/>
        </p:nvSpPr>
        <p:spPr>
          <a:xfrm>
            <a:off x="3182112" y="3090672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Insights de IA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3" name="Google Shape;603;p11"/>
          <p:cNvSpPr/>
          <p:nvPr/>
        </p:nvSpPr>
        <p:spPr>
          <a:xfrm>
            <a:off x="3182112" y="3364992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Score de viabilidade · </a:t>
            </a:r>
            <a:r>
              <a:rPr lang="en-U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Priorização automática</a:t>
            </a:r>
            <a:r>
              <a:rPr b="0" i="0" lang="en-US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· Previsão de ROI</a:t>
            </a:r>
            <a:endParaRPr b="1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4" name="Google Shape;604;p11"/>
          <p:cNvSpPr/>
          <p:nvPr/>
        </p:nvSpPr>
        <p:spPr>
          <a:xfrm>
            <a:off x="5888736" y="3035808"/>
            <a:ext cx="2926080" cy="82296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D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5" name="Google Shape;605;p11"/>
          <p:cNvSpPr/>
          <p:nvPr/>
        </p:nvSpPr>
        <p:spPr>
          <a:xfrm>
            <a:off x="5888736" y="3035808"/>
            <a:ext cx="50292" cy="822960"/>
          </a:xfrm>
          <a:prstGeom prst="rect">
            <a:avLst/>
          </a:prstGeom>
          <a:solidFill>
            <a:srgbClr val="C87D0E"/>
          </a:solidFill>
          <a:ln cap="flat" cmpd="sng" w="12700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606" name="Google Shape;606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16752" y="32004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11"/>
          <p:cNvSpPr/>
          <p:nvPr/>
        </p:nvSpPr>
        <p:spPr>
          <a:xfrm>
            <a:off x="6327648" y="3090672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Tendências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8" name="Google Shape;608;p11"/>
          <p:cNvSpPr/>
          <p:nvPr/>
        </p:nvSpPr>
        <p:spPr>
          <a:xfrm>
            <a:off x="6327648" y="3364992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Tecnologia ↑20% · Processo ↑20% · Logística ↑10%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9" name="Google Shape;609;p11"/>
          <p:cNvSpPr/>
          <p:nvPr/>
        </p:nvSpPr>
        <p:spPr>
          <a:xfrm>
            <a:off x="2743200" y="3968496"/>
            <a:ext cx="2926080" cy="82296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D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0" name="Google Shape;610;p11"/>
          <p:cNvSpPr/>
          <p:nvPr/>
        </p:nvSpPr>
        <p:spPr>
          <a:xfrm>
            <a:off x="2743200" y="3968496"/>
            <a:ext cx="50292" cy="822960"/>
          </a:xfrm>
          <a:prstGeom prst="rect">
            <a:avLst/>
          </a:prstGeom>
          <a:solidFill>
            <a:srgbClr val="C87D0E"/>
          </a:solidFill>
          <a:ln cap="flat" cmpd="sng" w="12700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611" name="Google Shape;611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71216" y="41330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11"/>
          <p:cNvSpPr/>
          <p:nvPr/>
        </p:nvSpPr>
        <p:spPr>
          <a:xfrm>
            <a:off x="3182112" y="4023360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Analytics </a:t>
            </a:r>
            <a:r>
              <a:rPr lang="en-US" sz="1300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Executivo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3" name="Google Shape;613;p11"/>
          <p:cNvSpPr/>
          <p:nvPr/>
        </p:nvSpPr>
        <p:spPr>
          <a:xfrm>
            <a:off x="3182112" y="4297680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Sparkline · DonutChart · BarChart nativos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4" name="Google Shape;614;p11"/>
          <p:cNvSpPr/>
          <p:nvPr/>
        </p:nvSpPr>
        <p:spPr>
          <a:xfrm>
            <a:off x="5888736" y="3968496"/>
            <a:ext cx="2926080" cy="82296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D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5" name="Google Shape;615;p11"/>
          <p:cNvSpPr/>
          <p:nvPr/>
        </p:nvSpPr>
        <p:spPr>
          <a:xfrm>
            <a:off x="5888736" y="3968496"/>
            <a:ext cx="50292" cy="822960"/>
          </a:xfrm>
          <a:prstGeom prst="rect">
            <a:avLst/>
          </a:prstGeom>
          <a:solidFill>
            <a:srgbClr val="C87D0E"/>
          </a:solidFill>
          <a:ln cap="flat" cmpd="sng" w="12700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616" name="Google Shape;616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16752" y="41330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11"/>
          <p:cNvSpPr/>
          <p:nvPr/>
        </p:nvSpPr>
        <p:spPr>
          <a:xfrm>
            <a:off x="6327648" y="4023360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Export PDF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8" name="Google Shape;618;p11"/>
          <p:cNvSpPr/>
          <p:nvPr/>
        </p:nvSpPr>
        <p:spPr>
          <a:xfrm>
            <a:off x="6327648" y="4297680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Relatório compartilhável via FileProvider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DE8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4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4"/>
          <p:cNvSpPr/>
          <p:nvPr/>
        </p:nvSpPr>
        <p:spPr>
          <a:xfrm>
            <a:off x="1060704" y="137160"/>
            <a:ext cx="1133856" cy="201168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4"/>
          <p:cNvSpPr/>
          <p:nvPr/>
        </p:nvSpPr>
        <p:spPr>
          <a:xfrm>
            <a:off x="1060704" y="135331"/>
            <a:ext cx="1133856" cy="2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4000" lIns="128000" spcFirstLastPara="1" rIns="128000" wrap="square" tIns="64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1" i="0" lang="en-US" sz="10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ARQUITETURA</a:t>
            </a:r>
            <a:endParaRPr sz="1000"/>
          </a:p>
        </p:txBody>
      </p:sp>
      <p:sp>
        <p:nvSpPr>
          <p:cNvPr id="627" name="Google Shape;627;p14"/>
          <p:cNvSpPr/>
          <p:nvPr/>
        </p:nvSpPr>
        <p:spPr>
          <a:xfrm>
            <a:off x="1060704" y="142581"/>
            <a:ext cx="78639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000" lIns="128000" spcFirstLastPara="1" rIns="128000" wrap="square" tIns="640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Arquitetura Atual — MVP Sprint 1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28" name="Google Shape;628;p14"/>
          <p:cNvSpPr/>
          <p:nvPr/>
        </p:nvSpPr>
        <p:spPr>
          <a:xfrm>
            <a:off x="1463040" y="566928"/>
            <a:ext cx="6217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4000" lIns="128000" spcFirstLastPara="1" rIns="128000" wrap="square" tIns="64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US" sz="1500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O MVP já nasce preparado para evolução corporativa.</a:t>
            </a:r>
            <a:endParaRPr sz="1500"/>
          </a:p>
        </p:txBody>
      </p:sp>
      <p:sp>
        <p:nvSpPr>
          <p:cNvPr id="629" name="Google Shape;629;p14"/>
          <p:cNvSpPr/>
          <p:nvPr/>
        </p:nvSpPr>
        <p:spPr>
          <a:xfrm>
            <a:off x="1463040" y="896112"/>
            <a:ext cx="6217920" cy="292608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4"/>
          <p:cNvSpPr/>
          <p:nvPr/>
        </p:nvSpPr>
        <p:spPr>
          <a:xfrm>
            <a:off x="1591056" y="896112"/>
            <a:ext cx="5961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64000" lIns="128000" spcFirstLastPara="1" rIns="128000" wrap="square" tIns="64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US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📱  APRESENTAÇÃO</a:t>
            </a:r>
            <a:endParaRPr/>
          </a:p>
        </p:txBody>
      </p:sp>
      <p:sp>
        <p:nvSpPr>
          <p:cNvPr id="631" name="Google Shape;631;p14"/>
          <p:cNvSpPr/>
          <p:nvPr/>
        </p:nvSpPr>
        <p:spPr>
          <a:xfrm>
            <a:off x="1463040" y="1188720"/>
            <a:ext cx="6217920" cy="45720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C4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4"/>
          <p:cNvSpPr/>
          <p:nvPr/>
        </p:nvSpPr>
        <p:spPr>
          <a:xfrm>
            <a:off x="1627632" y="1301605"/>
            <a:ext cx="588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000" lIns="128000" spcFirstLastPara="1" rIns="128000" wrap="square" tIns="64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Android MVVM · perfis por role · i18n trilíngue</a:t>
            </a:r>
            <a:endParaRPr/>
          </a:p>
        </p:txBody>
      </p:sp>
      <p:sp>
        <p:nvSpPr>
          <p:cNvPr id="633" name="Google Shape;633;p14"/>
          <p:cNvSpPr/>
          <p:nvPr/>
        </p:nvSpPr>
        <p:spPr>
          <a:xfrm>
            <a:off x="4443984" y="1673351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u="none" cap="none" strike="noStrike">
                <a:solidFill>
                  <a:srgbClr val="B8720D"/>
                </a:solidFill>
                <a:latin typeface="DM Sans"/>
                <a:ea typeface="DM Sans"/>
                <a:cs typeface="DM Sans"/>
                <a:sym typeface="DM Sans"/>
              </a:rPr>
              <a:t>↓</a:t>
            </a:r>
            <a:endParaRPr b="1" sz="1700">
              <a:solidFill>
                <a:srgbClr val="B8720D"/>
              </a:solidFill>
            </a:endParaRPr>
          </a:p>
        </p:txBody>
      </p:sp>
      <p:sp>
        <p:nvSpPr>
          <p:cNvPr id="634" name="Google Shape;634;p14"/>
          <p:cNvSpPr/>
          <p:nvPr/>
        </p:nvSpPr>
        <p:spPr>
          <a:xfrm>
            <a:off x="1463040" y="1901952"/>
            <a:ext cx="6217920" cy="292608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4"/>
          <p:cNvSpPr/>
          <p:nvPr/>
        </p:nvSpPr>
        <p:spPr>
          <a:xfrm>
            <a:off x="1591056" y="1901952"/>
            <a:ext cx="5961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64000" lIns="128000" spcFirstLastPara="1" rIns="128000" wrap="square" tIns="64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US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⚙️  SERVIÇOS</a:t>
            </a:r>
            <a:endParaRPr/>
          </a:p>
        </p:txBody>
      </p:sp>
      <p:sp>
        <p:nvSpPr>
          <p:cNvPr id="636" name="Google Shape;636;p14"/>
          <p:cNvSpPr/>
          <p:nvPr/>
        </p:nvSpPr>
        <p:spPr>
          <a:xfrm>
            <a:off x="1463040" y="2194560"/>
            <a:ext cx="6217920" cy="45720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C4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4"/>
          <p:cNvSpPr/>
          <p:nvPr/>
        </p:nvSpPr>
        <p:spPr>
          <a:xfrm>
            <a:off x="1627632" y="2326634"/>
            <a:ext cx="588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000" lIns="128000" spcFirstLastPara="1" rIns="128000" wrap="square" tIns="64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IdeaService · ProjectService · AuthService · StrategyService · AIService</a:t>
            </a:r>
            <a:endParaRPr/>
          </a:p>
        </p:txBody>
      </p:sp>
      <p:sp>
        <p:nvSpPr>
          <p:cNvPr id="638" name="Google Shape;638;p14"/>
          <p:cNvSpPr/>
          <p:nvPr/>
        </p:nvSpPr>
        <p:spPr>
          <a:xfrm>
            <a:off x="4443984" y="2679192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u="none" cap="none" strike="noStrike">
                <a:solidFill>
                  <a:srgbClr val="B8720D"/>
                </a:solidFill>
                <a:latin typeface="DM Sans"/>
                <a:ea typeface="DM Sans"/>
                <a:cs typeface="DM Sans"/>
                <a:sym typeface="DM Sans"/>
              </a:rPr>
              <a:t>↓</a:t>
            </a:r>
            <a:endParaRPr b="1" sz="1700">
              <a:solidFill>
                <a:srgbClr val="B8720D"/>
              </a:solidFill>
            </a:endParaRPr>
          </a:p>
        </p:txBody>
      </p:sp>
      <p:sp>
        <p:nvSpPr>
          <p:cNvPr id="639" name="Google Shape;639;p14"/>
          <p:cNvSpPr/>
          <p:nvPr/>
        </p:nvSpPr>
        <p:spPr>
          <a:xfrm>
            <a:off x="1463040" y="2907792"/>
            <a:ext cx="6217920" cy="292608"/>
          </a:xfrm>
          <a:prstGeom prst="rect">
            <a:avLst/>
          </a:prstGeom>
          <a:solidFill>
            <a:srgbClr val="2A38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4"/>
          <p:cNvSpPr/>
          <p:nvPr/>
        </p:nvSpPr>
        <p:spPr>
          <a:xfrm>
            <a:off x="1591056" y="2907792"/>
            <a:ext cx="5961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64000" lIns="128000" spcFirstLastPara="1" rIns="128000" wrap="square" tIns="64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US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🗂️  INFRAESTRUTURA </a:t>
            </a:r>
            <a:r>
              <a:rPr lang="en-US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TEMPORÁRIA</a:t>
            </a:r>
            <a:endParaRPr/>
          </a:p>
        </p:txBody>
      </p:sp>
      <p:sp>
        <p:nvSpPr>
          <p:cNvPr id="641" name="Google Shape;641;p14"/>
          <p:cNvSpPr/>
          <p:nvPr/>
        </p:nvSpPr>
        <p:spPr>
          <a:xfrm>
            <a:off x="1463040" y="3200400"/>
            <a:ext cx="6217920" cy="457200"/>
          </a:xfrm>
          <a:prstGeom prst="rect">
            <a:avLst/>
          </a:prstGeom>
          <a:solidFill>
            <a:srgbClr val="D8D4CC"/>
          </a:solidFill>
          <a:ln cap="flat" cmpd="sng" w="9525">
            <a:solidFill>
              <a:srgbClr val="C8C4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4"/>
          <p:cNvSpPr/>
          <p:nvPr/>
        </p:nvSpPr>
        <p:spPr>
          <a:xfrm>
            <a:off x="1627632" y="3332475"/>
            <a:ext cx="588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000" lIns="128000" spcFirstLastPara="1" rIns="128000" wrap="square" tIns="64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Firebase (BaaS) · Auth mockada · Persistência local</a:t>
            </a:r>
            <a:endParaRPr/>
          </a:p>
        </p:txBody>
      </p:sp>
      <p:sp>
        <p:nvSpPr>
          <p:cNvPr id="643" name="Google Shape;643;p14"/>
          <p:cNvSpPr/>
          <p:nvPr/>
        </p:nvSpPr>
        <p:spPr>
          <a:xfrm>
            <a:off x="1463040" y="3730752"/>
            <a:ext cx="6217920" cy="292608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4"/>
          <p:cNvSpPr/>
          <p:nvPr/>
        </p:nvSpPr>
        <p:spPr>
          <a:xfrm>
            <a:off x="1591056" y="3730752"/>
            <a:ext cx="5961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64000" lIns="128000" spcFirstLastPara="1" rIns="128000" wrap="square" tIns="64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US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🔄  REPOSITORY PATTERN</a:t>
            </a:r>
            <a:endParaRPr/>
          </a:p>
        </p:txBody>
      </p:sp>
      <p:sp>
        <p:nvSpPr>
          <p:cNvPr id="645" name="Google Shape;645;p14"/>
          <p:cNvSpPr/>
          <p:nvPr/>
        </p:nvSpPr>
        <p:spPr>
          <a:xfrm>
            <a:off x="1463040" y="4023360"/>
            <a:ext cx="6217920" cy="548640"/>
          </a:xfrm>
          <a:prstGeom prst="rect">
            <a:avLst/>
          </a:prstGeom>
          <a:solidFill>
            <a:srgbClr val="EDE8D8"/>
          </a:solidFill>
          <a:ln cap="flat" cmpd="sng" w="9525">
            <a:solidFill>
              <a:srgbClr val="C8C4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4"/>
          <p:cNvSpPr/>
          <p:nvPr/>
        </p:nvSpPr>
        <p:spPr>
          <a:xfrm>
            <a:off x="1536175" y="4023350"/>
            <a:ext cx="5961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28000" spcFirstLastPara="1" rIns="128000" wrap="square" tIns="54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1" lang="en-US" u="none" cap="none" strike="noStrike">
                <a:solidFill>
                  <a:srgbClr val="2A386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"Isola as camadas e permite substituir apenas a infraestrutura na evolução corporativa."</a:t>
            </a:r>
            <a:endParaRPr/>
          </a:p>
        </p:txBody>
      </p:sp>
      <p:sp>
        <p:nvSpPr>
          <p:cNvPr id="647" name="Google Shape;647;p14"/>
          <p:cNvSpPr/>
          <p:nvPr/>
        </p:nvSpPr>
        <p:spPr>
          <a:xfrm>
            <a:off x="1463040" y="4663440"/>
            <a:ext cx="6217920" cy="292608"/>
          </a:xfrm>
          <a:prstGeom prst="rect">
            <a:avLst/>
          </a:prstGeom>
          <a:solidFill>
            <a:srgbClr val="0E182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4"/>
          <p:cNvSpPr/>
          <p:nvPr/>
        </p:nvSpPr>
        <p:spPr>
          <a:xfrm>
            <a:off x="1645920" y="4663440"/>
            <a:ext cx="5852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000" lIns="128000" spcFirstLastPara="1" rIns="128000" wrap="square" tIns="64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US" sz="12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RNFs atendidos  ·  Performance · Segurança · Persistência · i18n · Testabilidade</a:t>
            </a:r>
            <a:endParaRPr sz="1200">
              <a:solidFill>
                <a:srgbClr val="EDE8D8"/>
              </a:solidFill>
            </a:endParaRPr>
          </a:p>
        </p:txBody>
      </p:sp>
      <p:pic>
        <p:nvPicPr>
          <p:cNvPr descr="preencoded.png" id="649" name="Google Shape;6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91440"/>
            <a:ext cx="777240" cy="146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540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5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182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5"/>
          <p:cNvSpPr/>
          <p:nvPr/>
        </p:nvSpPr>
        <p:spPr>
          <a:xfrm>
            <a:off x="1060704" y="135331"/>
            <a:ext cx="1133856" cy="204825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5"/>
          <p:cNvSpPr/>
          <p:nvPr/>
        </p:nvSpPr>
        <p:spPr>
          <a:xfrm>
            <a:off x="1060704" y="135331"/>
            <a:ext cx="1133856" cy="2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ARQUITETURA</a:t>
            </a:r>
            <a:endParaRPr sz="1000"/>
          </a:p>
        </p:txBody>
      </p:sp>
      <p:sp>
        <p:nvSpPr>
          <p:cNvPr id="658" name="Google Shape;658;p15"/>
          <p:cNvSpPr/>
          <p:nvPr/>
        </p:nvSpPr>
        <p:spPr>
          <a:xfrm>
            <a:off x="1016250" y="135300"/>
            <a:ext cx="76707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Evolução Corporativa — Sprint 2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9" name="Google Shape;659;p15"/>
          <p:cNvSpPr/>
          <p:nvPr/>
        </p:nvSpPr>
        <p:spPr>
          <a:xfrm>
            <a:off x="1463040" y="548640"/>
            <a:ext cx="6217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6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Do MVP validado à arquitetura enterprise escalável.</a:t>
            </a:r>
            <a:endParaRPr sz="1600"/>
          </a:p>
        </p:txBody>
      </p:sp>
      <p:sp>
        <p:nvSpPr>
          <p:cNvPr id="660" name="Google Shape;660;p15"/>
          <p:cNvSpPr/>
          <p:nvPr/>
        </p:nvSpPr>
        <p:spPr>
          <a:xfrm>
            <a:off x="457200" y="877824"/>
            <a:ext cx="8229600" cy="237744"/>
          </a:xfrm>
          <a:prstGeom prst="rect">
            <a:avLst/>
          </a:prstGeom>
          <a:solidFill>
            <a:srgbClr val="2A38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5"/>
          <p:cNvSpPr/>
          <p:nvPr/>
        </p:nvSpPr>
        <p:spPr>
          <a:xfrm>
            <a:off x="585216" y="877824"/>
            <a:ext cx="7973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US" sz="13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📱  </a:t>
            </a:r>
            <a:r>
              <a:rPr b="1" i="0" lang="en-US" sz="13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APRESENTAÇÃO</a:t>
            </a:r>
            <a:r>
              <a:rPr b="0" i="0" lang="en-US" sz="13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  —  </a:t>
            </a:r>
            <a:r>
              <a:rPr lang="en-US" sz="1300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Frontend preservado · backend evoluído</a:t>
            </a:r>
            <a:endParaRPr sz="1300"/>
          </a:p>
        </p:txBody>
      </p:sp>
      <p:sp>
        <p:nvSpPr>
          <p:cNvPr id="662" name="Google Shape;662;p15"/>
          <p:cNvSpPr/>
          <p:nvPr/>
        </p:nvSpPr>
        <p:spPr>
          <a:xfrm>
            <a:off x="457200" y="1115568"/>
            <a:ext cx="8229600" cy="329184"/>
          </a:xfrm>
          <a:prstGeom prst="rect">
            <a:avLst/>
          </a:prstGeom>
          <a:solidFill>
            <a:srgbClr val="2A3860"/>
          </a:solidFill>
          <a:ln cap="flat" cmpd="sng" w="9525">
            <a:solidFill>
              <a:srgbClr val="2A38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5"/>
          <p:cNvSpPr/>
          <p:nvPr/>
        </p:nvSpPr>
        <p:spPr>
          <a:xfrm>
            <a:off x="621792" y="1152144"/>
            <a:ext cx="7900416" cy="256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3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Android MVVM · perfis por role · i18n trilíngue</a:t>
            </a:r>
            <a:endParaRPr sz="1300"/>
          </a:p>
        </p:txBody>
      </p:sp>
      <p:sp>
        <p:nvSpPr>
          <p:cNvPr id="664" name="Google Shape;664;p15"/>
          <p:cNvSpPr/>
          <p:nvPr/>
        </p:nvSpPr>
        <p:spPr>
          <a:xfrm>
            <a:off x="4462272" y="1463040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4A8A"/>
                </a:solidFill>
                <a:latin typeface="DM Sans"/>
                <a:ea typeface="DM Sans"/>
                <a:cs typeface="DM Sans"/>
                <a:sym typeface="DM Sans"/>
              </a:rPr>
              <a:t>↓</a:t>
            </a:r>
            <a:endParaRPr/>
          </a:p>
        </p:txBody>
      </p:sp>
      <p:sp>
        <p:nvSpPr>
          <p:cNvPr id="665" name="Google Shape;665;p15"/>
          <p:cNvSpPr/>
          <p:nvPr/>
        </p:nvSpPr>
        <p:spPr>
          <a:xfrm>
            <a:off x="457200" y="1572768"/>
            <a:ext cx="8229600" cy="237744"/>
          </a:xfrm>
          <a:prstGeom prst="rect">
            <a:avLst/>
          </a:prstGeom>
          <a:solidFill>
            <a:srgbClr val="2A38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5"/>
          <p:cNvSpPr/>
          <p:nvPr/>
        </p:nvSpPr>
        <p:spPr>
          <a:xfrm>
            <a:off x="585216" y="1572768"/>
            <a:ext cx="7973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US" sz="13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⚙️  </a:t>
            </a:r>
            <a:r>
              <a:rPr b="1" i="0" lang="en-US" sz="13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SERVIÇOS</a:t>
            </a:r>
            <a:r>
              <a:rPr b="0" i="0" lang="en-US" sz="13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  —  mesmas regras de negócio</a:t>
            </a:r>
            <a:endParaRPr sz="1300"/>
          </a:p>
        </p:txBody>
      </p:sp>
      <p:sp>
        <p:nvSpPr>
          <p:cNvPr id="667" name="Google Shape;667;p15"/>
          <p:cNvSpPr/>
          <p:nvPr/>
        </p:nvSpPr>
        <p:spPr>
          <a:xfrm>
            <a:off x="457200" y="1810512"/>
            <a:ext cx="8229600" cy="329184"/>
          </a:xfrm>
          <a:prstGeom prst="rect">
            <a:avLst/>
          </a:prstGeom>
          <a:solidFill>
            <a:srgbClr val="2A3860"/>
          </a:solidFill>
          <a:ln cap="flat" cmpd="sng" w="9525">
            <a:solidFill>
              <a:srgbClr val="2A38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5"/>
          <p:cNvSpPr/>
          <p:nvPr/>
        </p:nvSpPr>
        <p:spPr>
          <a:xfrm>
            <a:off x="621792" y="1847088"/>
            <a:ext cx="7900416" cy="256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3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IdeaService · ProjectService · AuthService · StrategyService · AIService — interfaces intactas</a:t>
            </a:r>
            <a:endParaRPr sz="1300"/>
          </a:p>
        </p:txBody>
      </p:sp>
      <p:sp>
        <p:nvSpPr>
          <p:cNvPr id="669" name="Google Shape;669;p15"/>
          <p:cNvSpPr/>
          <p:nvPr/>
        </p:nvSpPr>
        <p:spPr>
          <a:xfrm>
            <a:off x="4462272" y="2121408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4A8A"/>
                </a:solidFill>
                <a:latin typeface="DM Sans"/>
                <a:ea typeface="DM Sans"/>
                <a:cs typeface="DM Sans"/>
                <a:sym typeface="DM Sans"/>
              </a:rPr>
              <a:t>↓</a:t>
            </a:r>
            <a:endParaRPr/>
          </a:p>
        </p:txBody>
      </p:sp>
      <p:sp>
        <p:nvSpPr>
          <p:cNvPr id="670" name="Google Shape;670;p15"/>
          <p:cNvSpPr/>
          <p:nvPr/>
        </p:nvSpPr>
        <p:spPr>
          <a:xfrm>
            <a:off x="457200" y="2322576"/>
            <a:ext cx="8229600" cy="365760"/>
          </a:xfrm>
          <a:prstGeom prst="rect">
            <a:avLst/>
          </a:prstGeom>
          <a:solidFill>
            <a:srgbClr val="B8720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5"/>
          <p:cNvSpPr/>
          <p:nvPr/>
        </p:nvSpPr>
        <p:spPr>
          <a:xfrm>
            <a:off x="621792" y="2322576"/>
            <a:ext cx="79004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☁️  </a:t>
            </a:r>
            <a:r>
              <a:rPr b="1" i="0" lang="en-US" sz="13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INFRAESTRUTURA CORPORATIVA</a:t>
            </a:r>
            <a:endParaRPr b="1" sz="1300">
              <a:solidFill>
                <a:srgbClr val="EDE8D8"/>
              </a:solidFill>
            </a:endParaRPr>
          </a:p>
        </p:txBody>
      </p:sp>
      <p:sp>
        <p:nvSpPr>
          <p:cNvPr id="672" name="Google Shape;672;p15"/>
          <p:cNvSpPr/>
          <p:nvPr/>
        </p:nvSpPr>
        <p:spPr>
          <a:xfrm>
            <a:off x="457200" y="2688336"/>
            <a:ext cx="1616659" cy="969264"/>
          </a:xfrm>
          <a:prstGeom prst="rect">
            <a:avLst/>
          </a:prstGeom>
          <a:solidFill>
            <a:srgbClr val="0E1828"/>
          </a:solidFill>
          <a:ln cap="flat" cmpd="sng" w="9525">
            <a:solidFill>
              <a:srgbClr val="B872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15"/>
          <p:cNvSpPr/>
          <p:nvPr/>
        </p:nvSpPr>
        <p:spPr>
          <a:xfrm>
            <a:off x="530352" y="2816352"/>
            <a:ext cx="14703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Backend</a:t>
            </a:r>
            <a:endParaRPr/>
          </a:p>
        </p:txBody>
      </p:sp>
      <p:sp>
        <p:nvSpPr>
          <p:cNvPr id="674" name="Google Shape;674;p15"/>
          <p:cNvSpPr/>
          <p:nvPr/>
        </p:nvSpPr>
        <p:spPr>
          <a:xfrm>
            <a:off x="566928" y="3090672"/>
            <a:ext cx="1397203" cy="16459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5"/>
          <p:cNvSpPr/>
          <p:nvPr/>
        </p:nvSpPr>
        <p:spPr>
          <a:xfrm>
            <a:off x="530352" y="3163824"/>
            <a:ext cx="147035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 Microsserviços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Spring Boot</a:t>
            </a:r>
            <a:endParaRPr sz="1200"/>
          </a:p>
        </p:txBody>
      </p:sp>
      <p:sp>
        <p:nvSpPr>
          <p:cNvPr id="676" name="Google Shape;676;p15"/>
          <p:cNvSpPr/>
          <p:nvPr/>
        </p:nvSpPr>
        <p:spPr>
          <a:xfrm>
            <a:off x="2110435" y="2688336"/>
            <a:ext cx="1616659" cy="969264"/>
          </a:xfrm>
          <a:prstGeom prst="rect">
            <a:avLst/>
          </a:prstGeom>
          <a:solidFill>
            <a:srgbClr val="0E1828"/>
          </a:solidFill>
          <a:ln cap="flat" cmpd="sng" w="9525">
            <a:solidFill>
              <a:srgbClr val="B872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5"/>
          <p:cNvSpPr/>
          <p:nvPr/>
        </p:nvSpPr>
        <p:spPr>
          <a:xfrm>
            <a:off x="2183587" y="2816352"/>
            <a:ext cx="14703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Persistência</a:t>
            </a:r>
            <a:endParaRPr/>
          </a:p>
        </p:txBody>
      </p:sp>
      <p:sp>
        <p:nvSpPr>
          <p:cNvPr id="678" name="Google Shape;678;p15"/>
          <p:cNvSpPr/>
          <p:nvPr/>
        </p:nvSpPr>
        <p:spPr>
          <a:xfrm>
            <a:off x="2220163" y="3090672"/>
            <a:ext cx="1397203" cy="16459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5"/>
          <p:cNvSpPr/>
          <p:nvPr/>
        </p:nvSpPr>
        <p:spPr>
          <a:xfrm>
            <a:off x="2183587" y="3163824"/>
            <a:ext cx="147035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PostgreSQL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+ MongoDB</a:t>
            </a:r>
            <a:endParaRPr sz="1200"/>
          </a:p>
        </p:txBody>
      </p:sp>
      <p:sp>
        <p:nvSpPr>
          <p:cNvPr id="680" name="Google Shape;680;p15"/>
          <p:cNvSpPr/>
          <p:nvPr/>
        </p:nvSpPr>
        <p:spPr>
          <a:xfrm>
            <a:off x="3763670" y="2688336"/>
            <a:ext cx="1616659" cy="969264"/>
          </a:xfrm>
          <a:prstGeom prst="rect">
            <a:avLst/>
          </a:prstGeom>
          <a:solidFill>
            <a:srgbClr val="0E1828"/>
          </a:solidFill>
          <a:ln cap="flat" cmpd="sng" w="9525">
            <a:solidFill>
              <a:srgbClr val="B872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5"/>
          <p:cNvSpPr/>
          <p:nvPr/>
        </p:nvSpPr>
        <p:spPr>
          <a:xfrm>
            <a:off x="3836822" y="2816352"/>
            <a:ext cx="14703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Segurança</a:t>
            </a:r>
            <a:endParaRPr/>
          </a:p>
        </p:txBody>
      </p:sp>
      <p:sp>
        <p:nvSpPr>
          <p:cNvPr id="682" name="Google Shape;682;p15"/>
          <p:cNvSpPr/>
          <p:nvPr/>
        </p:nvSpPr>
        <p:spPr>
          <a:xfrm>
            <a:off x="3873398" y="3090672"/>
            <a:ext cx="1397203" cy="16459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5"/>
          <p:cNvSpPr/>
          <p:nvPr/>
        </p:nvSpPr>
        <p:spPr>
          <a:xfrm>
            <a:off x="3836822" y="3163824"/>
            <a:ext cx="147035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JWT real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Spring Security</a:t>
            </a:r>
            <a:endParaRPr sz="1200"/>
          </a:p>
        </p:txBody>
      </p:sp>
      <p:sp>
        <p:nvSpPr>
          <p:cNvPr id="684" name="Google Shape;684;p15"/>
          <p:cNvSpPr/>
          <p:nvPr/>
        </p:nvSpPr>
        <p:spPr>
          <a:xfrm>
            <a:off x="5416905" y="2688336"/>
            <a:ext cx="1616659" cy="969264"/>
          </a:xfrm>
          <a:prstGeom prst="rect">
            <a:avLst/>
          </a:prstGeom>
          <a:solidFill>
            <a:srgbClr val="0E1828"/>
          </a:solidFill>
          <a:ln cap="flat" cmpd="sng" w="9525">
            <a:solidFill>
              <a:srgbClr val="B872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5"/>
          <p:cNvSpPr/>
          <p:nvPr/>
        </p:nvSpPr>
        <p:spPr>
          <a:xfrm>
            <a:off x="5490057" y="2816352"/>
            <a:ext cx="14703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Infraestrutura</a:t>
            </a:r>
            <a:endParaRPr/>
          </a:p>
        </p:txBody>
      </p:sp>
      <p:sp>
        <p:nvSpPr>
          <p:cNvPr id="686" name="Google Shape;686;p15"/>
          <p:cNvSpPr/>
          <p:nvPr/>
        </p:nvSpPr>
        <p:spPr>
          <a:xfrm>
            <a:off x="5526633" y="3090672"/>
            <a:ext cx="1397203" cy="16459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5"/>
          <p:cNvSpPr/>
          <p:nvPr/>
        </p:nvSpPr>
        <p:spPr>
          <a:xfrm>
            <a:off x="5490057" y="3163824"/>
            <a:ext cx="147035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Docker</a:t>
            </a:r>
            <a:r>
              <a:rPr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+ AWS</a:t>
            </a:r>
            <a:endParaRPr sz="1300"/>
          </a:p>
        </p:txBody>
      </p:sp>
      <p:sp>
        <p:nvSpPr>
          <p:cNvPr id="688" name="Google Shape;688;p15"/>
          <p:cNvSpPr/>
          <p:nvPr/>
        </p:nvSpPr>
        <p:spPr>
          <a:xfrm>
            <a:off x="7070140" y="2688336"/>
            <a:ext cx="1616659" cy="969264"/>
          </a:xfrm>
          <a:prstGeom prst="rect">
            <a:avLst/>
          </a:prstGeom>
          <a:solidFill>
            <a:srgbClr val="0E1828"/>
          </a:solidFill>
          <a:ln cap="flat" cmpd="sng" w="9525">
            <a:solidFill>
              <a:srgbClr val="B872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5"/>
          <p:cNvSpPr/>
          <p:nvPr/>
        </p:nvSpPr>
        <p:spPr>
          <a:xfrm>
            <a:off x="7143292" y="2816352"/>
            <a:ext cx="14703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DevOps</a:t>
            </a:r>
            <a:endParaRPr/>
          </a:p>
        </p:txBody>
      </p:sp>
      <p:sp>
        <p:nvSpPr>
          <p:cNvPr id="690" name="Google Shape;690;p15"/>
          <p:cNvSpPr/>
          <p:nvPr/>
        </p:nvSpPr>
        <p:spPr>
          <a:xfrm>
            <a:off x="7179868" y="3090672"/>
            <a:ext cx="1397203" cy="16459"/>
          </a:xfrm>
          <a:prstGeom prst="rect">
            <a:avLst/>
          </a:prstGeom>
          <a:solidFill>
            <a:srgbClr val="2D4A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5"/>
          <p:cNvSpPr/>
          <p:nvPr/>
        </p:nvSpPr>
        <p:spPr>
          <a:xfrm>
            <a:off x="7143292" y="3163824"/>
            <a:ext cx="147035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CI/CD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automatizado</a:t>
            </a:r>
            <a:endParaRPr sz="1200"/>
          </a:p>
        </p:txBody>
      </p:sp>
      <p:sp>
        <p:nvSpPr>
          <p:cNvPr id="692" name="Google Shape;692;p15"/>
          <p:cNvSpPr/>
          <p:nvPr/>
        </p:nvSpPr>
        <p:spPr>
          <a:xfrm>
            <a:off x="457200" y="3767328"/>
            <a:ext cx="8229600" cy="256032"/>
          </a:xfrm>
          <a:prstGeom prst="rect">
            <a:avLst/>
          </a:prstGeom>
          <a:solidFill>
            <a:srgbClr val="B8720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5"/>
          <p:cNvSpPr/>
          <p:nvPr/>
        </p:nvSpPr>
        <p:spPr>
          <a:xfrm>
            <a:off x="585216" y="3767328"/>
            <a:ext cx="79735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🔄  REPOSITORY PATTERN</a:t>
            </a:r>
            <a:endParaRPr/>
          </a:p>
        </p:txBody>
      </p:sp>
      <p:sp>
        <p:nvSpPr>
          <p:cNvPr id="694" name="Google Shape;694;p15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2A3860"/>
          </a:solidFill>
          <a:ln cap="flat" cmpd="sng" w="9525">
            <a:solidFill>
              <a:srgbClr val="C8C4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5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28000" spcFirstLastPara="1" rIns="128000" wrap="square" tIns="548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1" lang="en-US" sz="1600">
                <a:solidFill>
                  <a:srgbClr val="EDE8D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 Sprint 1 já foi construída pensando na evolução corporativa.</a:t>
            </a:r>
            <a:endParaRPr sz="1600">
              <a:solidFill>
                <a:srgbClr val="EDE8D8"/>
              </a:solidFill>
            </a:endParaRPr>
          </a:p>
        </p:txBody>
      </p:sp>
      <p:sp>
        <p:nvSpPr>
          <p:cNvPr id="696" name="Google Shape;696;p15"/>
          <p:cNvSpPr/>
          <p:nvPr/>
        </p:nvSpPr>
        <p:spPr>
          <a:xfrm>
            <a:off x="457200" y="4601671"/>
            <a:ext cx="8229600" cy="329100"/>
          </a:xfrm>
          <a:prstGeom prst="rect">
            <a:avLst/>
          </a:prstGeom>
          <a:solidFill>
            <a:srgbClr val="0E182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5"/>
          <p:cNvSpPr/>
          <p:nvPr/>
        </p:nvSpPr>
        <p:spPr>
          <a:xfrm>
            <a:off x="640080" y="4601671"/>
            <a:ext cx="7863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-US" sz="13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Escalabilidade · Alta disponibilidade · Segurança enterprise · Observabilidade · CI/CD</a:t>
            </a:r>
            <a:endParaRPr sz="1300">
              <a:solidFill>
                <a:srgbClr val="EDE8D8"/>
              </a:solidFill>
            </a:endParaRPr>
          </a:p>
        </p:txBody>
      </p:sp>
      <p:pic>
        <p:nvPicPr>
          <p:cNvPr descr="preencoded.png" id="698" name="Google Shape;6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91440"/>
            <a:ext cx="777240" cy="146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DE8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6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38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705" name="Google Shape;7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91440"/>
            <a:ext cx="777240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16"/>
          <p:cNvSpPr/>
          <p:nvPr/>
        </p:nvSpPr>
        <p:spPr>
          <a:xfrm>
            <a:off x="1060704" y="137160"/>
            <a:ext cx="711403" cy="201168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7" name="Google Shape;707;p16"/>
          <p:cNvSpPr/>
          <p:nvPr/>
        </p:nvSpPr>
        <p:spPr>
          <a:xfrm>
            <a:off x="1060704" y="137160"/>
            <a:ext cx="711403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850"/>
              <a:buFont typeface="DM Sans"/>
              <a:buNone/>
            </a:pPr>
            <a:r>
              <a:rPr b="1" i="0" lang="en-US" sz="85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ACESSE</a:t>
            </a:r>
            <a:endParaRPr b="0" i="0" sz="8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8" name="Google Shape;708;p16"/>
          <p:cNvSpPr/>
          <p:nvPr/>
        </p:nvSpPr>
        <p:spPr>
          <a:xfrm>
            <a:off x="1060700" y="135325"/>
            <a:ext cx="76260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2000"/>
              <a:buFont typeface="DM Sans"/>
              <a:buNone/>
            </a:pPr>
            <a:r>
              <a:rPr b="0" i="0" lang="en-US" sz="1600" u="none" cap="none" strike="noStrike">
                <a:solidFill>
                  <a:srgbClr val="C87D0E"/>
                </a:solidFill>
                <a:latin typeface="Outfit Light"/>
                <a:ea typeface="Outfit Light"/>
                <a:cs typeface="Outfit Light"/>
                <a:sym typeface="Outfit Light"/>
              </a:rPr>
              <a:t>Código-Fonte &amp; Vídeo Demonstrativo</a:t>
            </a:r>
            <a:endParaRPr b="0" i="0" sz="22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709" name="Google Shape;709;p16"/>
          <p:cNvSpPr/>
          <p:nvPr/>
        </p:nvSpPr>
        <p:spPr>
          <a:xfrm>
            <a:off x="347472" y="56692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Escaneie os QR Codes ou acesse diretamente pelos links abaixo.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10" name="Google Shape;710;p16"/>
          <p:cNvSpPr/>
          <p:nvPr/>
        </p:nvSpPr>
        <p:spPr>
          <a:xfrm>
            <a:off x="457200" y="960120"/>
            <a:ext cx="3749040" cy="3858768"/>
          </a:xfrm>
          <a:prstGeom prst="rect">
            <a:avLst/>
          </a:prstGeom>
          <a:solidFill>
            <a:srgbClr val="2A3860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11" name="Google Shape;711;p16"/>
          <p:cNvSpPr/>
          <p:nvPr/>
        </p:nvSpPr>
        <p:spPr>
          <a:xfrm>
            <a:off x="457200" y="960120"/>
            <a:ext cx="3749040" cy="402336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712" name="Google Shape;7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10241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16"/>
          <p:cNvSpPr/>
          <p:nvPr/>
        </p:nvSpPr>
        <p:spPr>
          <a:xfrm>
            <a:off x="877824" y="960120"/>
            <a:ext cx="32186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Repositório GitHub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14" name="Google Shape;714;p16"/>
          <p:cNvSpPr/>
          <p:nvPr/>
        </p:nvSpPr>
        <p:spPr>
          <a:xfrm>
            <a:off x="566978" y="3937097"/>
            <a:ext cx="3529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200"/>
              <a:buFont typeface="DM Sans"/>
              <a:buNone/>
            </a:pPr>
            <a:r>
              <a:rPr b="0" i="0" lang="en-US" sz="1100" u="sng" cap="none" strike="noStrike">
                <a:solidFill>
                  <a:srgbClr val="B8720D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github.com/PROJETOS-FIAP-2TDSOD/aria-project</a:t>
            </a:r>
            <a:endParaRPr b="0" i="0" sz="1100" u="none" cap="none" strike="noStrike">
              <a:solidFill>
                <a:srgbClr val="B8720D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15" name="Google Shape;715;p16"/>
          <p:cNvSpPr/>
          <p:nvPr/>
        </p:nvSpPr>
        <p:spPr>
          <a:xfrm>
            <a:off x="457200" y="4321490"/>
            <a:ext cx="3817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DM Sans"/>
              <a:buNone/>
            </a:pPr>
            <a:r>
              <a:rPr b="0" i="0" lang="en-US" sz="12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github.com/PROJETOS-FIAP-2TDSOD/aria-project</a:t>
            </a:r>
            <a:br>
              <a:rPr b="0" i="0" lang="en-US" sz="1200" u="none" cap="none" strike="noStrike">
                <a:solidFill>
                  <a:srgbClr val="EDE8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Código-fonte · README · APK</a:t>
            </a:r>
            <a:endParaRPr b="0" i="0" sz="1200" u="none" cap="none" strike="noStrike">
              <a:solidFill>
                <a:srgbClr val="EDE8D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16" name="Google Shape;716;p16"/>
          <p:cNvSpPr/>
          <p:nvPr/>
        </p:nvSpPr>
        <p:spPr>
          <a:xfrm>
            <a:off x="4937760" y="960120"/>
            <a:ext cx="3749040" cy="3858768"/>
          </a:xfrm>
          <a:prstGeom prst="rect">
            <a:avLst/>
          </a:prstGeom>
          <a:solidFill>
            <a:srgbClr val="2A3860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17" name="Google Shape;717;p16"/>
          <p:cNvSpPr/>
          <p:nvPr/>
        </p:nvSpPr>
        <p:spPr>
          <a:xfrm>
            <a:off x="4937760" y="960120"/>
            <a:ext cx="3749040" cy="402336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718" name="Google Shape;71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7488" y="10241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16"/>
          <p:cNvSpPr/>
          <p:nvPr/>
        </p:nvSpPr>
        <p:spPr>
          <a:xfrm>
            <a:off x="5358384" y="960120"/>
            <a:ext cx="32186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1A2540"/>
                </a:solidFill>
                <a:latin typeface="DM Sans"/>
                <a:ea typeface="DM Sans"/>
                <a:cs typeface="DM Sans"/>
                <a:sym typeface="DM Sans"/>
              </a:rPr>
              <a:t>Vídeo Demonstrativo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0" name="Google Shape;720;p16"/>
          <p:cNvSpPr/>
          <p:nvPr/>
        </p:nvSpPr>
        <p:spPr>
          <a:xfrm>
            <a:off x="5157301" y="3937097"/>
            <a:ext cx="3529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200"/>
              <a:buFont typeface="DM Sans"/>
              <a:buNone/>
            </a:pPr>
            <a:r>
              <a:rPr b="0" i="0" lang="en-US" sz="1200" u="sng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do vídeo — YouTube</a:t>
            </a:r>
            <a:endParaRPr b="0" i="0" sz="1200" u="none" cap="none" strike="noStrike">
              <a:solidFill>
                <a:srgbClr val="C87D0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1" name="Google Shape;721;p16"/>
          <p:cNvSpPr/>
          <p:nvPr/>
        </p:nvSpPr>
        <p:spPr>
          <a:xfrm>
            <a:off x="5047525" y="4409976"/>
            <a:ext cx="3529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DM Sans"/>
              <a:buNone/>
            </a:pPr>
            <a:r>
              <a:rPr b="0" i="0" lang="en-US" sz="1200" u="none" cap="none" strike="noStrike">
                <a:solidFill>
                  <a:srgbClr val="EDE8D8"/>
                </a:solidFill>
                <a:latin typeface="DM Sans"/>
                <a:ea typeface="DM Sans"/>
                <a:cs typeface="DM Sans"/>
                <a:sym typeface="DM Sans"/>
              </a:rPr>
              <a:t>Screencast dos 3 perfis em ação</a:t>
            </a:r>
            <a:endParaRPr b="0" i="0" sz="1200" u="none" cap="none" strike="noStrike">
              <a:solidFill>
                <a:srgbClr val="EDE8D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22" name="Google Shape;722;p16" title="qr_code_github_aria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44076" y="1541875"/>
            <a:ext cx="2329350" cy="2345050"/>
          </a:xfrm>
          <a:prstGeom prst="rect">
            <a:avLst/>
          </a:prstGeom>
          <a:solidFill>
            <a:srgbClr val="2A3860"/>
          </a:solidFill>
          <a:ln cap="flat" cmpd="sng" w="9525">
            <a:solidFill>
              <a:srgbClr val="C87D0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23" name="Google Shape;723;p16" title="qr_code_video_pitch_aria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96850" y="1604146"/>
            <a:ext cx="2329350" cy="2332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540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7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30" name="Google Shape;730;p17"/>
          <p:cNvSpPr/>
          <p:nvPr/>
        </p:nvSpPr>
        <p:spPr>
          <a:xfrm>
            <a:off x="3520440" y="475488"/>
            <a:ext cx="20117" cy="4407408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731" name="Google Shape;7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640080"/>
            <a:ext cx="2852928" cy="521208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17"/>
          <p:cNvSpPr/>
          <p:nvPr/>
        </p:nvSpPr>
        <p:spPr>
          <a:xfrm>
            <a:off x="201168" y="1350735"/>
            <a:ext cx="3163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Transformando ideias em impacto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33" name="Google Shape;733;p17"/>
          <p:cNvSpPr/>
          <p:nvPr/>
        </p:nvSpPr>
        <p:spPr>
          <a:xfrm>
            <a:off x="914400" y="1679919"/>
            <a:ext cx="1645800" cy="20100"/>
          </a:xfrm>
          <a:prstGeom prst="rect">
            <a:avLst/>
          </a:prstGeom>
          <a:solidFill>
            <a:srgbClr val="C87D0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34" name="Google Shape;734;p17"/>
          <p:cNvSpPr/>
          <p:nvPr/>
        </p:nvSpPr>
        <p:spPr>
          <a:xfrm>
            <a:off x="256032" y="2021206"/>
            <a:ext cx="301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D0E"/>
              </a:buClr>
              <a:buSzPts val="1100"/>
              <a:buFont typeface="DM Sans"/>
              <a:buNone/>
            </a:pPr>
            <a:r>
              <a:rPr b="1" i="0" lang="en-US" sz="900" u="none" cap="none" strike="noStrike">
                <a:solidFill>
                  <a:srgbClr val="C87D0E"/>
                </a:solidFill>
                <a:latin typeface="DM Sans"/>
                <a:ea typeface="DM Sans"/>
                <a:cs typeface="DM Sans"/>
                <a:sym typeface="DM Sans"/>
              </a:rPr>
              <a:t>EQUIPE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35" name="Google Shape;735;p17"/>
          <p:cNvSpPr/>
          <p:nvPr/>
        </p:nvSpPr>
        <p:spPr>
          <a:xfrm>
            <a:off x="182880" y="2258950"/>
            <a:ext cx="3163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Ana Cristina dos Santos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36" name="Google Shape;736;p17"/>
          <p:cNvSpPr/>
          <p:nvPr/>
        </p:nvSpPr>
        <p:spPr>
          <a:xfrm>
            <a:off x="182880" y="2524126"/>
            <a:ext cx="3163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100"/>
              <a:buFont typeface="DM Sans"/>
              <a:buNone/>
            </a:pPr>
            <a:r>
              <a:rPr b="0" i="0" lang="en-US" sz="9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RM 565086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37" name="Google Shape;737;p17"/>
          <p:cNvSpPr/>
          <p:nvPr/>
        </p:nvSpPr>
        <p:spPr>
          <a:xfrm>
            <a:off x="182880" y="2752726"/>
            <a:ext cx="3163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Bruno Queiroz Pires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38" name="Google Shape;738;p17"/>
          <p:cNvSpPr/>
          <p:nvPr/>
        </p:nvSpPr>
        <p:spPr>
          <a:xfrm>
            <a:off x="182880" y="3017902"/>
            <a:ext cx="3163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100"/>
              <a:buFont typeface="DM Sans"/>
              <a:buNone/>
            </a:pPr>
            <a:r>
              <a:rPr b="0" i="0" lang="en-US" sz="9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RM 561676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39" name="Google Shape;739;p17"/>
          <p:cNvSpPr/>
          <p:nvPr/>
        </p:nvSpPr>
        <p:spPr>
          <a:xfrm>
            <a:off x="182880" y="3246502"/>
            <a:ext cx="3163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tor Mello de Araújo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0" name="Google Shape;740;p17"/>
          <p:cNvSpPr/>
          <p:nvPr/>
        </p:nvSpPr>
        <p:spPr>
          <a:xfrm>
            <a:off x="182880" y="3511678"/>
            <a:ext cx="3163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100"/>
              <a:buFont typeface="DM Sans"/>
              <a:buNone/>
            </a:pPr>
            <a:r>
              <a:rPr b="0" i="0" lang="en-US" sz="9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RM 561632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1" name="Google Shape;741;p17"/>
          <p:cNvSpPr/>
          <p:nvPr/>
        </p:nvSpPr>
        <p:spPr>
          <a:xfrm>
            <a:off x="182880" y="3740278"/>
            <a:ext cx="3163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tor Passeri de Souza Kaluf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2" name="Google Shape;742;p17"/>
          <p:cNvSpPr/>
          <p:nvPr/>
        </p:nvSpPr>
        <p:spPr>
          <a:xfrm>
            <a:off x="182880" y="4005454"/>
            <a:ext cx="3163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100"/>
              <a:buFont typeface="DM Sans"/>
              <a:buNone/>
            </a:pPr>
            <a:r>
              <a:rPr b="0" i="0" lang="en-US" sz="900" u="none" cap="none" strike="noStrike">
                <a:solidFill>
                  <a:srgbClr val="AABBD0"/>
                </a:solidFill>
                <a:latin typeface="DM Sans"/>
                <a:ea typeface="DM Sans"/>
                <a:cs typeface="DM Sans"/>
                <a:sym typeface="DM Sans"/>
              </a:rPr>
              <a:t>RM 562852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3" name="Google Shape;743;p17"/>
          <p:cNvSpPr txBox="1"/>
          <p:nvPr/>
        </p:nvSpPr>
        <p:spPr>
          <a:xfrm>
            <a:off x="3714314" y="1350730"/>
            <a:ext cx="51207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rPr>
              <a:t>ARIA transforma inovação operacional em resultado estratégico.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2026-05-25T10:11:12Z</dcterms:created>
  <dc:creator>PptxGenJS</dc:creator>
</cp:coreProperties>
</file>