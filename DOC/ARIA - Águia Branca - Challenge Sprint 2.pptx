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32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Calibri (MS)" charset="1" panose="020F0502020204030204"/>
      <p:regular r:id="rId25"/>
    </p:embeddedFont>
    <p:embeddedFont>
      <p:font typeface="Cambria Bold" charset="1" panose="02040803050406030204"/>
      <p:regular r:id="rId26"/>
    </p:embeddedFont>
    <p:embeddedFont>
      <p:font typeface="Cambria Italics" charset="1" panose="020405030504060A0204"/>
      <p:regular r:id="rId27"/>
    </p:embeddedFont>
    <p:embeddedFont>
      <p:font typeface="Calibri (MS) Bold" charset="1" panose="020F0702030404030204"/>
      <p:regular r:id="rId28"/>
    </p:embeddedFont>
    <p:embeddedFont>
      <p:font typeface="Courier New" charset="1" panose="02070309020205020404"/>
      <p:regular r:id="rId29"/>
    </p:embeddedFont>
    <p:embeddedFont>
      <p:font typeface="Courier New Bold" charset="1" panose="02070609020205020404"/>
      <p:regular r:id="rId30"/>
    </p:embeddedFont>
    <p:embeddedFont>
      <p:font typeface="Calibri (MS) Bold Italics" charset="1" panose="020F07020304040A0204"/>
      <p:regular r:id="rId31"/>
    </p:embeddedFont>
    <p:embeddedFont>
      <p:font typeface="Courier New Italics" charset="1" panose="02070409020205090404"/>
      <p:regular r:id="rId35"/>
    </p:embeddedFont>
    <p:embeddedFont>
      <p:font typeface="Cambria Bold Italics" charset="1" panose="020408030504060A0204"/>
      <p:regular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notesMasters/notesMaster1.xml" Type="http://schemas.openxmlformats.org/officeDocument/2006/relationships/notesMaster"/><Relationship Id="rId33" Target="theme/theme2.xml" Type="http://schemas.openxmlformats.org/officeDocument/2006/relationships/theme"/><Relationship Id="rId34" Target="notesSlides/notesSlide1.xml" Type="http://schemas.openxmlformats.org/officeDocument/2006/relationships/notesSlide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https://github.com/PROJETOS-FIAP-2TDSOD/aria-project" TargetMode="External" Type="http://schemas.openxmlformats.org/officeDocument/2006/relationships/hyperlink"/><Relationship Id="rId6" Target="../media/image3.png" Type="http://schemas.openxmlformats.org/officeDocument/2006/relationships/image"/><Relationship Id="rId7" Target="https://github.com/PROJETOS-FIAP-2TDSOD/aria-backend" TargetMode="External" Type="http://schemas.openxmlformats.org/officeDocument/2006/relationships/hyperlink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10287000"/>
            <a:chOff x="0" y="0"/>
            <a:chExt cx="24377904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345668" y="-3017520"/>
            <a:ext cx="8915400" cy="8915400"/>
            <a:chOff x="0" y="0"/>
            <a:chExt cx="11887200" cy="11887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887200" cy="11887200"/>
            </a:xfrm>
            <a:custGeom>
              <a:avLst/>
              <a:gdLst/>
              <a:ahLst/>
              <a:cxnLst/>
              <a:rect r="r" b="b" t="t" l="l"/>
              <a:pathLst>
                <a:path h="11887200" w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-3566160" y="6720840"/>
            <a:ext cx="6172200" cy="6172200"/>
            <a:chOff x="0" y="0"/>
            <a:chExt cx="8229600" cy="8229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229600" cy="8229600"/>
            </a:xfrm>
            <a:custGeom>
              <a:avLst/>
              <a:gdLst/>
              <a:ahLst/>
              <a:cxnLst/>
              <a:rect r="r" b="b" t="t" l="l"/>
              <a:pathLst>
                <a:path h="8229600" w="8229600">
                  <a:moveTo>
                    <a:pt x="0" y="4114800"/>
                  </a:moveTo>
                  <a:cubicBezTo>
                    <a:pt x="0" y="1842262"/>
                    <a:pt x="1842262" y="0"/>
                    <a:pt x="4114800" y="0"/>
                  </a:cubicBezTo>
                  <a:cubicBezTo>
                    <a:pt x="6387338" y="0"/>
                    <a:pt x="8229600" y="1842262"/>
                    <a:pt x="8229600" y="4114800"/>
                  </a:cubicBezTo>
                  <a:cubicBezTo>
                    <a:pt x="8229600" y="6387338"/>
                    <a:pt x="6387338" y="8229600"/>
                    <a:pt x="4114800" y="8229600"/>
                  </a:cubicBezTo>
                  <a:cubicBezTo>
                    <a:pt x="1842262" y="8229600"/>
                    <a:pt x="0" y="6387338"/>
                    <a:pt x="0" y="4114800"/>
                  </a:cubicBez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34440" y="2057400"/>
            <a:ext cx="13716000" cy="548640"/>
            <a:chOff x="0" y="0"/>
            <a:chExt cx="18288000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88000" cy="731520"/>
            </a:xfrm>
            <a:custGeom>
              <a:avLst/>
              <a:gdLst/>
              <a:ahLst/>
              <a:cxnLst/>
              <a:rect r="r" b="b" t="t" l="l"/>
              <a:pathLst>
                <a:path h="73152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37125" r="0" b="-43712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82880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CHALLENGE ÁGUIA BRANCA · FIAP · SPRINT 2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65860" y="2606040"/>
            <a:ext cx="12344400" cy="2331720"/>
            <a:chOff x="0" y="0"/>
            <a:chExt cx="16459200" cy="31089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6459200" cy="3108960"/>
            </a:xfrm>
            <a:custGeom>
              <a:avLst/>
              <a:gdLst/>
              <a:ahLst/>
              <a:cxnLst/>
              <a:rect r="r" b="b" t="t" l="l"/>
              <a:pathLst>
                <a:path h="310896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3156" r="0" b="-5315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16459200" cy="31280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280"/>
                </a:lnSpc>
              </a:pPr>
              <a:r>
                <a:rPr lang="en-US" b="true" sz="144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ARIA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34440" y="4869180"/>
            <a:ext cx="13030200" cy="822960"/>
            <a:chOff x="0" y="0"/>
            <a:chExt cx="17373600" cy="10972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73736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7373600">
                  <a:moveTo>
                    <a:pt x="0" y="0"/>
                  </a:moveTo>
                  <a:lnTo>
                    <a:pt x="17373600" y="0"/>
                  </a:lnTo>
                  <a:lnTo>
                    <a:pt x="1737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8513" r="0" b="-258513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73736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i="true">
                  <a:solidFill>
                    <a:srgbClr val="FFFFFF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Da ideia no chão de fábrica ao resultado no board.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34440" y="5692140"/>
            <a:ext cx="13030200" cy="685800"/>
            <a:chOff x="0" y="0"/>
            <a:chExt cx="17373600" cy="9144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7373600" cy="914400"/>
            </a:xfrm>
            <a:custGeom>
              <a:avLst/>
              <a:gdLst/>
              <a:ahLst/>
              <a:cxnLst/>
              <a:rect r="r" b="b" t="t" l="l"/>
              <a:pathLst>
                <a:path h="914400" w="173736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20215" r="0" b="-32021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1737360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C7CE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Agora com um backend de verdade, IA de verdade e nuvem de verdade.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4440" y="7612380"/>
            <a:ext cx="3610737" cy="1851660"/>
            <a:chOff x="0" y="0"/>
            <a:chExt cx="4814316" cy="24688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814316" cy="2468880"/>
            </a:xfrm>
            <a:custGeom>
              <a:avLst/>
              <a:gdLst/>
              <a:ahLst/>
              <a:cxnLst/>
              <a:rect r="r" b="b" t="t" l="l"/>
              <a:pathLst>
                <a:path h="24688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2468880"/>
                  </a:lnTo>
                  <a:lnTo>
                    <a:pt x="0" y="24688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481328" y="7752588"/>
            <a:ext cx="3130677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Ana Cristina dos Santos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481328" y="8709660"/>
            <a:ext cx="3130677" cy="480060"/>
            <a:chOff x="0" y="0"/>
            <a:chExt cx="4174236" cy="6400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174236" cy="640080"/>
            </a:xfrm>
            <a:custGeom>
              <a:avLst/>
              <a:gdLst/>
              <a:ahLst/>
              <a:cxnLst/>
              <a:rect r="r" b="b" t="t" l="l"/>
              <a:pathLst>
                <a:path h="640080" w="4174236">
                  <a:moveTo>
                    <a:pt x="0" y="0"/>
                  </a:moveTo>
                  <a:lnTo>
                    <a:pt x="4174236" y="0"/>
                  </a:lnTo>
                  <a:lnTo>
                    <a:pt x="417423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7070" r="0" b="-7707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28575"/>
              <a:ext cx="417423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565086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5188077" y="7612380"/>
            <a:ext cx="3610737" cy="1851660"/>
            <a:chOff x="0" y="0"/>
            <a:chExt cx="4814316" cy="24688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814316" cy="2468880"/>
            </a:xfrm>
            <a:custGeom>
              <a:avLst/>
              <a:gdLst/>
              <a:ahLst/>
              <a:cxnLst/>
              <a:rect r="r" b="b" t="t" l="l"/>
              <a:pathLst>
                <a:path h="24688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2468880"/>
                  </a:lnTo>
                  <a:lnTo>
                    <a:pt x="0" y="24688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5434965" y="7752588"/>
            <a:ext cx="3130677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Bruno Queiroz Pires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5434965" y="8709660"/>
            <a:ext cx="3130677" cy="480060"/>
            <a:chOff x="0" y="0"/>
            <a:chExt cx="4174236" cy="6400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174236" cy="640080"/>
            </a:xfrm>
            <a:custGeom>
              <a:avLst/>
              <a:gdLst/>
              <a:ahLst/>
              <a:cxnLst/>
              <a:rect r="r" b="b" t="t" l="l"/>
              <a:pathLst>
                <a:path h="640080" w="4174236">
                  <a:moveTo>
                    <a:pt x="0" y="0"/>
                  </a:moveTo>
                  <a:lnTo>
                    <a:pt x="4174236" y="0"/>
                  </a:lnTo>
                  <a:lnTo>
                    <a:pt x="417423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7070" r="0" b="-7707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417423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561676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141714" y="7612380"/>
            <a:ext cx="3610737" cy="1851660"/>
            <a:chOff x="0" y="0"/>
            <a:chExt cx="4814316" cy="24688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814316" cy="2468880"/>
            </a:xfrm>
            <a:custGeom>
              <a:avLst/>
              <a:gdLst/>
              <a:ahLst/>
              <a:cxnLst/>
              <a:rect r="r" b="b" t="t" l="l"/>
              <a:pathLst>
                <a:path h="24688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2468880"/>
                  </a:lnTo>
                  <a:lnTo>
                    <a:pt x="0" y="24688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9388602" y="7752588"/>
            <a:ext cx="3130677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Vitor Mello de Araújo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388602" y="8709660"/>
            <a:ext cx="3130677" cy="480060"/>
            <a:chOff x="0" y="0"/>
            <a:chExt cx="4174236" cy="6400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174236" cy="640080"/>
            </a:xfrm>
            <a:custGeom>
              <a:avLst/>
              <a:gdLst/>
              <a:ahLst/>
              <a:cxnLst/>
              <a:rect r="r" b="b" t="t" l="l"/>
              <a:pathLst>
                <a:path h="640080" w="4174236">
                  <a:moveTo>
                    <a:pt x="0" y="0"/>
                  </a:moveTo>
                  <a:lnTo>
                    <a:pt x="4174236" y="0"/>
                  </a:lnTo>
                  <a:lnTo>
                    <a:pt x="417423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7070" r="0" b="-7707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417423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561632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095351" y="7612380"/>
            <a:ext cx="3610737" cy="1851660"/>
            <a:chOff x="0" y="0"/>
            <a:chExt cx="4814316" cy="246888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814316" cy="2468880"/>
            </a:xfrm>
            <a:custGeom>
              <a:avLst/>
              <a:gdLst/>
              <a:ahLst/>
              <a:cxnLst/>
              <a:rect r="r" b="b" t="t" l="l"/>
              <a:pathLst>
                <a:path h="24688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2468880"/>
                  </a:lnTo>
                  <a:lnTo>
                    <a:pt x="0" y="24688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3342239" y="7752588"/>
            <a:ext cx="3130677" cy="929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Vitor Passeri de Souza Kaluf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13342239" y="8709660"/>
            <a:ext cx="3130677" cy="480060"/>
            <a:chOff x="0" y="0"/>
            <a:chExt cx="4174236" cy="6400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174236" cy="640080"/>
            </a:xfrm>
            <a:custGeom>
              <a:avLst/>
              <a:gdLst/>
              <a:ahLst/>
              <a:cxnLst/>
              <a:rect r="r" b="b" t="t" l="l"/>
              <a:pathLst>
                <a:path h="640080" w="4174236">
                  <a:moveTo>
                    <a:pt x="0" y="0"/>
                  </a:moveTo>
                  <a:lnTo>
                    <a:pt x="4174236" y="0"/>
                  </a:lnTo>
                  <a:lnTo>
                    <a:pt x="417423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7070" r="0" b="-7707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417423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562852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75438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ONDE PARAMOS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234440"/>
            <a:ext cx="15499080" cy="1097280"/>
            <a:chOff x="0" y="0"/>
            <a:chExt cx="20665440" cy="1463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665439" cy="1463040"/>
            </a:xfrm>
            <a:custGeom>
              <a:avLst/>
              <a:gdLst/>
              <a:ahLst/>
              <a:cxnLst/>
              <a:rect r="r" b="b" t="t" l="l"/>
              <a:pathLst>
                <a:path h="146304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5226" r="0" b="-22522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665440" cy="14725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b="true" sz="51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 Sprint 1 provou o conceito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263140"/>
            <a:ext cx="14813280" cy="685800"/>
            <a:chOff x="0" y="0"/>
            <a:chExt cx="1975104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751039" cy="914400"/>
            </a:xfrm>
            <a:custGeom>
              <a:avLst/>
              <a:gdLst/>
              <a:ahLst/>
              <a:cxnLst/>
              <a:rect r="r" b="b" t="t" l="l"/>
              <a:pathLst>
                <a:path h="914400" w="19751039">
                  <a:moveTo>
                    <a:pt x="0" y="0"/>
                  </a:moveTo>
                  <a:lnTo>
                    <a:pt x="19751039" y="0"/>
                  </a:lnTo>
                  <a:lnTo>
                    <a:pt x="19751039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0876" r="0" b="-370876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975104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Um app Android nativo, completo para os três perfis — mas rodando inteiro sobre um backend simulado.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34440" y="3497580"/>
            <a:ext cx="4997196" cy="4937760"/>
            <a:chOff x="0" y="0"/>
            <a:chExt cx="6662928" cy="65836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62928" cy="6583680"/>
            </a:xfrm>
            <a:custGeom>
              <a:avLst/>
              <a:gdLst/>
              <a:ahLst/>
              <a:cxnLst/>
              <a:rect r="r" b="b" t="t" l="l"/>
              <a:pathLst>
                <a:path h="65836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6583680"/>
                  </a:lnTo>
                  <a:lnTo>
                    <a:pt x="0" y="658368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714500" y="3909060"/>
            <a:ext cx="4037076" cy="1508760"/>
            <a:chOff x="0" y="0"/>
            <a:chExt cx="5382768" cy="20116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82768" cy="2011680"/>
            </a:xfrm>
            <a:custGeom>
              <a:avLst/>
              <a:gdLst/>
              <a:ahLst/>
              <a:cxnLst/>
              <a:rect r="r" b="b" t="t" l="l"/>
              <a:pathLst>
                <a:path h="2011680" w="5382768">
                  <a:moveTo>
                    <a:pt x="0" y="0"/>
                  </a:moveTo>
                  <a:lnTo>
                    <a:pt x="5382768" y="0"/>
                  </a:lnTo>
                  <a:lnTo>
                    <a:pt x="538276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7" r="0" b="-2137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5382768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080"/>
                </a:lnSpc>
              </a:pPr>
              <a:r>
                <a:rPr lang="en-US" b="true" sz="8400">
                  <a:solidFill>
                    <a:srgbClr val="C87D0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714500" y="5417820"/>
            <a:ext cx="4037076" cy="548640"/>
            <a:chOff x="0" y="0"/>
            <a:chExt cx="5382768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382768" cy="731520"/>
            </a:xfrm>
            <a:custGeom>
              <a:avLst/>
              <a:gdLst/>
              <a:ahLst/>
              <a:cxnLst/>
              <a:rect r="r" b="b" t="t" l="l"/>
              <a:pathLst>
                <a:path h="731520" w="5382768">
                  <a:moveTo>
                    <a:pt x="0" y="0"/>
                  </a:moveTo>
                  <a:lnTo>
                    <a:pt x="5382768" y="0"/>
                  </a:lnTo>
                  <a:lnTo>
                    <a:pt x="538276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3377" r="0" b="-9337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38276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PERFIS COMPLETOS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14500" y="5996940"/>
            <a:ext cx="4037076" cy="223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Operador, Gestor e Líder, cada um com sua jornada, no Jetpack Compose.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6643116" y="3497580"/>
            <a:ext cx="4997196" cy="4937760"/>
            <a:chOff x="0" y="0"/>
            <a:chExt cx="6662928" cy="6583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62928" cy="6583680"/>
            </a:xfrm>
            <a:custGeom>
              <a:avLst/>
              <a:gdLst/>
              <a:ahLst/>
              <a:cxnLst/>
              <a:rect r="r" b="b" t="t" l="l"/>
              <a:pathLst>
                <a:path h="65836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6583680"/>
                  </a:lnTo>
                  <a:lnTo>
                    <a:pt x="0" y="658368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7123176" y="3909060"/>
            <a:ext cx="4037076" cy="1508760"/>
            <a:chOff x="0" y="0"/>
            <a:chExt cx="5382768" cy="20116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382768" cy="2011680"/>
            </a:xfrm>
            <a:custGeom>
              <a:avLst/>
              <a:gdLst/>
              <a:ahLst/>
              <a:cxnLst/>
              <a:rect r="r" b="b" t="t" l="l"/>
              <a:pathLst>
                <a:path h="2011680" w="5382768">
                  <a:moveTo>
                    <a:pt x="0" y="0"/>
                  </a:moveTo>
                  <a:lnTo>
                    <a:pt x="5382768" y="0"/>
                  </a:lnTo>
                  <a:lnTo>
                    <a:pt x="538276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7" r="0" b="-2137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5382768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080"/>
                </a:lnSpc>
              </a:pPr>
              <a:r>
                <a:rPr lang="en-US" b="true" sz="8400">
                  <a:solidFill>
                    <a:srgbClr val="C87D0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0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7123176" y="5417820"/>
            <a:ext cx="4037076" cy="548640"/>
            <a:chOff x="0" y="0"/>
            <a:chExt cx="5382768" cy="7315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382768" cy="731520"/>
            </a:xfrm>
            <a:custGeom>
              <a:avLst/>
              <a:gdLst/>
              <a:ahLst/>
              <a:cxnLst/>
              <a:rect r="r" b="b" t="t" l="l"/>
              <a:pathLst>
                <a:path h="731520" w="5382768">
                  <a:moveTo>
                    <a:pt x="0" y="0"/>
                  </a:moveTo>
                  <a:lnTo>
                    <a:pt x="5382768" y="0"/>
                  </a:lnTo>
                  <a:lnTo>
                    <a:pt x="538276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3377" r="0" b="-93377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538276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REDE EXTERNA REAL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7123176" y="5996940"/>
            <a:ext cx="4037076" cy="223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API mockada localmente. Nenhum dado sobrevivia fora do dispositivo.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12051792" y="3497580"/>
            <a:ext cx="4997196" cy="4937760"/>
            <a:chOff x="0" y="0"/>
            <a:chExt cx="6662928" cy="658368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662928" cy="6583680"/>
            </a:xfrm>
            <a:custGeom>
              <a:avLst/>
              <a:gdLst/>
              <a:ahLst/>
              <a:cxnLst/>
              <a:rect r="r" b="b" t="t" l="l"/>
              <a:pathLst>
                <a:path h="65836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6583680"/>
                  </a:lnTo>
                  <a:lnTo>
                    <a:pt x="0" y="658368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2531852" y="3909060"/>
            <a:ext cx="4037076" cy="1508760"/>
            <a:chOff x="0" y="0"/>
            <a:chExt cx="5382768" cy="20116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382768" cy="2011680"/>
            </a:xfrm>
            <a:custGeom>
              <a:avLst/>
              <a:gdLst/>
              <a:ahLst/>
              <a:cxnLst/>
              <a:rect r="r" b="b" t="t" l="l"/>
              <a:pathLst>
                <a:path h="2011680" w="5382768">
                  <a:moveTo>
                    <a:pt x="0" y="0"/>
                  </a:moveTo>
                  <a:lnTo>
                    <a:pt x="5382768" y="0"/>
                  </a:lnTo>
                  <a:lnTo>
                    <a:pt x="538276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137" r="0" b="-213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9525"/>
              <a:ext cx="5382768" cy="2021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0080"/>
                </a:lnSpc>
              </a:pPr>
              <a:r>
                <a:rPr lang="en-US" b="true" sz="8400">
                  <a:solidFill>
                    <a:srgbClr val="C87D0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?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2531852" y="5417820"/>
            <a:ext cx="4037076" cy="548640"/>
            <a:chOff x="0" y="0"/>
            <a:chExt cx="5382768" cy="7315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382768" cy="731520"/>
            </a:xfrm>
            <a:custGeom>
              <a:avLst/>
              <a:gdLst/>
              <a:ahLst/>
              <a:cxnLst/>
              <a:rect r="r" b="b" t="t" l="l"/>
              <a:pathLst>
                <a:path h="731520" w="5382768">
                  <a:moveTo>
                    <a:pt x="0" y="0"/>
                  </a:moveTo>
                  <a:lnTo>
                    <a:pt x="5382768" y="0"/>
                  </a:lnTo>
                  <a:lnTo>
                    <a:pt x="538276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3377" r="0" b="-93377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538276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PRONTO PRA VIDA REAL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2531852" y="5996940"/>
            <a:ext cx="4037076" cy="22326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Bonito e funcional — mas ainda um protótipo, não uma plataforma.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2057400"/>
            <a:ext cx="10972800" cy="548640"/>
            <a:chOff x="0" y="0"/>
            <a:chExt cx="14630400" cy="731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731520"/>
            </a:xfrm>
            <a:custGeom>
              <a:avLst/>
              <a:gdLst/>
              <a:ahLst/>
              <a:cxnLst/>
              <a:rect r="r" b="b" t="t" l="l"/>
              <a:pathLst>
                <a:path h="73152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SPRINT 2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65860" y="2674620"/>
            <a:ext cx="14401800" cy="2606040"/>
            <a:chOff x="0" y="0"/>
            <a:chExt cx="19202400" cy="34747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92024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7680" r="0" b="-576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9202400" cy="3493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b="true" sz="66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 protótipo ganha um</a:t>
              </a:r>
            </a:p>
            <a:p>
              <a:pPr algn="l">
                <a:lnSpc>
                  <a:spcPts val="7920"/>
                </a:lnSpc>
              </a:pPr>
              <a:r>
                <a:rPr lang="en-US" b="true" sz="66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backend de verdade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5678424"/>
            <a:ext cx="192024" cy="192024"/>
            <a:chOff x="0" y="0"/>
            <a:chExt cx="256032" cy="25603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714500" y="5458968"/>
            <a:ext cx="12344400" cy="617220"/>
            <a:chOff x="0" y="0"/>
            <a:chExt cx="16459200" cy="8229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459200" cy="822960"/>
            </a:xfrm>
            <a:custGeom>
              <a:avLst/>
              <a:gdLst/>
              <a:ahLst/>
              <a:cxnLst/>
              <a:rect r="r" b="b" t="t" l="l"/>
              <a:pathLst>
                <a:path h="82296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64592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APIs completas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4440" y="6528816"/>
            <a:ext cx="192024" cy="192024"/>
            <a:chOff x="0" y="0"/>
            <a:chExt cx="256032" cy="25603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714500" y="6309360"/>
            <a:ext cx="12344400" cy="617220"/>
            <a:chOff x="0" y="0"/>
            <a:chExt cx="16459200" cy="82296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459200" cy="822960"/>
            </a:xfrm>
            <a:custGeom>
              <a:avLst/>
              <a:gdLst/>
              <a:ahLst/>
              <a:cxnLst/>
              <a:rect r="r" b="b" t="t" l="l"/>
              <a:pathLst>
                <a:path h="82296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57150"/>
              <a:ext cx="164592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Autenticação e permissões reais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234440" y="7379208"/>
            <a:ext cx="192024" cy="192024"/>
            <a:chOff x="0" y="0"/>
            <a:chExt cx="256032" cy="25603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714500" y="7159752"/>
            <a:ext cx="12344400" cy="617220"/>
            <a:chOff x="0" y="0"/>
            <a:chExt cx="16459200" cy="8229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459200" cy="822960"/>
            </a:xfrm>
            <a:custGeom>
              <a:avLst/>
              <a:gdLst/>
              <a:ahLst/>
              <a:cxnLst/>
              <a:rect r="r" b="b" t="t" l="l"/>
              <a:pathLst>
                <a:path h="82296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164592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IA de verdade, não simulada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234440" y="8229600"/>
            <a:ext cx="192024" cy="192024"/>
            <a:chOff x="0" y="0"/>
            <a:chExt cx="256032" cy="25603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56032" cy="256032"/>
            </a:xfrm>
            <a:custGeom>
              <a:avLst/>
              <a:gdLst/>
              <a:ahLst/>
              <a:cxnLst/>
              <a:rect r="r" b="b" t="t" l="l"/>
              <a:pathLst>
                <a:path h="256032" w="256032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cubicBezTo>
                    <a:pt x="198755" y="0"/>
                    <a:pt x="256032" y="57277"/>
                    <a:pt x="256032" y="128016"/>
                  </a:cubicBezTo>
                  <a:cubicBezTo>
                    <a:pt x="256032" y="198755"/>
                    <a:pt x="198755" y="256032"/>
                    <a:pt x="128016" y="256032"/>
                  </a:cubicBezTo>
                  <a:cubicBezTo>
                    <a:pt x="57277" y="256032"/>
                    <a:pt x="0" y="198755"/>
                    <a:pt x="0" y="128016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714500" y="8010144"/>
            <a:ext cx="12344400" cy="617220"/>
            <a:chOff x="0" y="0"/>
            <a:chExt cx="16459200" cy="8229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6459200" cy="822960"/>
            </a:xfrm>
            <a:custGeom>
              <a:avLst/>
              <a:gdLst/>
              <a:ahLst/>
              <a:cxnLst/>
              <a:rect r="r" b="b" t="t" l="l"/>
              <a:pathLst>
                <a:path h="82296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1645920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Hospedado na nuvem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75438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JORNADA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234440"/>
            <a:ext cx="15499080" cy="960120"/>
            <a:chOff x="0" y="0"/>
            <a:chExt cx="2066544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665439" cy="1280160"/>
            </a:xfrm>
            <a:custGeom>
              <a:avLst/>
              <a:gdLst/>
              <a:ahLst/>
              <a:cxnLst/>
              <a:rect r="r" b="b" t="t" l="l"/>
              <a:pathLst>
                <a:path h="1280160" w="20665439">
                  <a:moveTo>
                    <a:pt x="0" y="0"/>
                  </a:moveTo>
                  <a:lnTo>
                    <a:pt x="20665439" y="0"/>
                  </a:lnTo>
                  <a:lnTo>
                    <a:pt x="20665439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64544" r="0" b="-264544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66544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b="true" sz="48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 uma ideia solta a um resultado no board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194560"/>
            <a:ext cx="15087600" cy="685800"/>
            <a:chOff x="0" y="0"/>
            <a:chExt cx="2011680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2011680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Vamos acompanhar uma ideia real, passo a passo, do primeiro toque na tela ao dashboard da liderança.</a:t>
              </a:r>
            </a:p>
          </p:txBody>
        </p:sp>
      </p:grpSp>
      <p:sp>
        <p:nvSpPr>
          <p:cNvPr name="AutoShape 11" id="11"/>
          <p:cNvSpPr/>
          <p:nvPr/>
        </p:nvSpPr>
        <p:spPr>
          <a:xfrm rot="10320">
            <a:off x="2796816" y="4928235"/>
            <a:ext cx="12689796" cy="0"/>
          </a:xfrm>
          <a:prstGeom prst="line">
            <a:avLst/>
          </a:prstGeom>
          <a:ln cap="rnd" w="19050">
            <a:solidFill>
              <a:srgbClr val="D8D8D6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" id="12"/>
          <p:cNvGrpSpPr/>
          <p:nvPr/>
        </p:nvGrpSpPr>
        <p:grpSpPr>
          <a:xfrm rot="0">
            <a:off x="2267255" y="4389120"/>
            <a:ext cx="1097280" cy="1097280"/>
            <a:chOff x="0" y="0"/>
            <a:chExt cx="1463040" cy="14630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267255" y="4389120"/>
            <a:ext cx="1097280" cy="1097280"/>
            <a:chOff x="0" y="0"/>
            <a:chExt cx="1463040" cy="14630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1463040" cy="1463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95"/>
                </a:lnSpc>
              </a:pPr>
              <a:r>
                <a:rPr lang="en-US" b="true" sz="4079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34440" y="5692140"/>
            <a:ext cx="3162910" cy="411480"/>
            <a:chOff x="0" y="0"/>
            <a:chExt cx="4217213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217212" cy="548640"/>
            </a:xfrm>
            <a:custGeom>
              <a:avLst/>
              <a:gdLst/>
              <a:ahLst/>
              <a:cxnLst/>
              <a:rect r="r" b="b" t="t" l="l"/>
              <a:pathLst>
                <a:path h="548640" w="4217212">
                  <a:moveTo>
                    <a:pt x="0" y="0"/>
                  </a:moveTo>
                  <a:lnTo>
                    <a:pt x="4217212" y="0"/>
                  </a:lnTo>
                  <a:lnTo>
                    <a:pt x="421721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9774" r="0" b="-99774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4217213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OPERADOR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97280" y="6103620"/>
            <a:ext cx="3437230" cy="960120"/>
            <a:chOff x="0" y="0"/>
            <a:chExt cx="4582973" cy="12801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82972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82972">
                  <a:moveTo>
                    <a:pt x="0" y="0"/>
                  </a:moveTo>
                  <a:lnTo>
                    <a:pt x="4582972" y="0"/>
                  </a:lnTo>
                  <a:lnTo>
                    <a:pt x="458297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756" r="0" b="-1975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4582973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Registra a ideia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30164" y="4389120"/>
            <a:ext cx="1097280" cy="1097280"/>
            <a:chOff x="0" y="0"/>
            <a:chExt cx="1463040" cy="1463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5430164" y="4389120"/>
            <a:ext cx="1097280" cy="1097280"/>
            <a:chOff x="0" y="0"/>
            <a:chExt cx="1463040" cy="14630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1463040" cy="1463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95"/>
                </a:lnSpc>
              </a:pPr>
              <a:r>
                <a:rPr lang="en-US" b="true" sz="4079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4397350" y="5692140"/>
            <a:ext cx="3162910" cy="411480"/>
            <a:chOff x="0" y="0"/>
            <a:chExt cx="4217213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217212" cy="548640"/>
            </a:xfrm>
            <a:custGeom>
              <a:avLst/>
              <a:gdLst/>
              <a:ahLst/>
              <a:cxnLst/>
              <a:rect r="r" b="b" t="t" l="l"/>
              <a:pathLst>
                <a:path h="548640" w="4217212">
                  <a:moveTo>
                    <a:pt x="0" y="0"/>
                  </a:moveTo>
                  <a:lnTo>
                    <a:pt x="4217212" y="0"/>
                  </a:lnTo>
                  <a:lnTo>
                    <a:pt x="421721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9774" r="0" b="-99774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4217213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 + IA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4260190" y="6103620"/>
            <a:ext cx="3437230" cy="960120"/>
            <a:chOff x="0" y="0"/>
            <a:chExt cx="4582973" cy="12801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582972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82972">
                  <a:moveTo>
                    <a:pt x="0" y="0"/>
                  </a:moveTo>
                  <a:lnTo>
                    <a:pt x="4582972" y="0"/>
                  </a:lnTo>
                  <a:lnTo>
                    <a:pt x="458297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756" r="0" b="-19756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4582973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Prioriza e pontua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8593074" y="4389120"/>
            <a:ext cx="1097280" cy="1097280"/>
            <a:chOff x="0" y="0"/>
            <a:chExt cx="1463040" cy="14630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8593074" y="4389120"/>
            <a:ext cx="1097280" cy="1097280"/>
            <a:chOff x="0" y="0"/>
            <a:chExt cx="1463040" cy="14630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0"/>
              <a:ext cx="1463040" cy="1463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95"/>
                </a:lnSpc>
              </a:pPr>
              <a:r>
                <a:rPr lang="en-US" b="true" sz="4079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560259" y="5692140"/>
            <a:ext cx="3162910" cy="411480"/>
            <a:chOff x="0" y="0"/>
            <a:chExt cx="4217213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217212" cy="548640"/>
            </a:xfrm>
            <a:custGeom>
              <a:avLst/>
              <a:gdLst/>
              <a:ahLst/>
              <a:cxnLst/>
              <a:rect r="r" b="b" t="t" l="l"/>
              <a:pathLst>
                <a:path h="548640" w="4217212">
                  <a:moveTo>
                    <a:pt x="0" y="0"/>
                  </a:moveTo>
                  <a:lnTo>
                    <a:pt x="4217212" y="0"/>
                  </a:lnTo>
                  <a:lnTo>
                    <a:pt x="421721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9774" r="0" b="-99774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19050"/>
              <a:ext cx="4217213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7423099" y="6103620"/>
            <a:ext cx="3437230" cy="960120"/>
            <a:chOff x="0" y="0"/>
            <a:chExt cx="4582973" cy="12801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582972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82972">
                  <a:moveTo>
                    <a:pt x="0" y="0"/>
                  </a:moveTo>
                  <a:lnTo>
                    <a:pt x="4582972" y="0"/>
                  </a:lnTo>
                  <a:lnTo>
                    <a:pt x="458297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756" r="0" b="-19756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4582973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Ideia vira projeto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1755984" y="4389120"/>
            <a:ext cx="1097280" cy="1097280"/>
            <a:chOff x="0" y="0"/>
            <a:chExt cx="1463040" cy="14630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1755984" y="4389120"/>
            <a:ext cx="1097280" cy="1097280"/>
            <a:chOff x="0" y="0"/>
            <a:chExt cx="1463040" cy="14630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0"/>
              <a:ext cx="1463040" cy="1463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95"/>
                </a:lnSpc>
              </a:pPr>
              <a:r>
                <a:rPr lang="en-US" b="true" sz="4079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723169" y="5692140"/>
            <a:ext cx="3162910" cy="411480"/>
            <a:chOff x="0" y="0"/>
            <a:chExt cx="4217213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217212" cy="548640"/>
            </a:xfrm>
            <a:custGeom>
              <a:avLst/>
              <a:gdLst/>
              <a:ahLst/>
              <a:cxnLst/>
              <a:rect r="r" b="b" t="t" l="l"/>
              <a:pathLst>
                <a:path h="548640" w="4217212">
                  <a:moveTo>
                    <a:pt x="0" y="0"/>
                  </a:moveTo>
                  <a:lnTo>
                    <a:pt x="4217212" y="0"/>
                  </a:lnTo>
                  <a:lnTo>
                    <a:pt x="421721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9774" r="0" b="-99774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19050"/>
              <a:ext cx="4217213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0586009" y="6103620"/>
            <a:ext cx="3437230" cy="960120"/>
            <a:chOff x="0" y="0"/>
            <a:chExt cx="4582973" cy="12801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582972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82972">
                  <a:moveTo>
                    <a:pt x="0" y="0"/>
                  </a:moveTo>
                  <a:lnTo>
                    <a:pt x="4582972" y="0"/>
                  </a:lnTo>
                  <a:lnTo>
                    <a:pt x="458297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756" r="0" b="-19756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4582973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Executa e mede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4918893" y="4389120"/>
            <a:ext cx="1097280" cy="1097280"/>
            <a:chOff x="0" y="0"/>
            <a:chExt cx="1463040" cy="14630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731520"/>
                  </a:moveTo>
                  <a:cubicBezTo>
                    <a:pt x="0" y="327533"/>
                    <a:pt x="327533" y="0"/>
                    <a:pt x="731520" y="0"/>
                  </a:cubicBezTo>
                  <a:cubicBezTo>
                    <a:pt x="1135507" y="0"/>
                    <a:pt x="1463040" y="327533"/>
                    <a:pt x="1463040" y="731520"/>
                  </a:cubicBezTo>
                  <a:cubicBezTo>
                    <a:pt x="1463040" y="1135507"/>
                    <a:pt x="1135507" y="1463040"/>
                    <a:pt x="731520" y="1463040"/>
                  </a:cubicBezTo>
                  <a:cubicBezTo>
                    <a:pt x="327533" y="1463040"/>
                    <a:pt x="0" y="1135507"/>
                    <a:pt x="0" y="73152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4918893" y="4389120"/>
            <a:ext cx="1097280" cy="1097280"/>
            <a:chOff x="0" y="0"/>
            <a:chExt cx="1463040" cy="14630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146304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463040">
                  <a:moveTo>
                    <a:pt x="0" y="0"/>
                  </a:moveTo>
                  <a:lnTo>
                    <a:pt x="1463040" y="0"/>
                  </a:lnTo>
                  <a:lnTo>
                    <a:pt x="146304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0"/>
              <a:ext cx="1463040" cy="14630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95"/>
                </a:lnSpc>
              </a:pPr>
              <a:r>
                <a:rPr lang="en-US" b="true" sz="4079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3886078" y="5692140"/>
            <a:ext cx="3162910" cy="411480"/>
            <a:chOff x="0" y="0"/>
            <a:chExt cx="4217213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4217212" cy="548640"/>
            </a:xfrm>
            <a:custGeom>
              <a:avLst/>
              <a:gdLst/>
              <a:ahLst/>
              <a:cxnLst/>
              <a:rect r="r" b="b" t="t" l="l"/>
              <a:pathLst>
                <a:path h="548640" w="4217212">
                  <a:moveTo>
                    <a:pt x="0" y="0"/>
                  </a:moveTo>
                  <a:lnTo>
                    <a:pt x="4217212" y="0"/>
                  </a:lnTo>
                  <a:lnTo>
                    <a:pt x="421721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9774" r="0" b="-99774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19050"/>
              <a:ext cx="4217213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LÍDER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3748918" y="6103620"/>
            <a:ext cx="3437230" cy="960120"/>
            <a:chOff x="0" y="0"/>
            <a:chExt cx="4582973" cy="128016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4582972" cy="1280160"/>
            </a:xfrm>
            <a:custGeom>
              <a:avLst/>
              <a:gdLst/>
              <a:ahLst/>
              <a:cxnLst/>
              <a:rect r="r" b="b" t="t" l="l"/>
              <a:pathLst>
                <a:path h="1280160" w="4582972">
                  <a:moveTo>
                    <a:pt x="0" y="0"/>
                  </a:moveTo>
                  <a:lnTo>
                    <a:pt x="4582972" y="0"/>
                  </a:lnTo>
                  <a:lnTo>
                    <a:pt x="4582972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9756" r="0" b="-19756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47625"/>
              <a:ext cx="4582973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Decide com dados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" y="8641080"/>
            <a:ext cx="15087600" cy="685800"/>
            <a:chOff x="0" y="0"/>
            <a:chExt cx="20116800" cy="9144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011680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sz="1875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Cada passo é uma chamada real de API contra o backend em produção — nada simulado.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309360" cy="10287000"/>
            <a:chOff x="0" y="0"/>
            <a:chExt cx="84124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124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64592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508"/>
                </a:lnSpc>
              </a:pPr>
              <a:r>
                <a:rPr lang="en-US" b="true" sz="459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0120" y="2537460"/>
            <a:ext cx="4663440" cy="480060"/>
            <a:chOff x="0" y="0"/>
            <a:chExt cx="621792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17920" cy="640080"/>
            </a:xfrm>
            <a:custGeom>
              <a:avLst/>
              <a:gdLst/>
              <a:ahLst/>
              <a:cxnLst/>
              <a:rect r="r" b="b" t="t" l="l"/>
              <a:pathLst>
                <a:path h="64008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283" r="0" b="-13928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217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OPERADOR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60120" y="3017520"/>
            <a:ext cx="4800600" cy="2057400"/>
            <a:chOff x="0" y="0"/>
            <a:chExt cx="6400800" cy="274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08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87" t="0" r="-498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6400800" cy="2752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Registra a ideia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60120" y="5301615"/>
            <a:ext cx="4800600" cy="3750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C7CEDD"/>
                </a:solidFill>
                <a:latin typeface="Calibri (MS)"/>
                <a:ea typeface="Calibri (MS)"/>
                <a:cs typeface="Calibri (MS)"/>
                <a:sym typeface="Calibri (MS)"/>
              </a:rPr>
              <a:t>É terça de manhã. Um operador percebe que o checklist de inspeção em papel está gerando atraso na saída da frota. Em menos de um minuto, registra isso direto do celular.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858000" y="891540"/>
            <a:ext cx="10602468" cy="1234440"/>
            <a:chOff x="0" y="0"/>
            <a:chExt cx="14136624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1366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7354" r="0" b="-11735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413662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Uma dor operacional vira dado estruturado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0" y="2331720"/>
            <a:ext cx="10602468" cy="1303020"/>
            <a:chOff x="0" y="0"/>
            <a:chExt cx="14136624" cy="1737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200900" y="2468880"/>
            <a:ext cx="9916668" cy="438912"/>
            <a:chOff x="0" y="0"/>
            <a:chExt cx="13222224" cy="5852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TÍTULO E CATEGORIA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200900" y="284226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"Automatizar checklist de inspeção" · Processo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858000" y="3840480"/>
            <a:ext cx="10602468" cy="1303020"/>
            <a:chOff x="0" y="0"/>
            <a:chExt cx="14136624" cy="17373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200900" y="3977640"/>
            <a:ext cx="9916668" cy="438912"/>
            <a:chOff x="0" y="0"/>
            <a:chExt cx="13222224" cy="5852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PROBLEMA, BENEFÍCIOS E RECURSOS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7200900" y="435102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Descrito em texto livre — sem formulário burocrático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858000" y="5349240"/>
            <a:ext cx="10602468" cy="1303020"/>
            <a:chOff x="0" y="0"/>
            <a:chExt cx="14136624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200900" y="5486400"/>
            <a:ext cx="9916668" cy="438912"/>
            <a:chOff x="0" y="0"/>
            <a:chExt cx="13222224" cy="5852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 INICIAL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7200900" y="585978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Aguardando análise do gestor responsável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858000" y="6995160"/>
            <a:ext cx="10602468" cy="754380"/>
            <a:chOff x="0" y="0"/>
            <a:chExt cx="14136624" cy="10058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413662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7132320" y="6995160"/>
            <a:ext cx="10053828" cy="754380"/>
            <a:chOff x="0" y="0"/>
            <a:chExt cx="13405104" cy="1005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340510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3405104">
                  <a:moveTo>
                    <a:pt x="0" y="0"/>
                  </a:moveTo>
                  <a:lnTo>
                    <a:pt x="13405104" y="0"/>
                  </a:lnTo>
                  <a:lnTo>
                    <a:pt x="13405104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682" r="0" b="-20968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3405104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E8B15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POST /api/v1/ideas · JWT do operador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309360" cy="10287000"/>
            <a:chOff x="0" y="0"/>
            <a:chExt cx="84124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124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64592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508"/>
                </a:lnSpc>
              </a:pPr>
              <a:r>
                <a:rPr lang="en-US" b="true" sz="459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0120" y="2537460"/>
            <a:ext cx="4663440" cy="480060"/>
            <a:chOff x="0" y="0"/>
            <a:chExt cx="621792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17920" cy="640080"/>
            </a:xfrm>
            <a:custGeom>
              <a:avLst/>
              <a:gdLst/>
              <a:ahLst/>
              <a:cxnLst/>
              <a:rect r="r" b="b" t="t" l="l"/>
              <a:pathLst>
                <a:path h="64008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283" r="0" b="-13928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217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 + IA REAL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60120" y="3017520"/>
            <a:ext cx="4800600" cy="2057400"/>
            <a:chOff x="0" y="0"/>
            <a:chExt cx="6400800" cy="274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08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87" t="0" r="-498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6400800" cy="2752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Prioriza e pontua com IA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60120" y="5301615"/>
            <a:ext cx="4800600" cy="3750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C7CEDD"/>
                </a:solidFill>
                <a:latin typeface="Calibri (MS)"/>
                <a:ea typeface="Calibri (MS)"/>
                <a:cs typeface="Calibri (MS)"/>
                <a:sym typeface="Calibri (MS)"/>
              </a:rPr>
              <a:t>O gestor abre a fila de pendentes e, em vez de avaliar tudo manualmente, pede a opinião da IA — que analisa a ideia inteira e devolve uma nota fundamentada em segundos.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858000" y="891540"/>
            <a:ext cx="10602468" cy="1234440"/>
            <a:chOff x="0" y="0"/>
            <a:chExt cx="14136624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1366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7354" r="0" b="-11735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413662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Google Gemini entra na decisão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0" y="2331720"/>
            <a:ext cx="10602468" cy="1303020"/>
            <a:chOff x="0" y="0"/>
            <a:chExt cx="14136624" cy="1737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200900" y="2468880"/>
            <a:ext cx="9916668" cy="438912"/>
            <a:chOff x="0" y="0"/>
            <a:chExt cx="13222224" cy="5852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 IA ANALISA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200900" y="284226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Título, categoria, descrição, problema, benefícios e recursos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858000" y="3840480"/>
            <a:ext cx="10602468" cy="1303020"/>
            <a:chOff x="0" y="0"/>
            <a:chExt cx="14136624" cy="17373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200900" y="3977640"/>
            <a:ext cx="9916668" cy="438912"/>
            <a:chOff x="0" y="0"/>
            <a:chExt cx="13222224" cy="5852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DEVOLVE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7200900" y="435102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Nota de 0 a 100 (aiScore) + justificativa em texto (aiJustification)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858000" y="5349240"/>
            <a:ext cx="10602468" cy="1303020"/>
            <a:chOff x="0" y="0"/>
            <a:chExt cx="14136624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200900" y="5486400"/>
            <a:ext cx="9916668" cy="438912"/>
            <a:chOff x="0" y="0"/>
            <a:chExt cx="13222224" cy="5852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 GESTOR DECIDE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7200900" y="585978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Aprova, rejeita ou pede mais informação — a IA orienta, não substitui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858000" y="6995160"/>
            <a:ext cx="10602468" cy="754380"/>
            <a:chOff x="0" y="0"/>
            <a:chExt cx="14136624" cy="10058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413662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7132320" y="6995160"/>
            <a:ext cx="10053828" cy="754380"/>
            <a:chOff x="0" y="0"/>
            <a:chExt cx="13405104" cy="1005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340510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3405104">
                  <a:moveTo>
                    <a:pt x="0" y="0"/>
                  </a:moveTo>
                  <a:lnTo>
                    <a:pt x="13405104" y="0"/>
                  </a:lnTo>
                  <a:lnTo>
                    <a:pt x="13405104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682" r="0" b="-20968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3405104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E8B15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POST /api/v1/ideas/{id}/ai-score · Google Gemini API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309360" cy="10287000"/>
            <a:chOff x="0" y="0"/>
            <a:chExt cx="84124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124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64592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508"/>
                </a:lnSpc>
              </a:pPr>
              <a:r>
                <a:rPr lang="en-US" b="true" sz="459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0120" y="2537460"/>
            <a:ext cx="4663440" cy="480060"/>
            <a:chOff x="0" y="0"/>
            <a:chExt cx="621792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17920" cy="640080"/>
            </a:xfrm>
            <a:custGeom>
              <a:avLst/>
              <a:gdLst/>
              <a:ahLst/>
              <a:cxnLst/>
              <a:rect r="r" b="b" t="t" l="l"/>
              <a:pathLst>
                <a:path h="64008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283" r="0" b="-13928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217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60120" y="3017520"/>
            <a:ext cx="4800600" cy="2057400"/>
            <a:chOff x="0" y="0"/>
            <a:chExt cx="6400800" cy="274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08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87" t="0" r="-498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6400800" cy="2752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 ideia vira projeto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60120" y="5301615"/>
            <a:ext cx="4800600" cy="3750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C7CEDD"/>
                </a:solidFill>
                <a:latin typeface="Calibri (MS)"/>
                <a:ea typeface="Calibri (MS)"/>
                <a:cs typeface="Calibri (MS)"/>
                <a:sym typeface="Calibri (MS)"/>
              </a:rPr>
              <a:t>Ideia aprovada com nota alta pela IA e pelo gestor. Um clique transforma a ideia em uma iniciativa real, já conectada à orientação estratégica vigente da liderança.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858000" y="891540"/>
            <a:ext cx="10602468" cy="1234440"/>
            <a:chOff x="0" y="0"/>
            <a:chExt cx="14136624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1366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7354" r="0" b="-11735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413662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Do papel à estrutura de um projeto real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0" y="2331720"/>
            <a:ext cx="10602468" cy="1303020"/>
            <a:chOff x="0" y="0"/>
            <a:chExt cx="14136624" cy="1737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200900" y="2468880"/>
            <a:ext cx="9916668" cy="438912"/>
            <a:chOff x="0" y="0"/>
            <a:chExt cx="13222224" cy="5852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VÍNCULO ESTRATÉGICO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200900" y="284226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Projeto associado a uma orientação da liderança (ex: Eficiência Operacional 2026)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858000" y="3840480"/>
            <a:ext cx="10602468" cy="1303020"/>
            <a:chOff x="0" y="0"/>
            <a:chExt cx="14136624" cy="17373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200900" y="3977640"/>
            <a:ext cx="9916668" cy="438912"/>
            <a:chOff x="0" y="0"/>
            <a:chExt cx="13222224" cy="5852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PLANEJAMENTO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7200900" y="435102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Sponsor, marcos iniciais, equipe, investimento e ROI previsto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858000" y="5349240"/>
            <a:ext cx="10602468" cy="1303020"/>
            <a:chOff x="0" y="0"/>
            <a:chExt cx="14136624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200900" y="5486400"/>
            <a:ext cx="9916668" cy="438912"/>
            <a:chOff x="0" y="0"/>
            <a:chExt cx="13222224" cy="5852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7200900" y="585978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A ideia de origem passa a EM_PROJETO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858000" y="6995160"/>
            <a:ext cx="10602468" cy="754380"/>
            <a:chOff x="0" y="0"/>
            <a:chExt cx="14136624" cy="10058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413662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7132320" y="6995160"/>
            <a:ext cx="10053828" cy="754380"/>
            <a:chOff x="0" y="0"/>
            <a:chExt cx="13405104" cy="1005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340510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3405104">
                  <a:moveTo>
                    <a:pt x="0" y="0"/>
                  </a:moveTo>
                  <a:lnTo>
                    <a:pt x="13405104" y="0"/>
                  </a:lnTo>
                  <a:lnTo>
                    <a:pt x="13405104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682" r="0" b="-20968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3405104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E8B15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POST /api/v1/projects · PATCH /api/v1/ideas/{id}/review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07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309360" cy="10287000"/>
            <a:chOff x="0" y="0"/>
            <a:chExt cx="84124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124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64592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508"/>
                </a:lnSpc>
              </a:pPr>
              <a:r>
                <a:rPr lang="en-US" b="true" sz="459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0120" y="2537460"/>
            <a:ext cx="4663440" cy="480060"/>
            <a:chOff x="0" y="0"/>
            <a:chExt cx="621792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17920" cy="640080"/>
            </a:xfrm>
            <a:custGeom>
              <a:avLst/>
              <a:gdLst/>
              <a:ahLst/>
              <a:cxnLst/>
              <a:rect r="r" b="b" t="t" l="l"/>
              <a:pathLst>
                <a:path h="64008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283" r="0" b="-13928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217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60120" y="3017520"/>
            <a:ext cx="4800600" cy="2057400"/>
            <a:chOff x="0" y="0"/>
            <a:chExt cx="6400800" cy="274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08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87" t="0" r="-498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6400800" cy="2752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Executa e mede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60120" y="5301615"/>
            <a:ext cx="4800600" cy="3750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C7CEDD"/>
                </a:solidFill>
                <a:latin typeface="Calibri (MS)"/>
                <a:ea typeface="Calibri (MS)"/>
                <a:cs typeface="Calibri (MS)"/>
                <a:sym typeface="Calibri (MS)"/>
              </a:rPr>
              <a:t>Semanas depois, o checklist digital já está em uso. O gestor volta ao app periodicamente para atualizar o progresso, os marcos concluídos e o retorno financeiro real obtido até aqui.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858000" y="891540"/>
            <a:ext cx="10602468" cy="1234440"/>
            <a:chOff x="0" y="0"/>
            <a:chExt cx="14136624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1366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7354" r="0" b="-11735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413662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 projeto deixa de ser uma promessa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0" y="2331720"/>
            <a:ext cx="10602468" cy="1303020"/>
            <a:chOff x="0" y="0"/>
            <a:chExt cx="14136624" cy="1737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200900" y="2468880"/>
            <a:ext cx="9916668" cy="438912"/>
            <a:chOff x="0" y="0"/>
            <a:chExt cx="13222224" cy="5852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PROGRESSO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200900" y="284226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Percentual de execução e status (planejamento → em andamento → concluído)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858000" y="3840480"/>
            <a:ext cx="10602468" cy="1303020"/>
            <a:chOff x="0" y="0"/>
            <a:chExt cx="14136624" cy="17373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200900" y="3977640"/>
            <a:ext cx="9916668" cy="438912"/>
            <a:chOff x="0" y="0"/>
            <a:chExt cx="13222224" cy="5852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MARCOS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7200900" y="435102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Cada etapa com prazo e status próprio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858000" y="5349240"/>
            <a:ext cx="10602468" cy="1303020"/>
            <a:chOff x="0" y="0"/>
            <a:chExt cx="14136624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200900" y="5486400"/>
            <a:ext cx="9916668" cy="438912"/>
            <a:chOff x="0" y="0"/>
            <a:chExt cx="13222224" cy="5852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ROI REALIZADO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7200900" y="585978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Atualizado conforme o resultado real chega — não é mais só estimativa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858000" y="6995160"/>
            <a:ext cx="10602468" cy="754380"/>
            <a:chOff x="0" y="0"/>
            <a:chExt cx="14136624" cy="10058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413662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7132320" y="6995160"/>
            <a:ext cx="10053828" cy="754380"/>
            <a:chOff x="0" y="0"/>
            <a:chExt cx="13405104" cy="1005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340510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3405104">
                  <a:moveTo>
                    <a:pt x="0" y="0"/>
                  </a:moveTo>
                  <a:lnTo>
                    <a:pt x="13405104" y="0"/>
                  </a:lnTo>
                  <a:lnTo>
                    <a:pt x="13405104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682" r="0" b="-20968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3405104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E8B15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PATCH /api/v1/projects/{id}/progress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08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309360" cy="10287000"/>
            <a:chOff x="0" y="0"/>
            <a:chExt cx="84124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124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822960"/>
                  </a:moveTo>
                  <a:cubicBezTo>
                    <a:pt x="0" y="368427"/>
                    <a:pt x="368427" y="0"/>
                    <a:pt x="822960" y="0"/>
                  </a:cubicBezTo>
                  <a:cubicBezTo>
                    <a:pt x="1277493" y="0"/>
                    <a:pt x="1645920" y="368427"/>
                    <a:pt x="1645920" y="822960"/>
                  </a:cubicBezTo>
                  <a:cubicBezTo>
                    <a:pt x="1645920" y="1277493"/>
                    <a:pt x="1277493" y="1645920"/>
                    <a:pt x="822960" y="1645920"/>
                  </a:cubicBezTo>
                  <a:cubicBezTo>
                    <a:pt x="368427" y="1645920"/>
                    <a:pt x="0" y="1277493"/>
                    <a:pt x="0" y="82296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60120" y="960120"/>
            <a:ext cx="1234440" cy="1234440"/>
            <a:chOff x="0" y="0"/>
            <a:chExt cx="1645920" cy="164592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45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1645920">
                  <a:moveTo>
                    <a:pt x="0" y="0"/>
                  </a:moveTo>
                  <a:lnTo>
                    <a:pt x="1645920" y="0"/>
                  </a:lnTo>
                  <a:lnTo>
                    <a:pt x="16459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9525"/>
              <a:ext cx="1645920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508"/>
                </a:lnSpc>
              </a:pPr>
              <a:r>
                <a:rPr lang="en-US" b="true" sz="459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5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0120" y="2537460"/>
            <a:ext cx="4663440" cy="480060"/>
            <a:chOff x="0" y="0"/>
            <a:chExt cx="621792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217920" cy="640080"/>
            </a:xfrm>
            <a:custGeom>
              <a:avLst/>
              <a:gdLst/>
              <a:ahLst/>
              <a:cxnLst/>
              <a:rect r="r" b="b" t="t" l="l"/>
              <a:pathLst>
                <a:path h="64008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283" r="0" b="-139283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6217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LIDERANÇA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60120" y="3017520"/>
            <a:ext cx="4800600" cy="2057400"/>
            <a:chOff x="0" y="0"/>
            <a:chExt cx="6400800" cy="2743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08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4987" t="0" r="-498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6400800" cy="27527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Decide com dados reais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60120" y="5301615"/>
            <a:ext cx="4800600" cy="3750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C7CEDD"/>
                </a:solidFill>
                <a:latin typeface="Calibri (MS)"/>
                <a:ea typeface="Calibri (MS)"/>
                <a:cs typeface="Calibri (MS)"/>
                <a:sym typeface="Calibri (MS)"/>
              </a:rPr>
              <a:t>No fim do mês, a liderança abre o dashboard — não uma planilha remendada, mas um resumo estruturado, calculado no backend, agregando cada ideia e cada projeto do período.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858000" y="891540"/>
            <a:ext cx="10602468" cy="1234440"/>
            <a:chOff x="0" y="0"/>
            <a:chExt cx="14136624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136624" cy="1645920"/>
            </a:xfrm>
            <a:custGeom>
              <a:avLst/>
              <a:gdLst/>
              <a:ahLst/>
              <a:cxnLst/>
              <a:rect r="r" b="b" t="t" l="l"/>
              <a:pathLst>
                <a:path h="164592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7354" r="0" b="-11735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14136624" cy="16554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Da operação ao board, em tempo real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0" y="2331720"/>
            <a:ext cx="10602468" cy="1303020"/>
            <a:chOff x="0" y="0"/>
            <a:chExt cx="14136624" cy="173736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7200900" y="2468880"/>
            <a:ext cx="9916668" cy="438912"/>
            <a:chOff x="0" y="0"/>
            <a:chExt cx="13222224" cy="58521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RESUMO GERAL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7200900" y="284226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Ideias submetidas/aprovadas, taxa de conversão, ROI total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858000" y="3840480"/>
            <a:ext cx="10602468" cy="1303020"/>
            <a:chOff x="0" y="0"/>
            <a:chExt cx="14136624" cy="17373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7200900" y="3977640"/>
            <a:ext cx="9916668" cy="438912"/>
            <a:chOff x="0" y="0"/>
            <a:chExt cx="13222224" cy="585216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POR PROJETO E POR ESTRATÉGIA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7200900" y="435102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Retorno específico de cada iniciativa e de cada orientação estratégica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858000" y="5349240"/>
            <a:ext cx="10602468" cy="1303020"/>
            <a:chOff x="0" y="0"/>
            <a:chExt cx="14136624" cy="1737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136624" cy="1737360"/>
            </a:xfrm>
            <a:custGeom>
              <a:avLst/>
              <a:gdLst/>
              <a:ahLst/>
              <a:cxnLst/>
              <a:rect r="r" b="b" t="t" l="l"/>
              <a:pathLst>
                <a:path h="173736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737360"/>
                  </a:lnTo>
                  <a:lnTo>
                    <a:pt x="0" y="173736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7200900" y="5486400"/>
            <a:ext cx="9916668" cy="438912"/>
            <a:chOff x="0" y="0"/>
            <a:chExt cx="13222224" cy="585216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3222224" cy="585216"/>
            </a:xfrm>
            <a:custGeom>
              <a:avLst/>
              <a:gdLst/>
              <a:ahLst/>
              <a:cxnLst/>
              <a:rect r="r" b="b" t="t" l="l"/>
              <a:pathLst>
                <a:path h="585216" w="13222224">
                  <a:moveTo>
                    <a:pt x="0" y="0"/>
                  </a:moveTo>
                  <a:lnTo>
                    <a:pt x="13222224" y="0"/>
                  </a:lnTo>
                  <a:lnTo>
                    <a:pt x="1322222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0240" r="0" b="-39024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13222224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PRÓXIMO PASSO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7200900" y="5859780"/>
            <a:ext cx="9916668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Criar novas orientações estratégicas para guiar o próximo ciclo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6858000" y="6995160"/>
            <a:ext cx="10602468" cy="754380"/>
            <a:chOff x="0" y="0"/>
            <a:chExt cx="14136624" cy="10058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413662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005840"/>
                  </a:lnTo>
                  <a:lnTo>
                    <a:pt x="0" y="100584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7132320" y="6995160"/>
            <a:ext cx="10053828" cy="754380"/>
            <a:chOff x="0" y="0"/>
            <a:chExt cx="13405104" cy="10058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3405104" cy="1005840"/>
            </a:xfrm>
            <a:custGeom>
              <a:avLst/>
              <a:gdLst/>
              <a:ahLst/>
              <a:cxnLst/>
              <a:rect r="r" b="b" t="t" l="l"/>
              <a:pathLst>
                <a:path h="1005840" w="13405104">
                  <a:moveTo>
                    <a:pt x="0" y="0"/>
                  </a:moveTo>
                  <a:lnTo>
                    <a:pt x="13405104" y="0"/>
                  </a:lnTo>
                  <a:lnTo>
                    <a:pt x="13405104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9682" r="0" b="-209682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9525"/>
              <a:ext cx="13405104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E8B15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GET /dashboard/summary · /roi-by-project · /roi-by-strategy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09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3154680"/>
            <a:ext cx="10972800" cy="548640"/>
            <a:chOff x="0" y="0"/>
            <a:chExt cx="14630400" cy="7315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731520"/>
            </a:xfrm>
            <a:custGeom>
              <a:avLst/>
              <a:gdLst/>
              <a:ahLst/>
              <a:cxnLst/>
              <a:rect r="r" b="b" t="t" l="l"/>
              <a:pathLst>
                <a:path h="73152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POR TRÁS DA CENA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165860" y="3771900"/>
            <a:ext cx="14401800" cy="2606040"/>
            <a:chOff x="0" y="0"/>
            <a:chExt cx="19202400" cy="34747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9202400" cy="3474720"/>
            </a:xfrm>
            <a:custGeom>
              <a:avLst/>
              <a:gdLst/>
              <a:ahLst/>
              <a:cxnLst/>
              <a:rect r="r" b="b" t="t" l="l"/>
              <a:pathLst>
                <a:path h="347472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3474720"/>
                  </a:lnTo>
                  <a:lnTo>
                    <a:pt x="0" y="34747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7680" r="0" b="-5768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9202400" cy="34937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920"/>
                </a:lnSpc>
              </a:pPr>
              <a:r>
                <a:rPr lang="en-US" b="true" sz="66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Como isso tudo</a:t>
              </a:r>
            </a:p>
            <a:p>
              <a:pPr algn="l">
                <a:lnSpc>
                  <a:spcPts val="7920"/>
                </a:lnSpc>
              </a:pPr>
              <a:r>
                <a:rPr lang="en-US" b="true" sz="66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funciona de verdade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6172200"/>
            <a:ext cx="12344400" cy="822960"/>
            <a:chOff x="0" y="0"/>
            <a:chExt cx="1645920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4592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6459200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C7CE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Arquitetura, segurança, IA e a especificação técnica que sustenta a jornada que você acabou de ver.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68580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ARQUITETURA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165860"/>
            <a:ext cx="15087600" cy="822960"/>
            <a:chOff x="0" y="0"/>
            <a:chExt cx="20116800" cy="10972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1168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Arquitetura do backend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400300"/>
            <a:ext cx="9875520" cy="1028700"/>
            <a:chOff x="0" y="0"/>
            <a:chExt cx="13167360" cy="13716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1673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577340" y="2510028"/>
            <a:ext cx="9189720" cy="411480"/>
            <a:chOff x="0" y="0"/>
            <a:chExt cx="1225296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252960" cy="548640"/>
            </a:xfrm>
            <a:custGeom>
              <a:avLst/>
              <a:gdLst/>
              <a:ahLst/>
              <a:cxnLst/>
              <a:rect r="r" b="b" t="t" l="l"/>
              <a:pathLst>
                <a:path h="548640" w="12252960">
                  <a:moveTo>
                    <a:pt x="0" y="0"/>
                  </a:moveTo>
                  <a:lnTo>
                    <a:pt x="12252960" y="0"/>
                  </a:lnTo>
                  <a:lnTo>
                    <a:pt x="1225296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165" r="0" b="-38516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225296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APP ANDROID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577340" y="2851785"/>
            <a:ext cx="9189720" cy="5086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Kotlin + Jetpack Compose · MVVM · Retrofit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34440" y="3609137"/>
            <a:ext cx="9875701" cy="1097099"/>
            <a:chOff x="0" y="0"/>
            <a:chExt cx="13167601" cy="146279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167613" cy="1462786"/>
            </a:xfrm>
            <a:custGeom>
              <a:avLst/>
              <a:gdLst/>
              <a:ahLst/>
              <a:cxnLst/>
              <a:rect r="r" b="b" t="t" l="l"/>
              <a:pathLst>
                <a:path h="1462786" w="13167613">
                  <a:moveTo>
                    <a:pt x="0" y="0"/>
                  </a:moveTo>
                  <a:lnTo>
                    <a:pt x="13167613" y="0"/>
                  </a:lnTo>
                  <a:lnTo>
                    <a:pt x="13167613" y="1462786"/>
                  </a:lnTo>
                  <a:lnTo>
                    <a:pt x="0" y="1462786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77264" y="3698234"/>
            <a:ext cx="9189901" cy="411299"/>
            <a:chOff x="0" y="0"/>
            <a:chExt cx="12253201" cy="54839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253200" cy="548400"/>
            </a:xfrm>
            <a:custGeom>
              <a:avLst/>
              <a:gdLst/>
              <a:ahLst/>
              <a:cxnLst/>
              <a:rect r="r" b="b" t="t" l="l"/>
              <a:pathLst>
                <a:path h="548400" w="12253200">
                  <a:moveTo>
                    <a:pt x="0" y="0"/>
                  </a:moveTo>
                  <a:lnTo>
                    <a:pt x="12253200" y="0"/>
                  </a:lnTo>
                  <a:lnTo>
                    <a:pt x="12253200" y="548400"/>
                  </a:lnTo>
                  <a:lnTo>
                    <a:pt x="0" y="54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364" r="0" b="-38536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253201" cy="5864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CONTROLLER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577264" y="4039991"/>
            <a:ext cx="9189901" cy="57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REST endpoints — Auth, Ideas, Projects, Orientations, Notifications, Users, Dashboard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34440" y="4856321"/>
            <a:ext cx="9875701" cy="1097099"/>
            <a:chOff x="0" y="0"/>
            <a:chExt cx="13167601" cy="146279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167613" cy="1462786"/>
            </a:xfrm>
            <a:custGeom>
              <a:avLst/>
              <a:gdLst/>
              <a:ahLst/>
              <a:cxnLst/>
              <a:rect r="r" b="b" t="t" l="l"/>
              <a:pathLst>
                <a:path h="1462786" w="13167613">
                  <a:moveTo>
                    <a:pt x="0" y="0"/>
                  </a:moveTo>
                  <a:lnTo>
                    <a:pt x="13167613" y="0"/>
                  </a:lnTo>
                  <a:lnTo>
                    <a:pt x="13167613" y="1462786"/>
                  </a:lnTo>
                  <a:lnTo>
                    <a:pt x="0" y="1462786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577340" y="4966049"/>
            <a:ext cx="9189901" cy="411299"/>
            <a:chOff x="0" y="0"/>
            <a:chExt cx="12253201" cy="54839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2253200" cy="548400"/>
            </a:xfrm>
            <a:custGeom>
              <a:avLst/>
              <a:gdLst/>
              <a:ahLst/>
              <a:cxnLst/>
              <a:rect r="r" b="b" t="t" l="l"/>
              <a:pathLst>
                <a:path h="548400" w="12253200">
                  <a:moveTo>
                    <a:pt x="0" y="0"/>
                  </a:moveTo>
                  <a:lnTo>
                    <a:pt x="12253200" y="0"/>
                  </a:lnTo>
                  <a:lnTo>
                    <a:pt x="12253200" y="548400"/>
                  </a:lnTo>
                  <a:lnTo>
                    <a:pt x="0" y="54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364" r="0" b="-385364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2253201" cy="5864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577340" y="5307806"/>
            <a:ext cx="9189901" cy="57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Spring Security · Filtro JWT · @PreAuthorize por role (OPERADOR / GESTOR / LIDER)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34364" y="6097095"/>
            <a:ext cx="9875701" cy="1097099"/>
            <a:chOff x="0" y="0"/>
            <a:chExt cx="13167601" cy="146279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3167613" cy="1462786"/>
            </a:xfrm>
            <a:custGeom>
              <a:avLst/>
              <a:gdLst/>
              <a:ahLst/>
              <a:cxnLst/>
              <a:rect r="r" b="b" t="t" l="l"/>
              <a:pathLst>
                <a:path h="1462786" w="13167613">
                  <a:moveTo>
                    <a:pt x="0" y="0"/>
                  </a:moveTo>
                  <a:lnTo>
                    <a:pt x="13167613" y="0"/>
                  </a:lnTo>
                  <a:lnTo>
                    <a:pt x="13167613" y="1462786"/>
                  </a:lnTo>
                  <a:lnTo>
                    <a:pt x="0" y="1462786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577264" y="6206823"/>
            <a:ext cx="9189901" cy="411299"/>
            <a:chOff x="0" y="0"/>
            <a:chExt cx="12253201" cy="54839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253200" cy="548400"/>
            </a:xfrm>
            <a:custGeom>
              <a:avLst/>
              <a:gdLst/>
              <a:ahLst/>
              <a:cxnLst/>
              <a:rect r="r" b="b" t="t" l="l"/>
              <a:pathLst>
                <a:path h="548400" w="12253200">
                  <a:moveTo>
                    <a:pt x="0" y="0"/>
                  </a:moveTo>
                  <a:lnTo>
                    <a:pt x="12253200" y="0"/>
                  </a:lnTo>
                  <a:lnTo>
                    <a:pt x="12253200" y="548400"/>
                  </a:lnTo>
                  <a:lnTo>
                    <a:pt x="0" y="54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364" r="0" b="-385364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12253201" cy="5864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SERVICE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1577264" y="6548580"/>
            <a:ext cx="9189901" cy="57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Regras de negócio · Gamificação · Enriquecimento de orientações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234440" y="7334631"/>
            <a:ext cx="9875701" cy="1028700"/>
            <a:chOff x="0" y="0"/>
            <a:chExt cx="13167601" cy="13716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3167613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167613">
                  <a:moveTo>
                    <a:pt x="0" y="0"/>
                  </a:moveTo>
                  <a:lnTo>
                    <a:pt x="13167613" y="0"/>
                  </a:lnTo>
                  <a:lnTo>
                    <a:pt x="13167613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577340" y="7444359"/>
            <a:ext cx="9189901" cy="411299"/>
            <a:chOff x="0" y="0"/>
            <a:chExt cx="12253201" cy="54839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2253200" cy="548400"/>
            </a:xfrm>
            <a:custGeom>
              <a:avLst/>
              <a:gdLst/>
              <a:ahLst/>
              <a:cxnLst/>
              <a:rect r="r" b="b" t="t" l="l"/>
              <a:pathLst>
                <a:path h="548400" w="12253200">
                  <a:moveTo>
                    <a:pt x="0" y="0"/>
                  </a:moveTo>
                  <a:lnTo>
                    <a:pt x="12253200" y="0"/>
                  </a:lnTo>
                  <a:lnTo>
                    <a:pt x="12253200" y="548400"/>
                  </a:lnTo>
                  <a:lnTo>
                    <a:pt x="0" y="54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364" r="0" b="-385364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2253201" cy="5864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REPOSITORY</a:t>
              </a: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577340" y="7786116"/>
            <a:ext cx="9189901" cy="508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Spring Data MongoDB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234440" y="8503758"/>
            <a:ext cx="9875701" cy="1028700"/>
            <a:chOff x="0" y="0"/>
            <a:chExt cx="13167601" cy="1371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3167613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167613">
                  <a:moveTo>
                    <a:pt x="0" y="0"/>
                  </a:moveTo>
                  <a:lnTo>
                    <a:pt x="13167613" y="0"/>
                  </a:lnTo>
                  <a:lnTo>
                    <a:pt x="13167613" y="1371600"/>
                  </a:lnTo>
                  <a:lnTo>
                    <a:pt x="0" y="13716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577340" y="8613486"/>
            <a:ext cx="9189901" cy="411299"/>
            <a:chOff x="0" y="0"/>
            <a:chExt cx="12253201" cy="548399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253200" cy="548400"/>
            </a:xfrm>
            <a:custGeom>
              <a:avLst/>
              <a:gdLst/>
              <a:ahLst/>
              <a:cxnLst/>
              <a:rect r="r" b="b" t="t" l="l"/>
              <a:pathLst>
                <a:path h="548400" w="12253200">
                  <a:moveTo>
                    <a:pt x="0" y="0"/>
                  </a:moveTo>
                  <a:lnTo>
                    <a:pt x="12253200" y="0"/>
                  </a:lnTo>
                  <a:lnTo>
                    <a:pt x="12253200" y="548400"/>
                  </a:lnTo>
                  <a:lnTo>
                    <a:pt x="0" y="548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364" r="0" b="-385364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2253201" cy="58649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MONGODB ATLAS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577340" y="8955243"/>
            <a:ext cx="9189901" cy="508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Banco na nuvem — coleções: users, ideas, projects, orientations, notifications</a:t>
            </a:r>
          </a:p>
        </p:txBody>
      </p:sp>
      <p:sp>
        <p:nvSpPr>
          <p:cNvPr name="AutoShape 44" id="44"/>
          <p:cNvSpPr/>
          <p:nvPr/>
        </p:nvSpPr>
        <p:spPr>
          <a:xfrm flipH="true">
            <a:off x="6172214" y="3360420"/>
            <a:ext cx="57291" cy="337814"/>
          </a:xfrm>
          <a:prstGeom prst="line">
            <a:avLst/>
          </a:prstGeom>
          <a:ln cap="rnd" w="19050">
            <a:solidFill>
              <a:srgbClr val="5B6472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5" id="45"/>
          <p:cNvSpPr/>
          <p:nvPr/>
        </p:nvSpPr>
        <p:spPr>
          <a:xfrm flipH="true">
            <a:off x="6172290" y="4598058"/>
            <a:ext cx="50286" cy="367991"/>
          </a:xfrm>
          <a:prstGeom prst="line">
            <a:avLst/>
          </a:prstGeom>
          <a:ln cap="rnd" w="19050">
            <a:solidFill>
              <a:srgbClr val="5B6472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6" id="46"/>
          <p:cNvSpPr/>
          <p:nvPr/>
        </p:nvSpPr>
        <p:spPr>
          <a:xfrm flipH="true">
            <a:off x="6172214" y="5865877"/>
            <a:ext cx="76" cy="340947"/>
          </a:xfrm>
          <a:prstGeom prst="line">
            <a:avLst/>
          </a:prstGeom>
          <a:ln cap="rnd" w="19050">
            <a:solidFill>
              <a:srgbClr val="5B6472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7" id="47"/>
          <p:cNvSpPr/>
          <p:nvPr/>
        </p:nvSpPr>
        <p:spPr>
          <a:xfrm flipH="true">
            <a:off x="6172290" y="7106655"/>
            <a:ext cx="29467" cy="337704"/>
          </a:xfrm>
          <a:prstGeom prst="line">
            <a:avLst/>
          </a:prstGeom>
          <a:ln cap="rnd" w="19050">
            <a:solidFill>
              <a:srgbClr val="5B6472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AutoShape 48" id="48"/>
          <p:cNvSpPr/>
          <p:nvPr/>
        </p:nvSpPr>
        <p:spPr>
          <a:xfrm flipH="true">
            <a:off x="6172290" y="8294837"/>
            <a:ext cx="36484" cy="318649"/>
          </a:xfrm>
          <a:prstGeom prst="line">
            <a:avLst/>
          </a:prstGeom>
          <a:ln cap="rnd" w="19050">
            <a:solidFill>
              <a:srgbClr val="5B6472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49" id="49"/>
          <p:cNvGrpSpPr/>
          <p:nvPr/>
        </p:nvGrpSpPr>
        <p:grpSpPr>
          <a:xfrm rot="0">
            <a:off x="11795779" y="2400300"/>
            <a:ext cx="5801849" cy="2456097"/>
            <a:chOff x="0" y="0"/>
            <a:chExt cx="7735799" cy="3274797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7735824" cy="3274822"/>
            </a:xfrm>
            <a:custGeom>
              <a:avLst/>
              <a:gdLst/>
              <a:ahLst/>
              <a:cxnLst/>
              <a:rect r="r" b="b" t="t" l="l"/>
              <a:pathLst>
                <a:path h="3274822" w="7735824">
                  <a:moveTo>
                    <a:pt x="0" y="0"/>
                  </a:moveTo>
                  <a:lnTo>
                    <a:pt x="7735824" y="0"/>
                  </a:lnTo>
                  <a:lnTo>
                    <a:pt x="7735824" y="3274822"/>
                  </a:lnTo>
                  <a:lnTo>
                    <a:pt x="0" y="3274822"/>
                  </a:ln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2097512" y="2674620"/>
            <a:ext cx="5198364" cy="480060"/>
            <a:chOff x="0" y="0"/>
            <a:chExt cx="6931152" cy="64008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931152" cy="640080"/>
            </a:xfrm>
            <a:custGeom>
              <a:avLst/>
              <a:gdLst/>
              <a:ahLst/>
              <a:cxnLst/>
              <a:rect r="r" b="b" t="t" l="l"/>
              <a:pathLst>
                <a:path h="640080" w="6931152">
                  <a:moveTo>
                    <a:pt x="0" y="0"/>
                  </a:moveTo>
                  <a:lnTo>
                    <a:pt x="6931152" y="0"/>
                  </a:lnTo>
                  <a:lnTo>
                    <a:pt x="6931152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0995" r="0" b="-16099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931152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HOSPEDADO NO RENDER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2097512" y="3185160"/>
            <a:ext cx="5198364" cy="1821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Deploy via Docker, direto do GitHub. HTTPS gratuito, sem depender de máquina local.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11775215" y="5239826"/>
            <a:ext cx="5801849" cy="2811599"/>
            <a:chOff x="0" y="0"/>
            <a:chExt cx="7735799" cy="374879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7735824" cy="3748786"/>
            </a:xfrm>
            <a:custGeom>
              <a:avLst/>
              <a:gdLst/>
              <a:ahLst/>
              <a:cxnLst/>
              <a:rect r="r" b="b" t="t" l="l"/>
              <a:pathLst>
                <a:path h="3748786" w="7735824">
                  <a:moveTo>
                    <a:pt x="0" y="0"/>
                  </a:moveTo>
                  <a:lnTo>
                    <a:pt x="7735824" y="0"/>
                  </a:lnTo>
                  <a:lnTo>
                    <a:pt x="7735824" y="3748786"/>
                  </a:lnTo>
                  <a:lnTo>
                    <a:pt x="0" y="3748786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2076967" y="5514146"/>
            <a:ext cx="5198402" cy="480146"/>
            <a:chOff x="0" y="0"/>
            <a:chExt cx="6931203" cy="640194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931200" cy="640200"/>
            </a:xfrm>
            <a:custGeom>
              <a:avLst/>
              <a:gdLst/>
              <a:ahLst/>
              <a:cxnLst/>
              <a:rect r="r" b="b" t="t" l="l"/>
              <a:pathLst>
                <a:path h="640200" w="6931200">
                  <a:moveTo>
                    <a:pt x="0" y="0"/>
                  </a:moveTo>
                  <a:lnTo>
                    <a:pt x="6931200" y="0"/>
                  </a:lnTo>
                  <a:lnTo>
                    <a:pt x="6931200" y="640200"/>
                  </a:lnTo>
                  <a:lnTo>
                    <a:pt x="0" y="6402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0957" r="0" b="-160956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38100"/>
              <a:ext cx="6931203" cy="6782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GOOGLE GEMINI API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12076967" y="6024686"/>
            <a:ext cx="5198402" cy="18209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E3E7F2"/>
                </a:solidFill>
                <a:latin typeface="Calibri (MS)"/>
                <a:ea typeface="Calibri (MS)"/>
                <a:cs typeface="Calibri (MS)"/>
                <a:sym typeface="Calibri (MS)"/>
              </a:rPr>
              <a:t>Chamado pelo Service ao pontuar uma ideia — serviço externo de IA generativa.</a:t>
            </a:r>
          </a:p>
        </p:txBody>
      </p:sp>
      <p:sp>
        <p:nvSpPr>
          <p:cNvPr name="AutoShape 61" id="61"/>
          <p:cNvSpPr/>
          <p:nvPr/>
        </p:nvSpPr>
        <p:spPr>
          <a:xfrm flipV="true">
            <a:off x="11110065" y="6618122"/>
            <a:ext cx="685714" cy="27522"/>
          </a:xfrm>
          <a:prstGeom prst="line">
            <a:avLst/>
          </a:prstGeom>
          <a:ln cap="rnd" w="19050">
            <a:solidFill>
              <a:srgbClr val="5B6472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62" id="6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68580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SEGURANÇA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165860"/>
            <a:ext cx="15087600" cy="822960"/>
            <a:chOff x="0" y="0"/>
            <a:chExt cx="20116800" cy="10972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1168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Autenticação e permissões por perfil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057400"/>
            <a:ext cx="15087600" cy="685800"/>
            <a:chOff x="0" y="0"/>
            <a:chExt cx="2011680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2011680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JWT assinado pelo backend, expira em 24h. Cada endpoint valida o role via Spring Security antes de executar.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34440" y="3429000"/>
            <a:ext cx="4997196" cy="1165860"/>
            <a:chOff x="0" y="0"/>
            <a:chExt cx="6662928" cy="1554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6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1554480"/>
                  </a:lnTo>
                  <a:lnTo>
                    <a:pt x="0" y="155448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234440" y="3429000"/>
            <a:ext cx="4997196" cy="1165860"/>
            <a:chOff x="0" y="0"/>
            <a:chExt cx="6662928" cy="15544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66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518" r="0" b="-33518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6662928" cy="15735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b="true" sz="30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OPERADOR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34440" y="4732020"/>
            <a:ext cx="4997196" cy="4869180"/>
            <a:chOff x="0" y="0"/>
            <a:chExt cx="6662928" cy="6492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662928" cy="6492240"/>
            </a:xfrm>
            <a:custGeom>
              <a:avLst/>
              <a:gdLst/>
              <a:ahLst/>
              <a:cxnLst/>
              <a:rect r="r" b="b" t="t" l="l"/>
              <a:pathLst>
                <a:path h="649224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645920" y="5157216"/>
            <a:ext cx="137160" cy="137160"/>
            <a:chOff x="0" y="0"/>
            <a:chExt cx="182880" cy="1828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1A2540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963503" y="5028428"/>
            <a:ext cx="3831298" cy="4493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CRUD completo das próprias ideias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645920" y="6460236"/>
            <a:ext cx="137160" cy="137160"/>
            <a:chOff x="0" y="0"/>
            <a:chExt cx="182880" cy="1828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1A2540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988810" y="6331458"/>
            <a:ext cx="3831298" cy="3675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Consulta projetos e orientações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643116" y="3429000"/>
            <a:ext cx="4997196" cy="1165860"/>
            <a:chOff x="0" y="0"/>
            <a:chExt cx="6662928" cy="15544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66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1554480"/>
                  </a:lnTo>
                  <a:lnTo>
                    <a:pt x="0" y="1554480"/>
                  </a:ln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6643116" y="3429000"/>
            <a:ext cx="4997196" cy="1165860"/>
            <a:chOff x="0" y="0"/>
            <a:chExt cx="6662928" cy="15544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66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518" r="0" b="-33518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6662928" cy="15735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b="true" sz="30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GESTOR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643116" y="4732020"/>
            <a:ext cx="4997196" cy="4869180"/>
            <a:chOff x="0" y="0"/>
            <a:chExt cx="6662928" cy="64922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662928" cy="6492240"/>
            </a:xfrm>
            <a:custGeom>
              <a:avLst/>
              <a:gdLst/>
              <a:ahLst/>
              <a:cxnLst/>
              <a:rect r="r" b="b" t="t" l="l"/>
              <a:pathLst>
                <a:path h="649224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7054596" y="5157216"/>
            <a:ext cx="137160" cy="137160"/>
            <a:chOff x="0" y="0"/>
            <a:chExt cx="182880" cy="1828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7397496" y="4927092"/>
            <a:ext cx="3831336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Analisa, aprova, rejeita e pontua ideias via IA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7054596" y="6460236"/>
            <a:ext cx="137160" cy="137160"/>
            <a:chOff x="0" y="0"/>
            <a:chExt cx="182880" cy="1828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7397496" y="6318790"/>
            <a:ext cx="383129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CRUD completo de projetos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7054596" y="7763256"/>
            <a:ext cx="137160" cy="137160"/>
            <a:chOff x="0" y="0"/>
            <a:chExt cx="182880" cy="1828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sp>
        <p:nvSpPr>
          <p:cNvPr name="TextBox 39" id="39"/>
          <p:cNvSpPr txBox="true"/>
          <p:nvPr/>
        </p:nvSpPr>
        <p:spPr>
          <a:xfrm rot="0">
            <a:off x="7397496" y="7621810"/>
            <a:ext cx="383129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Consulta orientações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2051792" y="3429000"/>
            <a:ext cx="4997196" cy="1165860"/>
            <a:chOff x="0" y="0"/>
            <a:chExt cx="6662928" cy="15544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66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1554480"/>
                  </a:lnTo>
                  <a:lnTo>
                    <a:pt x="0" y="1554480"/>
                  </a:lnTo>
                  <a:close/>
                </a:path>
              </a:pathLst>
            </a:custGeom>
            <a:solidFill>
              <a:srgbClr val="3E5C8A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2051792" y="3429000"/>
            <a:ext cx="4997196" cy="1165860"/>
            <a:chOff x="0" y="0"/>
            <a:chExt cx="6662928" cy="155448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662928" cy="1554480"/>
            </a:xfrm>
            <a:custGeom>
              <a:avLst/>
              <a:gdLst/>
              <a:ahLst/>
              <a:cxnLst/>
              <a:rect r="r" b="b" t="t" l="l"/>
              <a:pathLst>
                <a:path h="1554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518" r="0" b="-3351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6662928" cy="15735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600"/>
                </a:lnSpc>
              </a:pPr>
              <a:r>
                <a:rPr lang="en-US" b="true" sz="30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LIDER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051792" y="4732020"/>
            <a:ext cx="4997196" cy="4869180"/>
            <a:chOff x="0" y="0"/>
            <a:chExt cx="6662928" cy="64922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62928" cy="6492240"/>
            </a:xfrm>
            <a:custGeom>
              <a:avLst/>
              <a:gdLst/>
              <a:ahLst/>
              <a:cxnLst/>
              <a:rect r="r" b="b" t="t" l="l"/>
              <a:pathLst>
                <a:path h="649224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12463272" y="5157216"/>
            <a:ext cx="137160" cy="137160"/>
            <a:chOff x="0" y="0"/>
            <a:chExt cx="182880" cy="18288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3E5C8A"/>
            </a:solidFill>
          </p:spPr>
        </p:sp>
      </p:grpSp>
      <p:sp>
        <p:nvSpPr>
          <p:cNvPr name="TextBox 49" id="49"/>
          <p:cNvSpPr txBox="true"/>
          <p:nvPr/>
        </p:nvSpPr>
        <p:spPr>
          <a:xfrm rot="0">
            <a:off x="12806172" y="5003102"/>
            <a:ext cx="383129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CRUD de orientações estratégicas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2463272" y="6460236"/>
            <a:ext cx="137160" cy="137160"/>
            <a:chOff x="0" y="0"/>
            <a:chExt cx="182880" cy="18288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3E5C8A"/>
            </a:solid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12806172" y="6306121"/>
            <a:ext cx="383129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Consulta ideias e projetos (sem editar)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2463272" y="7763256"/>
            <a:ext cx="137160" cy="137160"/>
            <a:chOff x="0" y="0"/>
            <a:chExt cx="182880" cy="18288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82880" cy="182880"/>
            </a:xfrm>
            <a:custGeom>
              <a:avLst/>
              <a:gdLst/>
              <a:ahLst/>
              <a:cxnLst/>
              <a:rect r="r" b="b" t="t" l="l"/>
              <a:pathLst>
                <a:path h="182880" w="182880">
                  <a:moveTo>
                    <a:pt x="0" y="91440"/>
                  </a:moveTo>
                  <a:cubicBezTo>
                    <a:pt x="0" y="40894"/>
                    <a:pt x="40894" y="0"/>
                    <a:pt x="91440" y="0"/>
                  </a:cubicBezTo>
                  <a:cubicBezTo>
                    <a:pt x="141986" y="0"/>
                    <a:pt x="182880" y="40894"/>
                    <a:pt x="182880" y="91440"/>
                  </a:cubicBezTo>
                  <a:cubicBezTo>
                    <a:pt x="182880" y="141986"/>
                    <a:pt x="141986" y="182880"/>
                    <a:pt x="91440" y="182880"/>
                  </a:cubicBezTo>
                  <a:cubicBezTo>
                    <a:pt x="40894" y="182880"/>
                    <a:pt x="0" y="141986"/>
                    <a:pt x="0" y="91440"/>
                  </a:cubicBezTo>
                  <a:close/>
                </a:path>
              </a:pathLst>
            </a:custGeom>
            <a:solidFill>
              <a:srgbClr val="3E5C8A"/>
            </a:solidFill>
          </p:spPr>
        </p:sp>
      </p:grpSp>
      <p:sp>
        <p:nvSpPr>
          <p:cNvPr name="TextBox 55" id="55"/>
          <p:cNvSpPr txBox="true"/>
          <p:nvPr/>
        </p:nvSpPr>
        <p:spPr>
          <a:xfrm rot="0">
            <a:off x="12806172" y="7621810"/>
            <a:ext cx="383129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2540"/>
                </a:solidFill>
                <a:latin typeface="Calibri (MS)"/>
                <a:ea typeface="Calibri (MS)"/>
                <a:cs typeface="Calibri (MS)"/>
                <a:sym typeface="Calibri (MS)"/>
              </a:rPr>
              <a:t>Único perfil com acesso ao dashboard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6309360" cy="10287000"/>
            <a:chOff x="0" y="0"/>
            <a:chExt cx="841248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41248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412480">
                  <a:moveTo>
                    <a:pt x="0" y="0"/>
                  </a:moveTo>
                  <a:lnTo>
                    <a:pt x="8412480" y="0"/>
                  </a:lnTo>
                  <a:lnTo>
                    <a:pt x="841248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120" y="960120"/>
            <a:ext cx="4663440" cy="480060"/>
            <a:chOff x="0" y="0"/>
            <a:chExt cx="6217920" cy="64008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217920" cy="640080"/>
            </a:xfrm>
            <a:custGeom>
              <a:avLst/>
              <a:gdLst/>
              <a:ahLst/>
              <a:cxnLst/>
              <a:rect r="r" b="b" t="t" l="l"/>
              <a:pathLst>
                <a:path h="64008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39283" r="0" b="-139283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6217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DIFERENCIAL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60120" y="1440180"/>
            <a:ext cx="4937760" cy="2194560"/>
            <a:chOff x="0" y="0"/>
            <a:chExt cx="6583680" cy="29260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83680" cy="2926080"/>
            </a:xfrm>
            <a:custGeom>
              <a:avLst/>
              <a:gdLst/>
              <a:ahLst/>
              <a:cxnLst/>
              <a:rect r="r" b="b" t="t" l="l"/>
              <a:pathLst>
                <a:path h="292608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2926080"/>
                  </a:lnTo>
                  <a:lnTo>
                    <a:pt x="0" y="2926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023" t="0" r="-7023" b="0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6583680" cy="2945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Inteligência</a:t>
              </a:r>
            </a:p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Artificial real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960120" y="3724275"/>
            <a:ext cx="4800600" cy="306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>
                <a:solidFill>
                  <a:srgbClr val="C7CEDD"/>
                </a:solidFill>
                <a:latin typeface="Calibri (MS)"/>
                <a:ea typeface="Calibri (MS)"/>
                <a:cs typeface="Calibri (MS)"/>
                <a:sym typeface="Calibri (MS)"/>
              </a:rPr>
              <a:t>Das três opções de IA sugeridas no desafio, escolhemos pontuação e priorização automática de ideias — porque é onde a IA mais alivia o trabalho manual do gestor, todos os dias.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60120" y="7543800"/>
            <a:ext cx="4663440" cy="1234440"/>
            <a:chOff x="0" y="0"/>
            <a:chExt cx="6217920" cy="16459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2179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1645920"/>
                  </a:lnTo>
                  <a:lnTo>
                    <a:pt x="0" y="164592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234440" y="7708392"/>
            <a:ext cx="4114800" cy="411480"/>
            <a:chOff x="0" y="0"/>
            <a:chExt cx="548640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486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Google Gemini API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34440" y="8119872"/>
            <a:ext cx="4114800" cy="480060"/>
            <a:chOff x="0" y="0"/>
            <a:chExt cx="5486400" cy="6400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486400" cy="640080"/>
            </a:xfrm>
            <a:custGeom>
              <a:avLst/>
              <a:gdLst/>
              <a:ahLst/>
              <a:cxnLst/>
              <a:rect r="r" b="b" t="t" l="l"/>
              <a:pathLst>
                <a:path h="64008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17014" r="0" b="-117014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5486400" cy="649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modelo gemini-3.6-flash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858000" y="891540"/>
            <a:ext cx="10602468" cy="822960"/>
            <a:chOff x="0" y="0"/>
            <a:chExt cx="14136624" cy="10972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1366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14136624">
                  <a:moveTo>
                    <a:pt x="0" y="0"/>
                  </a:moveTo>
                  <a:lnTo>
                    <a:pt x="14136624" y="0"/>
                  </a:lnTo>
                  <a:lnTo>
                    <a:pt x="141366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01032" r="0" b="-201032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14136624" cy="11068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b="true" sz="33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Como funciona, na prática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858000" y="2125980"/>
            <a:ext cx="685800" cy="685800"/>
            <a:chOff x="0" y="0"/>
            <a:chExt cx="914400" cy="914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58000" y="2125980"/>
            <a:ext cx="685800" cy="685800"/>
            <a:chOff x="0" y="0"/>
            <a:chExt cx="914400" cy="914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7818120" y="2084832"/>
            <a:ext cx="9642348" cy="480060"/>
            <a:chOff x="0" y="0"/>
            <a:chExt cx="12856464" cy="6400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856464" cy="640080"/>
            </a:xfrm>
            <a:custGeom>
              <a:avLst/>
              <a:gdLst/>
              <a:ahLst/>
              <a:cxnLst/>
              <a:rect r="r" b="b" t="t" l="l"/>
              <a:pathLst>
                <a:path h="640080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370" r="0" b="-34137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12856464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 SOLICITA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7818120" y="2526792"/>
            <a:ext cx="9642348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Toca em "Pontuar com IA" na tela de análise de uma ideia pendente.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858000" y="3881628"/>
            <a:ext cx="685800" cy="685800"/>
            <a:chOff x="0" y="0"/>
            <a:chExt cx="914400" cy="914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6858000" y="3881628"/>
            <a:ext cx="685800" cy="685800"/>
            <a:chOff x="0" y="0"/>
            <a:chExt cx="914400" cy="914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7818120" y="3840480"/>
            <a:ext cx="9642348" cy="480060"/>
            <a:chOff x="0" y="0"/>
            <a:chExt cx="12856464" cy="6400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856464" cy="640080"/>
            </a:xfrm>
            <a:custGeom>
              <a:avLst/>
              <a:gdLst/>
              <a:ahLst/>
              <a:cxnLst/>
              <a:rect r="r" b="b" t="t" l="l"/>
              <a:pathLst>
                <a:path h="640080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370" r="0" b="-34137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47625"/>
              <a:ext cx="12856464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IA ANALISA O CONTEXTO COMPLETO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7818120" y="4282440"/>
            <a:ext cx="9642348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Título, categoria, descrição, problema, benefícios e recursos necessários — não só um resumo.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6858000" y="5637276"/>
            <a:ext cx="685800" cy="685800"/>
            <a:chOff x="0" y="0"/>
            <a:chExt cx="914400" cy="9144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6858000" y="5637276"/>
            <a:ext cx="685800" cy="685800"/>
            <a:chOff x="0" y="0"/>
            <a:chExt cx="914400" cy="914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7818120" y="5596128"/>
            <a:ext cx="9642348" cy="480060"/>
            <a:chOff x="0" y="0"/>
            <a:chExt cx="12856464" cy="6400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2856464" cy="640080"/>
            </a:xfrm>
            <a:custGeom>
              <a:avLst/>
              <a:gdLst/>
              <a:ahLst/>
              <a:cxnLst/>
              <a:rect r="r" b="b" t="t" l="l"/>
              <a:pathLst>
                <a:path h="640080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370" r="0" b="-34137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12856464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RETORNA NOTA + JUSTIFICATIVA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7818120" y="6038088"/>
            <a:ext cx="9642348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aiScore (0-100) e aiJustification, salvos na ideia, visíveis a qualquer momento.</a:t>
            </a:r>
          </a:p>
        </p:txBody>
      </p:sp>
      <p:grpSp>
        <p:nvGrpSpPr>
          <p:cNvPr name="Group 49" id="49"/>
          <p:cNvGrpSpPr/>
          <p:nvPr/>
        </p:nvGrpSpPr>
        <p:grpSpPr>
          <a:xfrm rot="0">
            <a:off x="6858000" y="7392924"/>
            <a:ext cx="685800" cy="685800"/>
            <a:chOff x="0" y="0"/>
            <a:chExt cx="914400" cy="9144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C87D0E"/>
            </a:solid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6858000" y="7392924"/>
            <a:ext cx="685800" cy="685800"/>
            <a:chOff x="0" y="0"/>
            <a:chExt cx="914400" cy="9144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14400" cy="914400"/>
            </a:xfrm>
            <a:custGeom>
              <a:avLst/>
              <a:gdLst/>
              <a:ahLst/>
              <a:cxnLst/>
              <a:rect r="r" b="b" t="t" l="l"/>
              <a:pathLst>
                <a:path h="91440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060"/>
                </a:lnSpc>
              </a:pPr>
              <a:r>
                <a:rPr lang="en-US" b="true" sz="255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7818120" y="7351776"/>
            <a:ext cx="9642348" cy="480060"/>
            <a:chOff x="0" y="0"/>
            <a:chExt cx="12856464" cy="6400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2856464" cy="640080"/>
            </a:xfrm>
            <a:custGeom>
              <a:avLst/>
              <a:gdLst/>
              <a:ahLst/>
              <a:cxnLst/>
              <a:rect r="r" b="b" t="t" l="l"/>
              <a:pathLst>
                <a:path h="640080" w="12856464">
                  <a:moveTo>
                    <a:pt x="0" y="0"/>
                  </a:moveTo>
                  <a:lnTo>
                    <a:pt x="12856464" y="0"/>
                  </a:lnTo>
                  <a:lnTo>
                    <a:pt x="1285646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41370" r="0" b="-34137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12856464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GESTOR MANTÉM A DECISÃO FINAL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7818120" y="7793736"/>
            <a:ext cx="9642348" cy="861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A IA prioriza e recomenda — aprovar ou rejeitar continua sendo humano.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ESPECIFICAÇÃO TÉCNICA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097280"/>
            <a:ext cx="15087600" cy="754380"/>
            <a:chOff x="0" y="0"/>
            <a:chExt cx="20116800" cy="10058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Endpoints — Auth, Ideias e Projetos</a:t>
              </a:r>
            </a:p>
          </p:txBody>
        </p:sp>
      </p:grp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1234440" y="2125980"/>
          <a:ext cx="15773400" cy="6572250"/>
        </p:xfrm>
        <a:graphic>
          <a:graphicData uri="http://schemas.openxmlformats.org/drawingml/2006/table">
            <a:tbl>
              <a:tblPr/>
              <a:tblGrid>
                <a:gridCol w="2061921"/>
                <a:gridCol w="4502338"/>
                <a:gridCol w="1248436"/>
                <a:gridCol w="1790771"/>
                <a:gridCol w="6169934"/>
              </a:tblGrid>
              <a:tr h="48648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Recurso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Rota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Método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Perfil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Descrição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/api/v1/auth/register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Público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Cria conta → retorna accessToken + dados do usuário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/api/v1/auth/login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Público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email + password → accessToken (JWT, 24h)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/api/v1/auth/recover-password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Público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Gera senha temporária para o e-mail informado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Ideas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/api/v1/ideas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 / 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Todos / Operador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Lista (filtrada por role) / cria uma ideia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54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Ideas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/api/v1/ideas/{id}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 / PUT / DELETE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Todos / Autor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Detalhe, edição e exclusão (só o autor)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Ideas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/api/v1/ideas/{id}/review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PATCH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Gestor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status + score + gestorFeedback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Ideas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/api/v1/ideas/{id}/ai-score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Gestor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Aciona o Gemini → aiScore + aiJustification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Projects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/api/v1/projects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 / 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Todos / Gestor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Lista / cria projeto vinculado a uma ideia aprovada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54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Projects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/api/v1/projects/{id}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PUT / DELETE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Gestor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Edição de dados gerais e exclusão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6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Projects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/api/v1/projects/{id}/progress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PATCH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Gestor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status + progress + actualRoi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9" id="9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14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61722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ESPECIFICAÇÃO TÉCNICA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097280"/>
            <a:ext cx="15087600" cy="754380"/>
            <a:chOff x="0" y="0"/>
            <a:chExt cx="20116800" cy="10058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860"/>
                </a:lnSpc>
              </a:pPr>
              <a:r>
                <a:rPr lang="en-US" b="true" sz="405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Endpoints — Orientações, Usuários e Dashboard</a:t>
              </a:r>
            </a:p>
          </p:txBody>
        </p:sp>
      </p:grp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1234440" y="2125980"/>
          <a:ext cx="15773400" cy="6438900"/>
        </p:xfrm>
        <a:graphic>
          <a:graphicData uri="http://schemas.openxmlformats.org/drawingml/2006/table">
            <a:tbl>
              <a:tblPr/>
              <a:tblGrid>
                <a:gridCol w="2061921"/>
                <a:gridCol w="4502338"/>
                <a:gridCol w="1248436"/>
                <a:gridCol w="1790771"/>
                <a:gridCol w="6169934"/>
              </a:tblGrid>
              <a:tr h="486495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Recurso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Rota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Método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Perfil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980"/>
                        </a:lnSpc>
                        <a:defRPr/>
                      </a:pPr>
                      <a:r>
                        <a:rPr lang="en-US" b="true" sz="1650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Descrição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40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Orientations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/api/v1/orientations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 / POST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Todos / Líder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Consulta / cria orientação estratégica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543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Orientations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/api/v1/orientations/{id}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 / PUT / DELETE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Todos / Líder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Detalhe, edição e exclusão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Notifications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/api/v1/notifications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Autenticado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Notificações do usuário logado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Notifications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/api/v1/notifications/{id}/read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PATCH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Autenticado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Marca uma notificação como lida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Notifications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/api/v1/notifications/read-all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PATCH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Autenticado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Marca todas como lidas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Users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/api/v1/users/me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Autenticado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Perfil do usuário logado (pontos e badges reais)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Users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/api/v1/users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Autenticado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Lista de usuários (ex: equipe de projeto)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Dashboard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/api/v1/dashboard/summary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Líder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Resumo geral: ideias, projetos, ROI, taxa de conversão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Dashboard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/api/v1/dashboard/roi-by-project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Líder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Retorno detalhado por projeto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18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Dashboard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/api/v1/dashboard/roi-by-strategy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GET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Líder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889"/>
                        </a:lnSpc>
                        <a:defRPr/>
                      </a:pPr>
                      <a:r>
                        <a:rPr lang="en-US" sz="1575">
                          <a:solidFill>
                            <a:srgbClr val="1A254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Retorno detalhado por orientação estratégica</a:t>
                      </a:r>
                      <a:endParaRPr lang="en-US" sz="1100"/>
                    </a:p>
                  </a:txBody>
                  <a:tcPr marL="73150" marR="73150" marT="73150" marB="73150" anchor="ctr">
                    <a:lnL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E3E3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name="Group 9" id="9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15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102870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SEM TAPETE VERMELHO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508760"/>
            <a:ext cx="14401800" cy="960120"/>
            <a:chOff x="0" y="0"/>
            <a:chExt cx="192024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92024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42275" r="0" b="-24227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1920240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b="true" sz="480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Rodando na nuvem, agora mesmo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537460"/>
            <a:ext cx="13716000" cy="685800"/>
            <a:chOff x="0" y="0"/>
            <a:chExt cx="1828800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88000" cy="914400"/>
            </a:xfrm>
            <a:custGeom>
              <a:avLst/>
              <a:gdLst/>
              <a:ahLst/>
              <a:cxnLst/>
              <a:rect r="r" b="b" t="t" l="l"/>
              <a:pathLst>
                <a:path h="91440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828800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C7CE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 APK de entrega já aponta para o backend hospedado — nenhuma configuração local é necessária para testar.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234440" y="4114800"/>
            <a:ext cx="4997196" cy="2880360"/>
            <a:chOff x="0" y="0"/>
            <a:chExt cx="6662928" cy="38404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662928" cy="3840480"/>
            </a:xfrm>
            <a:custGeom>
              <a:avLst/>
              <a:gdLst/>
              <a:ahLst/>
              <a:cxnLst/>
              <a:rect r="r" b="b" t="t" l="l"/>
              <a:pathLst>
                <a:path h="3840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3840480"/>
                  </a:lnTo>
                  <a:lnTo>
                    <a:pt x="0" y="38404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645920" y="4457700"/>
            <a:ext cx="4174236" cy="548640"/>
            <a:chOff x="0" y="0"/>
            <a:chExt cx="5565648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565648" cy="731520"/>
            </a:xfrm>
            <a:custGeom>
              <a:avLst/>
              <a:gdLst/>
              <a:ahLst/>
              <a:cxnLst/>
              <a:rect r="r" b="b" t="t" l="l"/>
              <a:pathLst>
                <a:path h="731520" w="5565648">
                  <a:moveTo>
                    <a:pt x="0" y="0"/>
                  </a:moveTo>
                  <a:lnTo>
                    <a:pt x="5565648" y="0"/>
                  </a:lnTo>
                  <a:lnTo>
                    <a:pt x="55656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248" r="0" b="-98248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5565648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APP ANDROID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645920" y="5036820"/>
            <a:ext cx="4174236" cy="1821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E3E7F2"/>
                </a:solidFill>
                <a:latin typeface="Calibri (MS)"/>
                <a:ea typeface="Calibri (MS)"/>
                <a:cs typeface="Calibri (MS)"/>
                <a:sym typeface="Calibri (MS)"/>
              </a:rPr>
              <a:t>APK de entrega — .apk assinado, pronto para instalar</a:t>
            </a:r>
          </a:p>
        </p:txBody>
      </p:sp>
      <p:sp>
        <p:nvSpPr>
          <p:cNvPr name="AutoShape 17" id="17"/>
          <p:cNvSpPr/>
          <p:nvPr/>
        </p:nvSpPr>
        <p:spPr>
          <a:xfrm flipV="true">
            <a:off x="6231636" y="5535930"/>
            <a:ext cx="444407" cy="19050"/>
          </a:xfrm>
          <a:prstGeom prst="line">
            <a:avLst/>
          </a:prstGeom>
          <a:ln cap="rnd" w="19050">
            <a:solidFill>
              <a:srgbClr val="C87D0E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18" id="18"/>
          <p:cNvGrpSpPr/>
          <p:nvPr/>
        </p:nvGrpSpPr>
        <p:grpSpPr>
          <a:xfrm rot="0">
            <a:off x="6643116" y="4114800"/>
            <a:ext cx="4997196" cy="2880360"/>
            <a:chOff x="0" y="0"/>
            <a:chExt cx="6662928" cy="38404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662928" cy="3840480"/>
            </a:xfrm>
            <a:custGeom>
              <a:avLst/>
              <a:gdLst/>
              <a:ahLst/>
              <a:cxnLst/>
              <a:rect r="r" b="b" t="t" l="l"/>
              <a:pathLst>
                <a:path h="3840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3840480"/>
                  </a:lnTo>
                  <a:lnTo>
                    <a:pt x="0" y="38404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7054596" y="4457700"/>
            <a:ext cx="4174236" cy="548640"/>
            <a:chOff x="0" y="0"/>
            <a:chExt cx="5565648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565648" cy="731520"/>
            </a:xfrm>
            <a:custGeom>
              <a:avLst/>
              <a:gdLst/>
              <a:ahLst/>
              <a:cxnLst/>
              <a:rect r="r" b="b" t="t" l="l"/>
              <a:pathLst>
                <a:path h="731520" w="5565648">
                  <a:moveTo>
                    <a:pt x="0" y="0"/>
                  </a:moveTo>
                  <a:lnTo>
                    <a:pt x="5565648" y="0"/>
                  </a:lnTo>
                  <a:lnTo>
                    <a:pt x="55656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248" r="0" b="-9824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5565648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RENDER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7054596" y="5036820"/>
            <a:ext cx="4174236" cy="1821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E3E7F2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 Spring Boot em container Docker, HTTPS automático</a:t>
            </a:r>
          </a:p>
        </p:txBody>
      </p:sp>
      <p:sp>
        <p:nvSpPr>
          <p:cNvPr name="AutoShape 24" id="24"/>
          <p:cNvSpPr/>
          <p:nvPr/>
        </p:nvSpPr>
        <p:spPr>
          <a:xfrm>
            <a:off x="11640312" y="5554980"/>
            <a:ext cx="458290" cy="0"/>
          </a:xfrm>
          <a:prstGeom prst="line">
            <a:avLst/>
          </a:prstGeom>
          <a:ln cap="rnd" w="19050">
            <a:solidFill>
              <a:srgbClr val="C87D0E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25" id="25"/>
          <p:cNvGrpSpPr/>
          <p:nvPr/>
        </p:nvGrpSpPr>
        <p:grpSpPr>
          <a:xfrm rot="0">
            <a:off x="12051792" y="4114800"/>
            <a:ext cx="4997196" cy="2880360"/>
            <a:chOff x="0" y="0"/>
            <a:chExt cx="6662928" cy="38404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662928" cy="3840480"/>
            </a:xfrm>
            <a:custGeom>
              <a:avLst/>
              <a:gdLst/>
              <a:ahLst/>
              <a:cxnLst/>
              <a:rect r="r" b="b" t="t" l="l"/>
              <a:pathLst>
                <a:path h="3840480" w="6662928">
                  <a:moveTo>
                    <a:pt x="0" y="0"/>
                  </a:moveTo>
                  <a:lnTo>
                    <a:pt x="6662928" y="0"/>
                  </a:lnTo>
                  <a:lnTo>
                    <a:pt x="6662928" y="3840480"/>
                  </a:lnTo>
                  <a:lnTo>
                    <a:pt x="0" y="384048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2463272" y="4457700"/>
            <a:ext cx="4174236" cy="548640"/>
            <a:chOff x="0" y="0"/>
            <a:chExt cx="5565648" cy="7315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565648" cy="731520"/>
            </a:xfrm>
            <a:custGeom>
              <a:avLst/>
              <a:gdLst/>
              <a:ahLst/>
              <a:cxnLst/>
              <a:rect r="r" b="b" t="t" l="l"/>
              <a:pathLst>
                <a:path h="731520" w="5565648">
                  <a:moveTo>
                    <a:pt x="0" y="0"/>
                  </a:moveTo>
                  <a:lnTo>
                    <a:pt x="5565648" y="0"/>
                  </a:lnTo>
                  <a:lnTo>
                    <a:pt x="556564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8248" r="0" b="-98248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5565648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MONGODB ATLAS</a:t>
              </a:r>
            </a:p>
          </p:txBody>
        </p:sp>
      </p:grpSp>
      <p:sp>
        <p:nvSpPr>
          <p:cNvPr name="TextBox 30" id="30"/>
          <p:cNvSpPr txBox="true"/>
          <p:nvPr/>
        </p:nvSpPr>
        <p:spPr>
          <a:xfrm rot="0">
            <a:off x="12463272" y="5036820"/>
            <a:ext cx="4174236" cy="1821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E3E7F2"/>
                </a:solidFill>
                <a:latin typeface="Calibri (MS)"/>
                <a:ea typeface="Calibri (MS)"/>
                <a:cs typeface="Calibri (MS)"/>
                <a:sym typeface="Calibri (MS)"/>
              </a:rPr>
              <a:t>Banco na nuvem — mesma base usada em todo o desenvolvimento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234440" y="7365492"/>
            <a:ext cx="13716000" cy="685800"/>
            <a:chOff x="0" y="0"/>
            <a:chExt cx="18288000" cy="9144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8288000" cy="914400"/>
            </a:xfrm>
            <a:custGeom>
              <a:avLst/>
              <a:gdLst/>
              <a:ahLst/>
              <a:cxnLst/>
              <a:rect r="r" b="b" t="t" l="l"/>
              <a:pathLst>
                <a:path h="91440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39700" r="0" b="-339700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18288000" cy="933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E8B15C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https://aria-backend-p7bk.onrender.com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16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234440" y="7982712"/>
            <a:ext cx="13716000" cy="411480"/>
            <a:chOff x="0" y="0"/>
            <a:chExt cx="18288000" cy="5486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8288000" cy="548640"/>
            </a:xfrm>
            <a:custGeom>
              <a:avLst/>
              <a:gdLst/>
              <a:ahLst/>
              <a:cxnLst/>
              <a:rect r="r" b="b" t="t" l="l"/>
              <a:pathLst>
                <a:path h="54864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99501" r="0" b="-59950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182880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74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CREDENCIAIS DE TESTE  ·  senha para os 3 perfis: senha123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234440" y="8435340"/>
            <a:ext cx="4663440" cy="685800"/>
            <a:chOff x="0" y="0"/>
            <a:chExt cx="6217920" cy="9144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217920" cy="914400"/>
            </a:xfrm>
            <a:custGeom>
              <a:avLst/>
              <a:gdLst/>
              <a:ahLst/>
              <a:cxnLst/>
              <a:rect r="r" b="b" t="t" l="l"/>
              <a:pathLst>
                <a:path h="91440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481328" y="8435340"/>
            <a:ext cx="4251960" cy="685800"/>
            <a:chOff x="0" y="0"/>
            <a:chExt cx="5669280" cy="9144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669280" cy="914400"/>
            </a:xfrm>
            <a:custGeom>
              <a:avLst/>
              <a:gdLst/>
              <a:ahLst/>
              <a:cxnLst/>
              <a:rect r="r" b="b" t="t" l="l"/>
              <a:pathLst>
                <a:path h="914400" w="5669280">
                  <a:moveTo>
                    <a:pt x="0" y="0"/>
                  </a:moveTo>
                  <a:lnTo>
                    <a:pt x="5669280" y="0"/>
                  </a:lnTo>
                  <a:lnTo>
                    <a:pt x="5669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807" r="0" b="-70807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56692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E8B15C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OPERADOR  </a:t>
              </a:r>
              <a:r>
                <a:rPr lang="en-US" sz="1650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operador@aria.com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6103620" y="8435340"/>
            <a:ext cx="4663440" cy="685800"/>
            <a:chOff x="0" y="0"/>
            <a:chExt cx="6217920" cy="9144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217920" cy="914400"/>
            </a:xfrm>
            <a:custGeom>
              <a:avLst/>
              <a:gdLst/>
              <a:ahLst/>
              <a:cxnLst/>
              <a:rect r="r" b="b" t="t" l="l"/>
              <a:pathLst>
                <a:path h="91440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6350508" y="8435340"/>
            <a:ext cx="4251960" cy="685800"/>
            <a:chOff x="0" y="0"/>
            <a:chExt cx="5669280" cy="9144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669280" cy="914400"/>
            </a:xfrm>
            <a:custGeom>
              <a:avLst/>
              <a:gdLst/>
              <a:ahLst/>
              <a:cxnLst/>
              <a:rect r="r" b="b" t="t" l="l"/>
              <a:pathLst>
                <a:path h="914400" w="5669280">
                  <a:moveTo>
                    <a:pt x="0" y="0"/>
                  </a:moveTo>
                  <a:lnTo>
                    <a:pt x="5669280" y="0"/>
                  </a:lnTo>
                  <a:lnTo>
                    <a:pt x="5669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807" r="0" b="-70807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9525"/>
              <a:ext cx="56692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E8B15C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GESTOR  </a:t>
              </a:r>
              <a:r>
                <a:rPr lang="en-US" sz="1650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gestor@aria.com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972800" y="8435340"/>
            <a:ext cx="4663440" cy="685800"/>
            <a:chOff x="0" y="0"/>
            <a:chExt cx="6217920" cy="9144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217920" cy="914400"/>
            </a:xfrm>
            <a:custGeom>
              <a:avLst/>
              <a:gdLst/>
              <a:ahLst/>
              <a:cxnLst/>
              <a:rect r="r" b="b" t="t" l="l"/>
              <a:pathLst>
                <a:path h="914400" w="6217920">
                  <a:moveTo>
                    <a:pt x="0" y="0"/>
                  </a:moveTo>
                  <a:lnTo>
                    <a:pt x="6217920" y="0"/>
                  </a:lnTo>
                  <a:lnTo>
                    <a:pt x="621792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11219688" y="8435340"/>
            <a:ext cx="4251960" cy="685800"/>
            <a:chOff x="0" y="0"/>
            <a:chExt cx="5669280" cy="9144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669280" cy="914400"/>
            </a:xfrm>
            <a:custGeom>
              <a:avLst/>
              <a:gdLst/>
              <a:ahLst/>
              <a:cxnLst/>
              <a:rect r="r" b="b" t="t" l="l"/>
              <a:pathLst>
                <a:path h="914400" w="5669280">
                  <a:moveTo>
                    <a:pt x="0" y="0"/>
                  </a:moveTo>
                  <a:lnTo>
                    <a:pt x="5669280" y="0"/>
                  </a:lnTo>
                  <a:lnTo>
                    <a:pt x="56692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0807" r="0" b="-70807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5669280" cy="923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E8B15C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LIDER  </a:t>
              </a:r>
              <a:r>
                <a:rPr lang="en-US" sz="1650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lider@aria.com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1234440" y="9258300"/>
            <a:ext cx="15087600" cy="411480"/>
            <a:chOff x="0" y="0"/>
            <a:chExt cx="20116800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0116800" cy="548640"/>
            </a:xfrm>
            <a:custGeom>
              <a:avLst/>
              <a:gdLst/>
              <a:ahLst/>
              <a:cxnLst/>
              <a:rect r="r" b="b" t="t" l="l"/>
              <a:pathLst>
                <a:path h="54864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664451" r="0" b="-664451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38100"/>
              <a:ext cx="201168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15"/>
                </a:lnSpc>
              </a:pPr>
              <a:r>
                <a:rPr lang="en-US" sz="1679" b="true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⚠ </a:t>
              </a:r>
              <a:r>
                <a:rPr lang="en-US" b="true" sz="1679" i="true">
                  <a:solidFill>
                    <a:srgbClr val="9AA5BF"/>
                  </a:solidFill>
                  <a:latin typeface="Calibri (MS) Bold Italics"/>
                  <a:ea typeface="Calibri (MS) Bold Italics"/>
                  <a:cs typeface="Calibri (MS) Bold Italics"/>
                  <a:sym typeface="Calibri (MS) Bold Italics"/>
                </a:rPr>
                <a:t>Plano gratuito do Render “hiberna” após inatividade — a 1ª requisição pode levar até ~1 min.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68580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QUALIDADE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165860"/>
            <a:ext cx="15087600" cy="822960"/>
            <a:chOff x="0" y="0"/>
            <a:chExt cx="20116800" cy="10972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1168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O que testamos de verdade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400300"/>
            <a:ext cx="7632954" cy="2811780"/>
            <a:chOff x="0" y="0"/>
            <a:chExt cx="10177272" cy="37490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177272" cy="3749040"/>
            </a:xfrm>
            <a:custGeom>
              <a:avLst/>
              <a:gdLst/>
              <a:ahLst/>
              <a:cxnLst/>
              <a:rect r="r" b="b" t="t" l="l"/>
              <a:pathLst>
                <a:path h="3749040" w="10177272">
                  <a:moveTo>
                    <a:pt x="0" y="0"/>
                  </a:moveTo>
                  <a:lnTo>
                    <a:pt x="10177272" y="0"/>
                  </a:lnTo>
                  <a:lnTo>
                    <a:pt x="10177272" y="3749040"/>
                  </a:lnTo>
                  <a:lnTo>
                    <a:pt x="0" y="37490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645920" y="2811780"/>
            <a:ext cx="480060" cy="480060"/>
            <a:chOff x="0" y="0"/>
            <a:chExt cx="640080" cy="6400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320040"/>
                  </a:moveTo>
                  <a:cubicBezTo>
                    <a:pt x="0" y="143256"/>
                    <a:pt x="143256" y="0"/>
                    <a:pt x="320040" y="0"/>
                  </a:cubicBezTo>
                  <a:cubicBezTo>
                    <a:pt x="496824" y="0"/>
                    <a:pt x="640080" y="143256"/>
                    <a:pt x="640080" y="320040"/>
                  </a:cubicBezTo>
                  <a:cubicBezTo>
                    <a:pt x="640080" y="496824"/>
                    <a:pt x="496824" y="640080"/>
                    <a:pt x="320040" y="640080"/>
                  </a:cubicBezTo>
                  <a:cubicBezTo>
                    <a:pt x="143256" y="640080"/>
                    <a:pt x="0" y="496824"/>
                    <a:pt x="0" y="320040"/>
                  </a:cubicBezTo>
                  <a:close/>
                </a:path>
              </a:pathLst>
            </a:custGeom>
            <a:solidFill>
              <a:srgbClr val="2E7D4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" y="2811780"/>
            <a:ext cx="480060" cy="480060"/>
            <a:chOff x="0" y="0"/>
            <a:chExt cx="640080" cy="6400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64008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400300" y="2784348"/>
            <a:ext cx="6124194" cy="548640"/>
            <a:chOff x="0" y="0"/>
            <a:chExt cx="8165592" cy="7315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65592" cy="731520"/>
            </a:xfrm>
            <a:custGeom>
              <a:avLst/>
              <a:gdLst/>
              <a:ahLst/>
              <a:cxnLst/>
              <a:rect r="r" b="b" t="t" l="l"/>
              <a:pathLst>
                <a:path h="731520" w="8165592">
                  <a:moveTo>
                    <a:pt x="0" y="0"/>
                  </a:moveTo>
                  <a:lnTo>
                    <a:pt x="8165592" y="0"/>
                  </a:lnTo>
                  <a:lnTo>
                    <a:pt x="816559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7501" r="0" b="-1675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8165592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Fluxo completo ponta a ponta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1645920" y="3528060"/>
            <a:ext cx="6809994" cy="154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Ideia → aprovação por IA → projeto → progresso → dashboard, testado com os 3 perfis reais.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416034" y="2400300"/>
            <a:ext cx="7632954" cy="2811780"/>
            <a:chOff x="0" y="0"/>
            <a:chExt cx="10177272" cy="37490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177272" cy="3749040"/>
            </a:xfrm>
            <a:custGeom>
              <a:avLst/>
              <a:gdLst/>
              <a:ahLst/>
              <a:cxnLst/>
              <a:rect r="r" b="b" t="t" l="l"/>
              <a:pathLst>
                <a:path h="3749040" w="10177272">
                  <a:moveTo>
                    <a:pt x="0" y="0"/>
                  </a:moveTo>
                  <a:lnTo>
                    <a:pt x="10177272" y="0"/>
                  </a:lnTo>
                  <a:lnTo>
                    <a:pt x="10177272" y="3749040"/>
                  </a:lnTo>
                  <a:lnTo>
                    <a:pt x="0" y="37490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9827514" y="2811780"/>
            <a:ext cx="480060" cy="480060"/>
            <a:chOff x="0" y="0"/>
            <a:chExt cx="640080" cy="6400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320040"/>
                  </a:moveTo>
                  <a:cubicBezTo>
                    <a:pt x="0" y="143256"/>
                    <a:pt x="143256" y="0"/>
                    <a:pt x="320040" y="0"/>
                  </a:cubicBezTo>
                  <a:cubicBezTo>
                    <a:pt x="496824" y="0"/>
                    <a:pt x="640080" y="143256"/>
                    <a:pt x="640080" y="320040"/>
                  </a:cubicBezTo>
                  <a:cubicBezTo>
                    <a:pt x="640080" y="496824"/>
                    <a:pt x="496824" y="640080"/>
                    <a:pt x="320040" y="640080"/>
                  </a:cubicBezTo>
                  <a:cubicBezTo>
                    <a:pt x="143256" y="640080"/>
                    <a:pt x="0" y="496824"/>
                    <a:pt x="0" y="320040"/>
                  </a:cubicBezTo>
                  <a:close/>
                </a:path>
              </a:pathLst>
            </a:custGeom>
            <a:solidFill>
              <a:srgbClr val="2E7D46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827514" y="2811780"/>
            <a:ext cx="480060" cy="480060"/>
            <a:chOff x="0" y="0"/>
            <a:chExt cx="640080" cy="6400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4008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0581894" y="2784348"/>
            <a:ext cx="6124194" cy="548640"/>
            <a:chOff x="0" y="0"/>
            <a:chExt cx="8165592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65592" cy="731520"/>
            </a:xfrm>
            <a:custGeom>
              <a:avLst/>
              <a:gdLst/>
              <a:ahLst/>
              <a:cxnLst/>
              <a:rect r="r" b="b" t="t" l="l"/>
              <a:pathLst>
                <a:path h="731520" w="8165592">
                  <a:moveTo>
                    <a:pt x="0" y="0"/>
                  </a:moveTo>
                  <a:lnTo>
                    <a:pt x="8165592" y="0"/>
                  </a:lnTo>
                  <a:lnTo>
                    <a:pt x="816559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7501" r="0" b="-167501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8165592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Resiliência a falhas de rede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9827514" y="3528060"/>
            <a:ext cx="6809994" cy="154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 fora do ar não derruba o app — telas degradam com segurança em vez de crashar.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34440" y="5623560"/>
            <a:ext cx="7632954" cy="2811780"/>
            <a:chOff x="0" y="0"/>
            <a:chExt cx="10177272" cy="37490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177272" cy="3749040"/>
            </a:xfrm>
            <a:custGeom>
              <a:avLst/>
              <a:gdLst/>
              <a:ahLst/>
              <a:cxnLst/>
              <a:rect r="r" b="b" t="t" l="l"/>
              <a:pathLst>
                <a:path h="3749040" w="10177272">
                  <a:moveTo>
                    <a:pt x="0" y="0"/>
                  </a:moveTo>
                  <a:lnTo>
                    <a:pt x="10177272" y="0"/>
                  </a:lnTo>
                  <a:lnTo>
                    <a:pt x="10177272" y="3749040"/>
                  </a:lnTo>
                  <a:lnTo>
                    <a:pt x="0" y="37490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645920" y="6035040"/>
            <a:ext cx="480060" cy="480060"/>
            <a:chOff x="0" y="0"/>
            <a:chExt cx="640080" cy="6400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320040"/>
                  </a:moveTo>
                  <a:cubicBezTo>
                    <a:pt x="0" y="143256"/>
                    <a:pt x="143256" y="0"/>
                    <a:pt x="320040" y="0"/>
                  </a:cubicBezTo>
                  <a:cubicBezTo>
                    <a:pt x="496824" y="0"/>
                    <a:pt x="640080" y="143256"/>
                    <a:pt x="640080" y="320040"/>
                  </a:cubicBezTo>
                  <a:cubicBezTo>
                    <a:pt x="640080" y="496824"/>
                    <a:pt x="496824" y="640080"/>
                    <a:pt x="320040" y="640080"/>
                  </a:cubicBezTo>
                  <a:cubicBezTo>
                    <a:pt x="143256" y="640080"/>
                    <a:pt x="0" y="496824"/>
                    <a:pt x="0" y="320040"/>
                  </a:cubicBezTo>
                  <a:close/>
                </a:path>
              </a:pathLst>
            </a:custGeom>
            <a:solidFill>
              <a:srgbClr val="2E7D46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645920" y="6035040"/>
            <a:ext cx="480060" cy="480060"/>
            <a:chOff x="0" y="0"/>
            <a:chExt cx="640080" cy="640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64008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2400300" y="6007608"/>
            <a:ext cx="6124194" cy="548640"/>
            <a:chOff x="0" y="0"/>
            <a:chExt cx="8165592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65592" cy="731520"/>
            </a:xfrm>
            <a:custGeom>
              <a:avLst/>
              <a:gdLst/>
              <a:ahLst/>
              <a:cxnLst/>
              <a:rect r="r" b="b" t="t" l="l"/>
              <a:pathLst>
                <a:path h="731520" w="8165592">
                  <a:moveTo>
                    <a:pt x="0" y="0"/>
                  </a:moveTo>
                  <a:lnTo>
                    <a:pt x="8165592" y="0"/>
                  </a:lnTo>
                  <a:lnTo>
                    <a:pt x="816559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7501" r="0" b="-167501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8165592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Permissões por role</a:t>
              </a:r>
            </a:p>
          </p:txBody>
        </p:sp>
      </p:grpSp>
      <p:sp>
        <p:nvSpPr>
          <p:cNvPr name="TextBox 40" id="40"/>
          <p:cNvSpPr txBox="true"/>
          <p:nvPr/>
        </p:nvSpPr>
        <p:spPr>
          <a:xfrm rot="0">
            <a:off x="1645920" y="6751320"/>
            <a:ext cx="6809994" cy="154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Cada restrição de acesso testada tanto pelo lado que deve funcionar quanto pelo que deve barrar (403).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416034" y="5623560"/>
            <a:ext cx="7632954" cy="2811780"/>
            <a:chOff x="0" y="0"/>
            <a:chExt cx="10177272" cy="37490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177272" cy="3749040"/>
            </a:xfrm>
            <a:custGeom>
              <a:avLst/>
              <a:gdLst/>
              <a:ahLst/>
              <a:cxnLst/>
              <a:rect r="r" b="b" t="t" l="l"/>
              <a:pathLst>
                <a:path h="3749040" w="10177272">
                  <a:moveTo>
                    <a:pt x="0" y="0"/>
                  </a:moveTo>
                  <a:lnTo>
                    <a:pt x="10177272" y="0"/>
                  </a:lnTo>
                  <a:lnTo>
                    <a:pt x="10177272" y="3749040"/>
                  </a:lnTo>
                  <a:lnTo>
                    <a:pt x="0" y="3749040"/>
                  </a:lnTo>
                  <a:close/>
                </a:path>
              </a:pathLst>
            </a:custGeom>
            <a:solidFill>
              <a:srgbClr val="F2F2F0"/>
            </a:solid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9827514" y="6035040"/>
            <a:ext cx="480060" cy="480060"/>
            <a:chOff x="0" y="0"/>
            <a:chExt cx="640080" cy="640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320040"/>
                  </a:moveTo>
                  <a:cubicBezTo>
                    <a:pt x="0" y="143256"/>
                    <a:pt x="143256" y="0"/>
                    <a:pt x="320040" y="0"/>
                  </a:cubicBezTo>
                  <a:cubicBezTo>
                    <a:pt x="496824" y="0"/>
                    <a:pt x="640080" y="143256"/>
                    <a:pt x="640080" y="320040"/>
                  </a:cubicBezTo>
                  <a:cubicBezTo>
                    <a:pt x="640080" y="496824"/>
                    <a:pt x="496824" y="640080"/>
                    <a:pt x="320040" y="640080"/>
                  </a:cubicBezTo>
                  <a:cubicBezTo>
                    <a:pt x="143256" y="640080"/>
                    <a:pt x="0" y="496824"/>
                    <a:pt x="0" y="320040"/>
                  </a:cubicBezTo>
                  <a:close/>
                </a:path>
              </a:pathLst>
            </a:custGeom>
            <a:solidFill>
              <a:srgbClr val="2E7D46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9827514" y="6035040"/>
            <a:ext cx="480060" cy="480060"/>
            <a:chOff x="0" y="0"/>
            <a:chExt cx="640080" cy="6400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4008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">
                  <a:moveTo>
                    <a:pt x="0" y="0"/>
                  </a:moveTo>
                  <a:lnTo>
                    <a:pt x="640080" y="0"/>
                  </a:lnTo>
                  <a:lnTo>
                    <a:pt x="64008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64008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✓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581894" y="6007608"/>
            <a:ext cx="6124194" cy="548640"/>
            <a:chOff x="0" y="0"/>
            <a:chExt cx="8165592" cy="7315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165592" cy="731520"/>
            </a:xfrm>
            <a:custGeom>
              <a:avLst/>
              <a:gdLst/>
              <a:ahLst/>
              <a:cxnLst/>
              <a:rect r="r" b="b" t="t" l="l"/>
              <a:pathLst>
                <a:path h="731520" w="8165592">
                  <a:moveTo>
                    <a:pt x="0" y="0"/>
                  </a:moveTo>
                  <a:lnTo>
                    <a:pt x="8165592" y="0"/>
                  </a:lnTo>
                  <a:lnTo>
                    <a:pt x="8165592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167501" r="0" b="-167501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47625"/>
              <a:ext cx="8165592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1A254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Dados órfãos e casos de borda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9827514" y="6751320"/>
            <a:ext cx="6809994" cy="1546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5B6472"/>
                </a:solidFill>
                <a:latin typeface="Calibri (MS)"/>
                <a:ea typeface="Calibri (MS)"/>
                <a:cs typeface="Calibri (MS)"/>
                <a:sym typeface="Calibri (MS)"/>
              </a:rPr>
              <a:t>Ideia/usuário removido do banco não quebra a listagem — resolvido com fallback no backend.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17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34440" y="754380"/>
            <a:ext cx="10972800" cy="480060"/>
            <a:chOff x="0" y="0"/>
            <a:chExt cx="14630400" cy="6400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640080"/>
            </a:xfrm>
            <a:custGeom>
              <a:avLst/>
              <a:gdLst/>
              <a:ahLst/>
              <a:cxnLst/>
              <a:rect r="r" b="b" t="t" l="l"/>
              <a:pathLst>
                <a:path h="6400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5372" r="0" b="-39537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630400" cy="6877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C87D0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CÓDIGO-FONTE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4440" y="1234440"/>
            <a:ext cx="15087600" cy="960120"/>
            <a:chOff x="0" y="0"/>
            <a:chExt cx="20116800" cy="12801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1168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6193" r="0" b="-25619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2011680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759"/>
                </a:lnSpc>
              </a:pPr>
              <a:r>
                <a:rPr lang="en-US" sz="4800" b="true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Repositórios do projeto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34440" y="2263140"/>
            <a:ext cx="14401800" cy="685800"/>
            <a:chOff x="0" y="0"/>
            <a:chExt cx="19202400" cy="914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202400" cy="914400"/>
            </a:xfrm>
            <a:custGeom>
              <a:avLst/>
              <a:gdLst/>
              <a:ahLst/>
              <a:cxnLst/>
              <a:rect r="r" b="b" t="t" l="l"/>
              <a:pathLst>
                <a:path h="91440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9185" r="0" b="-35918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920240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Aponte a câmera para acessar o código-fonte de cada repositório no GitHub.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23594" y="3429000"/>
            <a:ext cx="7406640" cy="6035040"/>
            <a:chOff x="0" y="0"/>
            <a:chExt cx="9875520" cy="804672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875520" cy="8046720"/>
            </a:xfrm>
            <a:custGeom>
              <a:avLst/>
              <a:gdLst/>
              <a:ahLst/>
              <a:cxnLst/>
              <a:rect r="r" b="b" t="t" l="l"/>
              <a:pathLst>
                <a:path h="8046720" w="9875520">
                  <a:moveTo>
                    <a:pt x="0" y="0"/>
                  </a:moveTo>
                  <a:lnTo>
                    <a:pt x="9875520" y="0"/>
                  </a:lnTo>
                  <a:lnTo>
                    <a:pt x="9875520" y="8046720"/>
                  </a:lnTo>
                  <a:lnTo>
                    <a:pt x="0" y="804672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229546" y="3894772"/>
            <a:ext cx="3594735" cy="3594735"/>
            <a:chOff x="0" y="0"/>
            <a:chExt cx="4792980" cy="47929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792980" cy="4792980"/>
            </a:xfrm>
            <a:custGeom>
              <a:avLst/>
              <a:gdLst/>
              <a:ahLst/>
              <a:cxnLst/>
              <a:rect r="r" b="b" t="t" l="l"/>
              <a:pathLst>
                <a:path h="4792980" w="4792980">
                  <a:moveTo>
                    <a:pt x="0" y="0"/>
                  </a:moveTo>
                  <a:lnTo>
                    <a:pt x="4792980" y="0"/>
                  </a:lnTo>
                  <a:lnTo>
                    <a:pt x="4792980" y="4792980"/>
                  </a:lnTo>
                  <a:lnTo>
                    <a:pt x="0" y="479298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  <a:ln w="28575" cap="sq">
              <a:solidFill>
                <a:srgbClr val="1A2540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735074" y="7886700"/>
            <a:ext cx="6583680" cy="548640"/>
            <a:chOff x="0" y="0"/>
            <a:chExt cx="8778240" cy="7315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778240" cy="731520"/>
            </a:xfrm>
            <a:custGeom>
              <a:avLst/>
              <a:gdLst/>
              <a:ahLst/>
              <a:cxnLst/>
              <a:rect r="r" b="b" t="t" l="l"/>
              <a:pathLst>
                <a:path h="73152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19050"/>
              <a:ext cx="877824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aria-project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735074" y="7680960"/>
            <a:ext cx="6583680" cy="480060"/>
            <a:chOff x="0" y="0"/>
            <a:chExt cx="8778240" cy="6400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778240" cy="640080"/>
            </a:xfrm>
            <a:custGeom>
              <a:avLst/>
              <a:gdLst/>
              <a:ahLst/>
              <a:cxnLst/>
              <a:rect r="r" b="b" t="t" l="l"/>
              <a:pathLst>
                <a:path h="64008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7223" r="0" b="-217223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87782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79"/>
                </a:lnSpc>
              </a:pPr>
              <a:r>
                <a:rPr lang="en-US" sz="1899">
                  <a:solidFill>
                    <a:srgbClr val="C7CE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App Android (Kotlin + Jetpack Compose)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735074" y="8288655"/>
            <a:ext cx="6583680" cy="681651"/>
            <a:chOff x="0" y="0"/>
            <a:chExt cx="8778240" cy="90886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778239" cy="908869"/>
            </a:xfrm>
            <a:custGeom>
              <a:avLst/>
              <a:gdLst/>
              <a:ahLst/>
              <a:cxnLst/>
              <a:rect r="r" b="b" t="t" l="l"/>
              <a:pathLst>
                <a:path h="908869" w="8778239">
                  <a:moveTo>
                    <a:pt x="0" y="0"/>
                  </a:moveTo>
                  <a:lnTo>
                    <a:pt x="8778239" y="0"/>
                  </a:lnTo>
                  <a:lnTo>
                    <a:pt x="8778239" y="908869"/>
                  </a:lnTo>
                  <a:lnTo>
                    <a:pt x="0" y="90886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8D8D6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1735074" y="8355415"/>
            <a:ext cx="6583680" cy="534966"/>
            <a:chOff x="0" y="0"/>
            <a:chExt cx="8778240" cy="71328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778239" cy="713289"/>
            </a:xfrm>
            <a:custGeom>
              <a:avLst/>
              <a:gdLst/>
              <a:ahLst/>
              <a:cxnLst/>
              <a:rect r="r" b="b" t="t" l="l"/>
              <a:pathLst>
                <a:path h="713289" w="8778239">
                  <a:moveTo>
                    <a:pt x="0" y="0"/>
                  </a:moveTo>
                  <a:lnTo>
                    <a:pt x="8778239" y="0"/>
                  </a:lnTo>
                  <a:lnTo>
                    <a:pt x="8778239" y="713289"/>
                  </a:lnTo>
                  <a:lnTo>
                    <a:pt x="0" y="71328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8535" r="8333" b="-171091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0"/>
              <a:ext cx="8778240" cy="7132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i="true" u="sng">
                  <a:solidFill>
                    <a:srgbClr val="5B6472"/>
                  </a:solidFill>
                  <a:latin typeface="Courier New Italics"/>
                  <a:ea typeface="Courier New Italics"/>
                  <a:cs typeface="Courier New Italics"/>
                  <a:sym typeface="Courier New Italics"/>
                  <a:hlinkClick r:id="rId5" tooltip="https://github.com/PROJETOS-FIAP-2TDSOD/aria-project"/>
                </a:rPr>
                <a:t>https://github.com/PROJETOS-FIAP-2TDSOD/aria-project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553194" y="3429000"/>
            <a:ext cx="7406640" cy="6035040"/>
            <a:chOff x="0" y="0"/>
            <a:chExt cx="9875520" cy="80467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875520" cy="8046720"/>
            </a:xfrm>
            <a:custGeom>
              <a:avLst/>
              <a:gdLst/>
              <a:ahLst/>
              <a:cxnLst/>
              <a:rect r="r" b="b" t="t" l="l"/>
              <a:pathLst>
                <a:path h="8046720" w="9875520">
                  <a:moveTo>
                    <a:pt x="0" y="0"/>
                  </a:moveTo>
                  <a:lnTo>
                    <a:pt x="9875520" y="0"/>
                  </a:lnTo>
                  <a:lnTo>
                    <a:pt x="9875520" y="8046720"/>
                  </a:lnTo>
                  <a:lnTo>
                    <a:pt x="0" y="8046720"/>
                  </a:lnTo>
                  <a:close/>
                </a:path>
              </a:pathLst>
            </a:custGeom>
            <a:solidFill>
              <a:srgbClr val="1A2540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459146" y="3894772"/>
            <a:ext cx="3594735" cy="3594735"/>
            <a:chOff x="0" y="0"/>
            <a:chExt cx="4792980" cy="479298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792980" cy="4792980"/>
            </a:xfrm>
            <a:custGeom>
              <a:avLst/>
              <a:gdLst/>
              <a:ahLst/>
              <a:cxnLst/>
              <a:rect r="r" b="b" t="t" l="l"/>
              <a:pathLst>
                <a:path h="4792980" w="4792980">
                  <a:moveTo>
                    <a:pt x="0" y="0"/>
                  </a:moveTo>
                  <a:lnTo>
                    <a:pt x="4792980" y="0"/>
                  </a:lnTo>
                  <a:lnTo>
                    <a:pt x="4792980" y="4792980"/>
                  </a:lnTo>
                  <a:lnTo>
                    <a:pt x="0" y="479298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  <a:ln w="28575" cap="sq">
              <a:solidFill>
                <a:srgbClr val="1A2540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964674" y="7886700"/>
            <a:ext cx="6583680" cy="548640"/>
            <a:chOff x="0" y="0"/>
            <a:chExt cx="8778240" cy="7315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778240" cy="731520"/>
            </a:xfrm>
            <a:custGeom>
              <a:avLst/>
              <a:gdLst/>
              <a:ahLst/>
              <a:cxnLst/>
              <a:rect r="r" b="b" t="t" l="l"/>
              <a:pathLst>
                <a:path h="73152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877824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 b="true">
                  <a:solidFill>
                    <a:srgbClr val="1A254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aria-backend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964674" y="7680960"/>
            <a:ext cx="6583680" cy="480060"/>
            <a:chOff x="0" y="0"/>
            <a:chExt cx="8778240" cy="6400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778240" cy="640080"/>
            </a:xfrm>
            <a:custGeom>
              <a:avLst/>
              <a:gdLst/>
              <a:ahLst/>
              <a:cxnLst/>
              <a:rect r="r" b="b" t="t" l="l"/>
              <a:pathLst>
                <a:path h="64008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7223" r="0" b="-217223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877824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79"/>
                </a:lnSpc>
              </a:pPr>
              <a:r>
                <a:rPr lang="en-US" b="true" sz="1899">
                  <a:solidFill>
                    <a:srgbClr val="C7CED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Backend (Spring Boot + MongoDB)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964674" y="8288655"/>
            <a:ext cx="6583680" cy="681651"/>
            <a:chOff x="0" y="0"/>
            <a:chExt cx="8778240" cy="90886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778239" cy="908869"/>
            </a:xfrm>
            <a:custGeom>
              <a:avLst/>
              <a:gdLst/>
              <a:ahLst/>
              <a:cxnLst/>
              <a:rect r="r" b="b" t="t" l="l"/>
              <a:pathLst>
                <a:path h="908869" w="8778239">
                  <a:moveTo>
                    <a:pt x="0" y="0"/>
                  </a:moveTo>
                  <a:lnTo>
                    <a:pt x="8778239" y="0"/>
                  </a:lnTo>
                  <a:lnTo>
                    <a:pt x="8778239" y="908869"/>
                  </a:lnTo>
                  <a:lnTo>
                    <a:pt x="0" y="908869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8D8D6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9964674" y="8351520"/>
            <a:ext cx="6583680" cy="542756"/>
            <a:chOff x="0" y="0"/>
            <a:chExt cx="8778240" cy="72367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778239" cy="723674"/>
            </a:xfrm>
            <a:custGeom>
              <a:avLst/>
              <a:gdLst/>
              <a:ahLst/>
              <a:cxnLst/>
              <a:rect r="r" b="b" t="t" l="l"/>
              <a:pathLst>
                <a:path h="723674" w="8778239">
                  <a:moveTo>
                    <a:pt x="0" y="0"/>
                  </a:moveTo>
                  <a:lnTo>
                    <a:pt x="8778239" y="0"/>
                  </a:lnTo>
                  <a:lnTo>
                    <a:pt x="8778239" y="723674"/>
                  </a:lnTo>
                  <a:lnTo>
                    <a:pt x="0" y="72367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6117" r="8333" b="-167201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0"/>
              <a:ext cx="8778240" cy="72367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i="true" u="sng">
                  <a:solidFill>
                    <a:srgbClr val="5B6472"/>
                  </a:solidFill>
                  <a:latin typeface="Courier New Italics"/>
                  <a:ea typeface="Courier New Italics"/>
                  <a:cs typeface="Courier New Italics"/>
                  <a:sym typeface="Courier New Italics"/>
                  <a:hlinkClick r:id="rId7" tooltip="https://github.com/PROJETOS-FIAP-2TDSOD/aria-backend"/>
                </a:rPr>
                <a:t>https://github.com/PROJETOS-FIAP-2TDSOD/aria-backend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7323308" y="9669780"/>
            <a:ext cx="685800" cy="411480"/>
            <a:chOff x="0" y="0"/>
            <a:chExt cx="91440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5B6472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17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345668" y="-3017520"/>
            <a:ext cx="8915400" cy="8915400"/>
            <a:chOff x="0" y="0"/>
            <a:chExt cx="11887200" cy="11887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87200" cy="11887200"/>
            </a:xfrm>
            <a:custGeom>
              <a:avLst/>
              <a:gdLst/>
              <a:ahLst/>
              <a:cxnLst/>
              <a:rect r="r" b="b" t="t" l="l"/>
              <a:pathLst>
                <a:path h="11887200" w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273657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34440" y="2194560"/>
            <a:ext cx="13716000" cy="3017520"/>
            <a:chOff x="0" y="0"/>
            <a:chExt cx="18288000" cy="402336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8288000" cy="4023360"/>
            </a:xfrm>
            <a:custGeom>
              <a:avLst/>
              <a:gdLst/>
              <a:ahLst/>
              <a:cxnLst/>
              <a:rect r="r" b="b" t="t" l="l"/>
              <a:pathLst>
                <a:path h="402336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4023360"/>
                  </a:lnTo>
                  <a:lnTo>
                    <a:pt x="0" y="40233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38568" r="0" b="-3856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9525"/>
              <a:ext cx="18288000" cy="40328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6120"/>
                </a:lnSpc>
              </a:pPr>
              <a:r>
                <a:rPr lang="en-US" b="true" sz="5100" i="true">
                  <a:solidFill>
                    <a:srgbClr val="FFFFFF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ARIA transforma inovação</a:t>
              </a:r>
            </a:p>
            <a:p>
              <a:pPr algn="l">
                <a:lnSpc>
                  <a:spcPts val="6120"/>
                </a:lnSpc>
              </a:pPr>
              <a:r>
                <a:rPr lang="en-US" b="true" sz="5100" i="true">
                  <a:solidFill>
                    <a:srgbClr val="FFFFFF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operacional em resultado</a:t>
              </a:r>
            </a:p>
            <a:p>
              <a:pPr algn="l">
                <a:lnSpc>
                  <a:spcPts val="6120"/>
                </a:lnSpc>
              </a:pPr>
              <a:r>
                <a:rPr lang="en-US" b="true" sz="5100" i="true">
                  <a:solidFill>
                    <a:srgbClr val="FFFFFF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estratégico.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34440" y="5143500"/>
            <a:ext cx="13030200" cy="822960"/>
            <a:chOff x="0" y="0"/>
            <a:chExt cx="17373600" cy="10972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73736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7373600">
                  <a:moveTo>
                    <a:pt x="0" y="0"/>
                  </a:moveTo>
                  <a:lnTo>
                    <a:pt x="17373600" y="0"/>
                  </a:lnTo>
                  <a:lnTo>
                    <a:pt x="1737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58513" r="0" b="-2585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7373600" cy="11353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C7CEDD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Não é mais uma promessa. É uma plataforma rodando, hoje, na nuvem.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34440" y="8229600"/>
            <a:ext cx="3610737" cy="548640"/>
            <a:chOff x="0" y="0"/>
            <a:chExt cx="4814316" cy="731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814316" cy="731520"/>
            </a:xfrm>
            <a:custGeom>
              <a:avLst/>
              <a:gdLst/>
              <a:ahLst/>
              <a:cxnLst/>
              <a:rect r="r" b="b" t="t" l="l"/>
              <a:pathLst>
                <a:path h="73152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235" r="0" b="-7823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4814316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Ana Cristina dos Santos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34440" y="8709660"/>
            <a:ext cx="3610737" cy="480060"/>
            <a:chOff x="0" y="0"/>
            <a:chExt cx="4814316" cy="6400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814316" cy="640080"/>
            </a:xfrm>
            <a:custGeom>
              <a:avLst/>
              <a:gdLst/>
              <a:ahLst/>
              <a:cxnLst/>
              <a:rect r="r" b="b" t="t" l="l"/>
              <a:pathLst>
                <a:path h="6400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555" r="0" b="-9655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481431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565086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5188077" y="8229600"/>
            <a:ext cx="3610737" cy="548640"/>
            <a:chOff x="0" y="0"/>
            <a:chExt cx="4814316" cy="7315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814316" cy="731520"/>
            </a:xfrm>
            <a:custGeom>
              <a:avLst/>
              <a:gdLst/>
              <a:ahLst/>
              <a:cxnLst/>
              <a:rect r="r" b="b" t="t" l="l"/>
              <a:pathLst>
                <a:path h="73152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235" r="0" b="-7823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4814316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Bruno Queiroz Pires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5188077" y="8709660"/>
            <a:ext cx="3610737" cy="480060"/>
            <a:chOff x="0" y="0"/>
            <a:chExt cx="4814316" cy="64008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814316" cy="640080"/>
            </a:xfrm>
            <a:custGeom>
              <a:avLst/>
              <a:gdLst/>
              <a:ahLst/>
              <a:cxnLst/>
              <a:rect r="r" b="b" t="t" l="l"/>
              <a:pathLst>
                <a:path h="6400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555" r="0" b="-96555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481431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561676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141714" y="8229600"/>
            <a:ext cx="3610737" cy="548640"/>
            <a:chOff x="0" y="0"/>
            <a:chExt cx="4814316" cy="73152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814316" cy="731520"/>
            </a:xfrm>
            <a:custGeom>
              <a:avLst/>
              <a:gdLst/>
              <a:ahLst/>
              <a:cxnLst/>
              <a:rect r="r" b="b" t="t" l="l"/>
              <a:pathLst>
                <a:path h="73152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235" r="0" b="-7823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4814316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Vitor Mello de Araújo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9141714" y="8709660"/>
            <a:ext cx="3610737" cy="480060"/>
            <a:chOff x="0" y="0"/>
            <a:chExt cx="4814316" cy="6400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814316" cy="640080"/>
            </a:xfrm>
            <a:custGeom>
              <a:avLst/>
              <a:gdLst/>
              <a:ahLst/>
              <a:cxnLst/>
              <a:rect r="r" b="b" t="t" l="l"/>
              <a:pathLst>
                <a:path h="6400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555" r="0" b="-96555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481431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561632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095351" y="8229600"/>
            <a:ext cx="3610737" cy="548640"/>
            <a:chOff x="0" y="0"/>
            <a:chExt cx="4814316" cy="73152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814316" cy="731520"/>
            </a:xfrm>
            <a:custGeom>
              <a:avLst/>
              <a:gdLst/>
              <a:ahLst/>
              <a:cxnLst/>
              <a:rect r="r" b="b" t="t" l="l"/>
              <a:pathLst>
                <a:path h="73152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78235" r="0" b="-7823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4814316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Vitor Passeri de Souza Kaluf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3095351" y="8709660"/>
            <a:ext cx="3610737" cy="480060"/>
            <a:chOff x="0" y="0"/>
            <a:chExt cx="4814316" cy="6400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814316" cy="640080"/>
            </a:xfrm>
            <a:custGeom>
              <a:avLst/>
              <a:gdLst/>
              <a:ahLst/>
              <a:cxnLst/>
              <a:rect r="r" b="b" t="t" l="l"/>
              <a:pathLst>
                <a:path h="64008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96555" r="0" b="-96555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4814316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E8B15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RM 562852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234440" y="822960"/>
            <a:ext cx="12344400" cy="480060"/>
            <a:chOff x="0" y="0"/>
            <a:chExt cx="16459200" cy="6400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6459200" cy="640080"/>
            </a:xfrm>
            <a:custGeom>
              <a:avLst/>
              <a:gdLst/>
              <a:ahLst/>
              <a:cxnLst/>
              <a:rect r="r" b="b" t="t" l="l"/>
              <a:pathLst>
                <a:path h="6400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51043" r="0" b="-451043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1645920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>
                  <a:solidFill>
                    <a:srgbClr val="E8B1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 ÁGUIA BRANCA · SPRINT 2 · FIAP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DAHV4D47QQY</dc:identifier>
  <dcterms:modified xsi:type="dcterms:W3CDTF">2011-08-01T06:04:30Z</dcterms:modified>
  <cp:revision>1</cp:revision>
  <dc:title>ARIA - Águia Branca - Challenge Sprint 2</dc:title>
</cp:coreProperties>
</file>