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notesMasterIdLst>
    <p:notesMasterId r:id="rId33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</p:sldIdLst>
  <p:sldSz cx="18288000" cy="10287000"/>
  <p:notesSz cx="6858000" cy="9144000"/>
  <p:embeddedFontLst>
    <p:embeddedFont>
      <p:font typeface="Calibri (MS)" charset="1" panose="020F0502020204030204"/>
      <p:regular r:id="rId25"/>
    </p:embeddedFont>
    <p:embeddedFont>
      <p:font typeface="Cambria Bold" charset="1" panose="02040803050406030204"/>
      <p:regular r:id="rId26"/>
    </p:embeddedFont>
    <p:embeddedFont>
      <p:font typeface="Cambria Italics" charset="1" panose="020405030504060A0204"/>
      <p:regular r:id="rId27"/>
    </p:embeddedFont>
    <p:embeddedFont>
      <p:font typeface="Calibri (MS) Bold" charset="1" panose="020F0702030404030204"/>
      <p:regular r:id="rId28"/>
    </p:embeddedFont>
    <p:embeddedFont>
      <p:font typeface="Calibri (MS) Italics" charset="1" panose="020F05020202040A0204"/>
      <p:regular r:id="rId29"/>
    </p:embeddedFont>
    <p:embeddedFont>
      <p:font typeface="Courier New" charset="1" panose="02070309020205020404"/>
      <p:regular r:id="rId30"/>
    </p:embeddedFont>
    <p:embeddedFont>
      <p:font typeface="Courier New Bold" charset="1" panose="02070609020205020404"/>
      <p:regular r:id="rId31"/>
    </p:embeddedFont>
    <p:embeddedFont>
      <p:font typeface="Calibri (MS) Bold Italics" charset="1" panose="020F07020304040A0204"/>
      <p:regular r:id="rId32"/>
    </p:embeddedFont>
    <p:embeddedFont>
      <p:font typeface="Courier New Italics" charset="1" panose="02070409020205090404"/>
      <p:regular r:id="rId36"/>
    </p:embeddedFont>
    <p:embeddedFont>
      <p:font typeface="Cambria Bold Italics" charset="1" panose="020408030504060A0204"/>
      <p:regular r:id="rId3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slides/slide19.xml" Type="http://schemas.openxmlformats.org/officeDocument/2006/relationships/slide"/><Relationship Id="rId25" Target="fonts/font25.fntdata" Type="http://schemas.openxmlformats.org/officeDocument/2006/relationships/font"/><Relationship Id="rId26" Target="fonts/font26.fntdata" Type="http://schemas.openxmlformats.org/officeDocument/2006/relationships/font"/><Relationship Id="rId27" Target="fonts/font27.fntdata" Type="http://schemas.openxmlformats.org/officeDocument/2006/relationships/font"/><Relationship Id="rId28" Target="fonts/font28.fntdata" Type="http://schemas.openxmlformats.org/officeDocument/2006/relationships/font"/><Relationship Id="rId29" Target="fonts/font29.fntdata" Type="http://schemas.openxmlformats.org/officeDocument/2006/relationships/font"/><Relationship Id="rId3" Target="viewProps.xml" Type="http://schemas.openxmlformats.org/officeDocument/2006/relationships/viewProps"/><Relationship Id="rId30" Target="fonts/font30.fntdata" Type="http://schemas.openxmlformats.org/officeDocument/2006/relationships/font"/><Relationship Id="rId31" Target="fonts/font31.fntdata" Type="http://schemas.openxmlformats.org/officeDocument/2006/relationships/font"/><Relationship Id="rId32" Target="fonts/font32.fntdata" Type="http://schemas.openxmlformats.org/officeDocument/2006/relationships/font"/><Relationship Id="rId33" Target="notesMasters/notesMaster1.xml" Type="http://schemas.openxmlformats.org/officeDocument/2006/relationships/notesMaster"/><Relationship Id="rId34" Target="theme/theme2.xml" Type="http://schemas.openxmlformats.org/officeDocument/2006/relationships/theme"/><Relationship Id="rId35" Target="notesSlides/notesSlide1.xml" Type="http://schemas.openxmlformats.org/officeDocument/2006/relationships/notesSlide"/><Relationship Id="rId36" Target="fonts/font36.fntdata" Type="http://schemas.openxmlformats.org/officeDocument/2006/relationships/font"/><Relationship Id="rId37" Target="fonts/font37.fntdata" Type="http://schemas.openxmlformats.org/officeDocument/2006/relationships/font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8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17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.xml" Type="http://schemas.openxmlformats.org/officeDocument/2006/relationships/notesSlide"/><Relationship Id="rId3" Target="../media/image1.jpeg" Type="http://schemas.openxmlformats.org/officeDocument/2006/relationships/image"/><Relationship Id="rId4" Target="../media/image2.png" Type="http://schemas.openxmlformats.org/officeDocument/2006/relationships/image"/><Relationship Id="rId5" Target="https://github.com/PROJETOS-FIAP-2TDSOD/aria-project" TargetMode="External" Type="http://schemas.openxmlformats.org/officeDocument/2006/relationships/hyperlink"/><Relationship Id="rId6" Target="../media/image3.png" Type="http://schemas.openxmlformats.org/officeDocument/2006/relationships/image"/><Relationship Id="rId7" Target="https://github.com/PROJETOS-FIAP-2TDSOD/aria-backend" TargetMode="External" Type="http://schemas.openxmlformats.org/officeDocument/2006/relationships/hyperlink"/></Relationships>
</file>

<file path=ppt/slides/_rels/slide1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A25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3428" cy="10287000"/>
            <a:chOff x="0" y="0"/>
            <a:chExt cx="24377904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77904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77904">
                  <a:moveTo>
                    <a:pt x="0" y="0"/>
                  </a:moveTo>
                  <a:lnTo>
                    <a:pt x="24377904" y="0"/>
                  </a:lnTo>
                  <a:lnTo>
                    <a:pt x="24377904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1A2540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3345668" y="-3017520"/>
            <a:ext cx="8915400" cy="8915400"/>
            <a:chOff x="0" y="0"/>
            <a:chExt cx="11887200" cy="118872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1887200" cy="11887200"/>
            </a:xfrm>
            <a:custGeom>
              <a:avLst/>
              <a:gdLst/>
              <a:ahLst/>
              <a:cxnLst/>
              <a:rect r="r" b="b" t="t" l="l"/>
              <a:pathLst>
                <a:path h="11887200" w="11887200">
                  <a:moveTo>
                    <a:pt x="0" y="5943600"/>
                  </a:moveTo>
                  <a:cubicBezTo>
                    <a:pt x="0" y="2661031"/>
                    <a:pt x="2661031" y="0"/>
                    <a:pt x="5943600" y="0"/>
                  </a:cubicBezTo>
                  <a:cubicBezTo>
                    <a:pt x="9226169" y="0"/>
                    <a:pt x="11887200" y="2661031"/>
                    <a:pt x="11887200" y="5943600"/>
                  </a:cubicBezTo>
                  <a:cubicBezTo>
                    <a:pt x="11887200" y="9226169"/>
                    <a:pt x="9226169" y="11887200"/>
                    <a:pt x="5943600" y="11887200"/>
                  </a:cubicBezTo>
                  <a:cubicBezTo>
                    <a:pt x="2661031" y="11887200"/>
                    <a:pt x="0" y="9226169"/>
                    <a:pt x="0" y="5943600"/>
                  </a:cubicBezTo>
                  <a:close/>
                </a:path>
              </a:pathLst>
            </a:custGeom>
            <a:solidFill>
              <a:srgbClr val="273657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-3566160" y="6720840"/>
            <a:ext cx="6172200" cy="6172200"/>
            <a:chOff x="0" y="0"/>
            <a:chExt cx="8229600" cy="82296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229600" cy="8229600"/>
            </a:xfrm>
            <a:custGeom>
              <a:avLst/>
              <a:gdLst/>
              <a:ahLst/>
              <a:cxnLst/>
              <a:rect r="r" b="b" t="t" l="l"/>
              <a:pathLst>
                <a:path h="8229600" w="8229600">
                  <a:moveTo>
                    <a:pt x="0" y="4114800"/>
                  </a:moveTo>
                  <a:cubicBezTo>
                    <a:pt x="0" y="1842262"/>
                    <a:pt x="1842262" y="0"/>
                    <a:pt x="4114800" y="0"/>
                  </a:cubicBezTo>
                  <a:cubicBezTo>
                    <a:pt x="6387338" y="0"/>
                    <a:pt x="8229600" y="1842262"/>
                    <a:pt x="8229600" y="4114800"/>
                  </a:cubicBezTo>
                  <a:cubicBezTo>
                    <a:pt x="8229600" y="6387338"/>
                    <a:pt x="6387338" y="8229600"/>
                    <a:pt x="4114800" y="8229600"/>
                  </a:cubicBezTo>
                  <a:cubicBezTo>
                    <a:pt x="1842262" y="8229600"/>
                    <a:pt x="0" y="6387338"/>
                    <a:pt x="0" y="4114800"/>
                  </a:cubicBezTo>
                  <a:close/>
                </a:path>
              </a:pathLst>
            </a:custGeom>
            <a:solidFill>
              <a:srgbClr val="273657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1234440" y="2057400"/>
            <a:ext cx="13716000" cy="548640"/>
            <a:chOff x="0" y="0"/>
            <a:chExt cx="18288000" cy="73152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8288000" cy="731520"/>
            </a:xfrm>
            <a:custGeom>
              <a:avLst/>
              <a:gdLst/>
              <a:ahLst/>
              <a:cxnLst/>
              <a:rect r="r" b="b" t="t" l="l"/>
              <a:pathLst>
                <a:path h="731520" w="18288000">
                  <a:moveTo>
                    <a:pt x="0" y="0"/>
                  </a:moveTo>
                  <a:lnTo>
                    <a:pt x="18288000" y="0"/>
                  </a:lnTo>
                  <a:lnTo>
                    <a:pt x="182880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37125" r="0" b="-437125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47625"/>
              <a:ext cx="18288000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sz="1950">
                  <a:solidFill>
                    <a:srgbClr val="E8B15C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CHALLENGE ÁGUIA BRANCA · FIAP · SPRINT 2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165860" y="2606040"/>
            <a:ext cx="12344400" cy="2331720"/>
            <a:chOff x="0" y="0"/>
            <a:chExt cx="16459200" cy="310896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6459200" cy="3108960"/>
            </a:xfrm>
            <a:custGeom>
              <a:avLst/>
              <a:gdLst/>
              <a:ahLst/>
              <a:cxnLst/>
              <a:rect r="r" b="b" t="t" l="l"/>
              <a:pathLst>
                <a:path h="3108960" w="16459200">
                  <a:moveTo>
                    <a:pt x="0" y="0"/>
                  </a:moveTo>
                  <a:lnTo>
                    <a:pt x="16459200" y="0"/>
                  </a:lnTo>
                  <a:lnTo>
                    <a:pt x="16459200" y="3108960"/>
                  </a:lnTo>
                  <a:lnTo>
                    <a:pt x="0" y="31089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53156" r="0" b="-53156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19050"/>
              <a:ext cx="16459200" cy="31280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280"/>
                </a:lnSpc>
              </a:pPr>
              <a:r>
                <a:rPr lang="en-US" b="true" sz="14400">
                  <a:solidFill>
                    <a:srgbClr val="FFFFF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ARIA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234440" y="4869180"/>
            <a:ext cx="13030200" cy="822960"/>
            <a:chOff x="0" y="0"/>
            <a:chExt cx="17373600" cy="109728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7373600" cy="1097280"/>
            </a:xfrm>
            <a:custGeom>
              <a:avLst/>
              <a:gdLst/>
              <a:ahLst/>
              <a:cxnLst/>
              <a:rect r="r" b="b" t="t" l="l"/>
              <a:pathLst>
                <a:path h="1097280" w="17373600">
                  <a:moveTo>
                    <a:pt x="0" y="0"/>
                  </a:moveTo>
                  <a:lnTo>
                    <a:pt x="17373600" y="0"/>
                  </a:lnTo>
                  <a:lnTo>
                    <a:pt x="1737360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58513" r="0" b="-258513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19050"/>
              <a:ext cx="17373600" cy="11163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320"/>
                </a:lnSpc>
              </a:pPr>
              <a:r>
                <a:rPr lang="en-US" sz="3600" i="true">
                  <a:solidFill>
                    <a:srgbClr val="FFFFFF"/>
                  </a:solidFill>
                  <a:latin typeface="Cambria Italics"/>
                  <a:ea typeface="Cambria Italics"/>
                  <a:cs typeface="Cambria Italics"/>
                  <a:sym typeface="Cambria Italics"/>
                </a:rPr>
                <a:t>Da ideia no chão de fábrica ao resultado no board.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234440" y="5692140"/>
            <a:ext cx="13030200" cy="685800"/>
            <a:chOff x="0" y="0"/>
            <a:chExt cx="17373600" cy="9144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7373600" cy="914400"/>
            </a:xfrm>
            <a:custGeom>
              <a:avLst/>
              <a:gdLst/>
              <a:ahLst/>
              <a:cxnLst/>
              <a:rect r="r" b="b" t="t" l="l"/>
              <a:pathLst>
                <a:path h="914400" w="17373600">
                  <a:moveTo>
                    <a:pt x="0" y="0"/>
                  </a:moveTo>
                  <a:lnTo>
                    <a:pt x="17373600" y="0"/>
                  </a:lnTo>
                  <a:lnTo>
                    <a:pt x="1737360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20215" r="0" b="-320215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57150"/>
              <a:ext cx="17373600" cy="9715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00"/>
                </a:lnSpc>
              </a:pPr>
              <a:r>
                <a:rPr lang="en-US" sz="2250">
                  <a:solidFill>
                    <a:srgbClr val="C7CED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Agora com um backend de verdade, IA de verdade e nuvem de verdade.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1234440" y="7612380"/>
            <a:ext cx="3610737" cy="1851660"/>
            <a:chOff x="0" y="0"/>
            <a:chExt cx="4814316" cy="246888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4814316" cy="2468880"/>
            </a:xfrm>
            <a:custGeom>
              <a:avLst/>
              <a:gdLst/>
              <a:ahLst/>
              <a:cxnLst/>
              <a:rect r="r" b="b" t="t" l="l"/>
              <a:pathLst>
                <a:path h="2468880" w="4814316">
                  <a:moveTo>
                    <a:pt x="0" y="0"/>
                  </a:moveTo>
                  <a:lnTo>
                    <a:pt x="4814316" y="0"/>
                  </a:lnTo>
                  <a:lnTo>
                    <a:pt x="4814316" y="2468880"/>
                  </a:lnTo>
                  <a:lnTo>
                    <a:pt x="0" y="2468880"/>
                  </a:lnTo>
                  <a:close/>
                </a:path>
              </a:pathLst>
            </a:custGeom>
            <a:solidFill>
              <a:srgbClr val="273657"/>
            </a:solidFill>
          </p:spPr>
        </p:sp>
      </p:grpSp>
      <p:sp>
        <p:nvSpPr>
          <p:cNvPr name="TextBox 22" id="22"/>
          <p:cNvSpPr txBox="true"/>
          <p:nvPr/>
        </p:nvSpPr>
        <p:spPr>
          <a:xfrm rot="0">
            <a:off x="1481328" y="7752588"/>
            <a:ext cx="3130677" cy="9296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b="true" sz="1800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Ana Cristina dos Santos</a:t>
            </a:r>
          </a:p>
        </p:txBody>
      </p:sp>
      <p:grpSp>
        <p:nvGrpSpPr>
          <p:cNvPr name="Group 23" id="23"/>
          <p:cNvGrpSpPr/>
          <p:nvPr/>
        </p:nvGrpSpPr>
        <p:grpSpPr>
          <a:xfrm rot="0">
            <a:off x="1481328" y="8709660"/>
            <a:ext cx="3130677" cy="480060"/>
            <a:chOff x="0" y="0"/>
            <a:chExt cx="4174236" cy="64008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4174236" cy="640080"/>
            </a:xfrm>
            <a:custGeom>
              <a:avLst/>
              <a:gdLst/>
              <a:ahLst/>
              <a:cxnLst/>
              <a:rect r="r" b="b" t="t" l="l"/>
              <a:pathLst>
                <a:path h="640080" w="4174236">
                  <a:moveTo>
                    <a:pt x="0" y="0"/>
                  </a:moveTo>
                  <a:lnTo>
                    <a:pt x="4174236" y="0"/>
                  </a:lnTo>
                  <a:lnTo>
                    <a:pt x="4174236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77070" r="0" b="-77070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28575"/>
              <a:ext cx="4174236" cy="66865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sz="1650">
                  <a:solidFill>
                    <a:srgbClr val="E8B15C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RM 565086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5188077" y="7612380"/>
            <a:ext cx="3610737" cy="1851660"/>
            <a:chOff x="0" y="0"/>
            <a:chExt cx="4814316" cy="246888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4814316" cy="2468880"/>
            </a:xfrm>
            <a:custGeom>
              <a:avLst/>
              <a:gdLst/>
              <a:ahLst/>
              <a:cxnLst/>
              <a:rect r="r" b="b" t="t" l="l"/>
              <a:pathLst>
                <a:path h="2468880" w="4814316">
                  <a:moveTo>
                    <a:pt x="0" y="0"/>
                  </a:moveTo>
                  <a:lnTo>
                    <a:pt x="4814316" y="0"/>
                  </a:lnTo>
                  <a:lnTo>
                    <a:pt x="4814316" y="2468880"/>
                  </a:lnTo>
                  <a:lnTo>
                    <a:pt x="0" y="2468880"/>
                  </a:lnTo>
                  <a:close/>
                </a:path>
              </a:pathLst>
            </a:custGeom>
            <a:solidFill>
              <a:srgbClr val="273657"/>
            </a:solidFill>
          </p:spPr>
        </p:sp>
      </p:grpSp>
      <p:sp>
        <p:nvSpPr>
          <p:cNvPr name="TextBox 28" id="28"/>
          <p:cNvSpPr txBox="true"/>
          <p:nvPr/>
        </p:nvSpPr>
        <p:spPr>
          <a:xfrm rot="0">
            <a:off x="5434965" y="7752588"/>
            <a:ext cx="3130677" cy="9296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b="true" sz="1800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Bruno Queiroz Pires</a:t>
            </a:r>
          </a:p>
        </p:txBody>
      </p:sp>
      <p:grpSp>
        <p:nvGrpSpPr>
          <p:cNvPr name="Group 29" id="29"/>
          <p:cNvGrpSpPr/>
          <p:nvPr/>
        </p:nvGrpSpPr>
        <p:grpSpPr>
          <a:xfrm rot="0">
            <a:off x="5434965" y="8709660"/>
            <a:ext cx="3130677" cy="480060"/>
            <a:chOff x="0" y="0"/>
            <a:chExt cx="4174236" cy="64008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4174236" cy="640080"/>
            </a:xfrm>
            <a:custGeom>
              <a:avLst/>
              <a:gdLst/>
              <a:ahLst/>
              <a:cxnLst/>
              <a:rect r="r" b="b" t="t" l="l"/>
              <a:pathLst>
                <a:path h="640080" w="4174236">
                  <a:moveTo>
                    <a:pt x="0" y="0"/>
                  </a:moveTo>
                  <a:lnTo>
                    <a:pt x="4174236" y="0"/>
                  </a:lnTo>
                  <a:lnTo>
                    <a:pt x="4174236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77070" r="0" b="-77070"/>
              </a:stretch>
            </a:blipFill>
          </p:spPr>
        </p:sp>
        <p:sp>
          <p:nvSpPr>
            <p:cNvPr name="TextBox 31" id="31"/>
            <p:cNvSpPr txBox="true"/>
            <p:nvPr/>
          </p:nvSpPr>
          <p:spPr>
            <a:xfrm>
              <a:off x="0" y="-28575"/>
              <a:ext cx="4174236" cy="66865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sz="1650">
                  <a:solidFill>
                    <a:srgbClr val="E8B15C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RM 561676</a:t>
              </a: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9141714" y="7612380"/>
            <a:ext cx="3610737" cy="1851660"/>
            <a:chOff x="0" y="0"/>
            <a:chExt cx="4814316" cy="246888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4814316" cy="2468880"/>
            </a:xfrm>
            <a:custGeom>
              <a:avLst/>
              <a:gdLst/>
              <a:ahLst/>
              <a:cxnLst/>
              <a:rect r="r" b="b" t="t" l="l"/>
              <a:pathLst>
                <a:path h="2468880" w="4814316">
                  <a:moveTo>
                    <a:pt x="0" y="0"/>
                  </a:moveTo>
                  <a:lnTo>
                    <a:pt x="4814316" y="0"/>
                  </a:lnTo>
                  <a:lnTo>
                    <a:pt x="4814316" y="2468880"/>
                  </a:lnTo>
                  <a:lnTo>
                    <a:pt x="0" y="2468880"/>
                  </a:lnTo>
                  <a:close/>
                </a:path>
              </a:pathLst>
            </a:custGeom>
            <a:solidFill>
              <a:srgbClr val="273657"/>
            </a:solidFill>
          </p:spPr>
        </p:sp>
      </p:grpSp>
      <p:sp>
        <p:nvSpPr>
          <p:cNvPr name="TextBox 34" id="34"/>
          <p:cNvSpPr txBox="true"/>
          <p:nvPr/>
        </p:nvSpPr>
        <p:spPr>
          <a:xfrm rot="0">
            <a:off x="9388602" y="7752588"/>
            <a:ext cx="3130677" cy="9296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b="true" sz="1800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Vitor Mello de Araújo</a:t>
            </a:r>
          </a:p>
        </p:txBody>
      </p:sp>
      <p:grpSp>
        <p:nvGrpSpPr>
          <p:cNvPr name="Group 35" id="35"/>
          <p:cNvGrpSpPr/>
          <p:nvPr/>
        </p:nvGrpSpPr>
        <p:grpSpPr>
          <a:xfrm rot="0">
            <a:off x="9388602" y="8709660"/>
            <a:ext cx="3130677" cy="480060"/>
            <a:chOff x="0" y="0"/>
            <a:chExt cx="4174236" cy="64008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4174236" cy="640080"/>
            </a:xfrm>
            <a:custGeom>
              <a:avLst/>
              <a:gdLst/>
              <a:ahLst/>
              <a:cxnLst/>
              <a:rect r="r" b="b" t="t" l="l"/>
              <a:pathLst>
                <a:path h="640080" w="4174236">
                  <a:moveTo>
                    <a:pt x="0" y="0"/>
                  </a:moveTo>
                  <a:lnTo>
                    <a:pt x="4174236" y="0"/>
                  </a:lnTo>
                  <a:lnTo>
                    <a:pt x="4174236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77070" r="0" b="-77070"/>
              </a:stretch>
            </a:blipFill>
          </p:spPr>
        </p:sp>
        <p:sp>
          <p:nvSpPr>
            <p:cNvPr name="TextBox 37" id="37"/>
            <p:cNvSpPr txBox="true"/>
            <p:nvPr/>
          </p:nvSpPr>
          <p:spPr>
            <a:xfrm>
              <a:off x="0" y="-28575"/>
              <a:ext cx="4174236" cy="66865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sz="1650">
                  <a:solidFill>
                    <a:srgbClr val="E8B15C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RM 561632</a:t>
              </a: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13095351" y="7612380"/>
            <a:ext cx="3610737" cy="1851660"/>
            <a:chOff x="0" y="0"/>
            <a:chExt cx="4814316" cy="2468880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4814316" cy="2468880"/>
            </a:xfrm>
            <a:custGeom>
              <a:avLst/>
              <a:gdLst/>
              <a:ahLst/>
              <a:cxnLst/>
              <a:rect r="r" b="b" t="t" l="l"/>
              <a:pathLst>
                <a:path h="2468880" w="4814316">
                  <a:moveTo>
                    <a:pt x="0" y="0"/>
                  </a:moveTo>
                  <a:lnTo>
                    <a:pt x="4814316" y="0"/>
                  </a:lnTo>
                  <a:lnTo>
                    <a:pt x="4814316" y="2468880"/>
                  </a:lnTo>
                  <a:lnTo>
                    <a:pt x="0" y="2468880"/>
                  </a:lnTo>
                  <a:close/>
                </a:path>
              </a:pathLst>
            </a:custGeom>
            <a:solidFill>
              <a:srgbClr val="273657"/>
            </a:solidFill>
          </p:spPr>
        </p:sp>
      </p:grpSp>
      <p:sp>
        <p:nvSpPr>
          <p:cNvPr name="TextBox 40" id="40"/>
          <p:cNvSpPr txBox="true"/>
          <p:nvPr/>
        </p:nvSpPr>
        <p:spPr>
          <a:xfrm rot="0">
            <a:off x="13342239" y="7752588"/>
            <a:ext cx="3130677" cy="9296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b="true" sz="1800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Vitor Passeri de Souza Kaluf</a:t>
            </a:r>
          </a:p>
        </p:txBody>
      </p:sp>
      <p:grpSp>
        <p:nvGrpSpPr>
          <p:cNvPr name="Group 41" id="41"/>
          <p:cNvGrpSpPr/>
          <p:nvPr/>
        </p:nvGrpSpPr>
        <p:grpSpPr>
          <a:xfrm rot="0">
            <a:off x="13342239" y="8709660"/>
            <a:ext cx="3130677" cy="480060"/>
            <a:chOff x="0" y="0"/>
            <a:chExt cx="4174236" cy="640080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4174236" cy="640080"/>
            </a:xfrm>
            <a:custGeom>
              <a:avLst/>
              <a:gdLst/>
              <a:ahLst/>
              <a:cxnLst/>
              <a:rect r="r" b="b" t="t" l="l"/>
              <a:pathLst>
                <a:path h="640080" w="4174236">
                  <a:moveTo>
                    <a:pt x="0" y="0"/>
                  </a:moveTo>
                  <a:lnTo>
                    <a:pt x="4174236" y="0"/>
                  </a:lnTo>
                  <a:lnTo>
                    <a:pt x="4174236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77070" r="0" b="-77070"/>
              </a:stretch>
            </a:blipFill>
          </p:spPr>
        </p:sp>
        <p:sp>
          <p:nvSpPr>
            <p:cNvPr name="TextBox 43" id="43"/>
            <p:cNvSpPr txBox="true"/>
            <p:nvPr/>
          </p:nvSpPr>
          <p:spPr>
            <a:xfrm>
              <a:off x="0" y="-28575"/>
              <a:ext cx="4174236" cy="66865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sz="1650">
                  <a:solidFill>
                    <a:srgbClr val="E8B15C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RM 562852</a:t>
              </a:r>
            </a:p>
          </p:txBody>
        </p:sp>
      </p:grp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234440" y="754380"/>
            <a:ext cx="10972800" cy="480060"/>
            <a:chOff x="0" y="0"/>
            <a:chExt cx="14630400" cy="64008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4630400" cy="640080"/>
            </a:xfrm>
            <a:custGeom>
              <a:avLst/>
              <a:gdLst/>
              <a:ahLst/>
              <a:cxnLst/>
              <a:rect r="r" b="b" t="t" l="l"/>
              <a:pathLst>
                <a:path h="640080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95372" r="0" b="-395372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14630400" cy="6877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b="true" sz="1950">
                  <a:solidFill>
                    <a:srgbClr val="C87D0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ONDE PARAMOS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234440" y="1234440"/>
            <a:ext cx="15499080" cy="1097280"/>
            <a:chOff x="0" y="0"/>
            <a:chExt cx="20665440" cy="146304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0665439" cy="1463040"/>
            </a:xfrm>
            <a:custGeom>
              <a:avLst/>
              <a:gdLst/>
              <a:ahLst/>
              <a:cxnLst/>
              <a:rect r="r" b="b" t="t" l="l"/>
              <a:pathLst>
                <a:path h="1463040" w="20665439">
                  <a:moveTo>
                    <a:pt x="0" y="0"/>
                  </a:moveTo>
                  <a:lnTo>
                    <a:pt x="20665439" y="0"/>
                  </a:lnTo>
                  <a:lnTo>
                    <a:pt x="20665439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25226" r="0" b="-225226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9525"/>
              <a:ext cx="20665440" cy="14725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120"/>
                </a:lnSpc>
              </a:pPr>
              <a:r>
                <a:rPr lang="en-US" b="true" sz="5100">
                  <a:solidFill>
                    <a:srgbClr val="1A2540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A Sprint 1 provou o conceito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234440" y="2263140"/>
            <a:ext cx="14813280" cy="685800"/>
            <a:chOff x="0" y="0"/>
            <a:chExt cx="19751040" cy="9144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9751039" cy="914400"/>
            </a:xfrm>
            <a:custGeom>
              <a:avLst/>
              <a:gdLst/>
              <a:ahLst/>
              <a:cxnLst/>
              <a:rect r="r" b="b" t="t" l="l"/>
              <a:pathLst>
                <a:path h="914400" w="19751039">
                  <a:moveTo>
                    <a:pt x="0" y="0"/>
                  </a:moveTo>
                  <a:lnTo>
                    <a:pt x="19751039" y="0"/>
                  </a:lnTo>
                  <a:lnTo>
                    <a:pt x="19751039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70876" r="0" b="-370876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57150"/>
              <a:ext cx="19751040" cy="9715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00"/>
                </a:lnSpc>
              </a:pPr>
              <a:r>
                <a:rPr lang="en-US" sz="2250">
                  <a:solidFill>
                    <a:srgbClr val="5B6472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Um app Android nativo, completo para os três perfis — mas rodando inteiro sobre um backend simulado.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234440" y="3497580"/>
            <a:ext cx="4997196" cy="4937760"/>
            <a:chOff x="0" y="0"/>
            <a:chExt cx="6662928" cy="658368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6662928" cy="6583680"/>
            </a:xfrm>
            <a:custGeom>
              <a:avLst/>
              <a:gdLst/>
              <a:ahLst/>
              <a:cxnLst/>
              <a:rect r="r" b="b" t="t" l="l"/>
              <a:pathLst>
                <a:path h="6583680" w="6662928">
                  <a:moveTo>
                    <a:pt x="0" y="0"/>
                  </a:moveTo>
                  <a:lnTo>
                    <a:pt x="6662928" y="0"/>
                  </a:lnTo>
                  <a:lnTo>
                    <a:pt x="6662928" y="6583680"/>
                  </a:lnTo>
                  <a:lnTo>
                    <a:pt x="0" y="6583680"/>
                  </a:lnTo>
                  <a:close/>
                </a:path>
              </a:pathLst>
            </a:custGeom>
            <a:solidFill>
              <a:srgbClr val="F2F2F0"/>
            </a:solid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1714500" y="3909060"/>
            <a:ext cx="4037076" cy="1508760"/>
            <a:chOff x="0" y="0"/>
            <a:chExt cx="5382768" cy="201168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5382768" cy="2011680"/>
            </a:xfrm>
            <a:custGeom>
              <a:avLst/>
              <a:gdLst/>
              <a:ahLst/>
              <a:cxnLst/>
              <a:rect r="r" b="b" t="t" l="l"/>
              <a:pathLst>
                <a:path h="2011680" w="5382768">
                  <a:moveTo>
                    <a:pt x="0" y="0"/>
                  </a:moveTo>
                  <a:lnTo>
                    <a:pt x="5382768" y="0"/>
                  </a:lnTo>
                  <a:lnTo>
                    <a:pt x="5382768" y="2011680"/>
                  </a:lnTo>
                  <a:lnTo>
                    <a:pt x="0" y="20116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137" r="0" b="-2137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9525"/>
              <a:ext cx="5382768" cy="20212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0080"/>
                </a:lnSpc>
              </a:pPr>
              <a:r>
                <a:rPr lang="en-US" b="true" sz="8400">
                  <a:solidFill>
                    <a:srgbClr val="C87D0E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3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1714500" y="5417820"/>
            <a:ext cx="4037076" cy="548640"/>
            <a:chOff x="0" y="0"/>
            <a:chExt cx="5382768" cy="73152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5382768" cy="731520"/>
            </a:xfrm>
            <a:custGeom>
              <a:avLst/>
              <a:gdLst/>
              <a:ahLst/>
              <a:cxnLst/>
              <a:rect r="r" b="b" t="t" l="l"/>
              <a:pathLst>
                <a:path h="731520" w="5382768">
                  <a:moveTo>
                    <a:pt x="0" y="0"/>
                  </a:moveTo>
                  <a:lnTo>
                    <a:pt x="5382768" y="0"/>
                  </a:lnTo>
                  <a:lnTo>
                    <a:pt x="5382768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93377" r="0" b="-93377"/>
              </a:stretch>
            </a:blip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38100"/>
              <a:ext cx="5382768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b="true" sz="1800">
                  <a:solidFill>
                    <a:srgbClr val="1A254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PERFIS COMPLETOS</a:t>
              </a:r>
            </a:p>
          </p:txBody>
        </p:sp>
      </p:grpSp>
      <p:sp>
        <p:nvSpPr>
          <p:cNvPr name="TextBox 19" id="19"/>
          <p:cNvSpPr txBox="true"/>
          <p:nvPr/>
        </p:nvSpPr>
        <p:spPr>
          <a:xfrm rot="0">
            <a:off x="1714500" y="5996940"/>
            <a:ext cx="4037076" cy="22326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50"/>
              </a:lnSpc>
            </a:pPr>
            <a:r>
              <a:rPr lang="en-US" sz="1875">
                <a:solidFill>
                  <a:srgbClr val="5B6472"/>
                </a:solidFill>
                <a:latin typeface="Calibri (MS)"/>
                <a:ea typeface="Calibri (MS)"/>
                <a:cs typeface="Calibri (MS)"/>
                <a:sym typeface="Calibri (MS)"/>
              </a:rPr>
              <a:t>Operador, Gestor e Líder, cada um com sua jornada, no Jetpack Compose.</a:t>
            </a:r>
          </a:p>
        </p:txBody>
      </p:sp>
      <p:grpSp>
        <p:nvGrpSpPr>
          <p:cNvPr name="Group 20" id="20"/>
          <p:cNvGrpSpPr/>
          <p:nvPr/>
        </p:nvGrpSpPr>
        <p:grpSpPr>
          <a:xfrm rot="0">
            <a:off x="6643116" y="3497580"/>
            <a:ext cx="4997196" cy="4937760"/>
            <a:chOff x="0" y="0"/>
            <a:chExt cx="6662928" cy="658368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6662928" cy="6583680"/>
            </a:xfrm>
            <a:custGeom>
              <a:avLst/>
              <a:gdLst/>
              <a:ahLst/>
              <a:cxnLst/>
              <a:rect r="r" b="b" t="t" l="l"/>
              <a:pathLst>
                <a:path h="6583680" w="6662928">
                  <a:moveTo>
                    <a:pt x="0" y="0"/>
                  </a:moveTo>
                  <a:lnTo>
                    <a:pt x="6662928" y="0"/>
                  </a:lnTo>
                  <a:lnTo>
                    <a:pt x="6662928" y="6583680"/>
                  </a:lnTo>
                  <a:lnTo>
                    <a:pt x="0" y="6583680"/>
                  </a:lnTo>
                  <a:close/>
                </a:path>
              </a:pathLst>
            </a:custGeom>
            <a:solidFill>
              <a:srgbClr val="F2F2F0"/>
            </a:solidFill>
          </p:spPr>
        </p:sp>
      </p:grpSp>
      <p:grpSp>
        <p:nvGrpSpPr>
          <p:cNvPr name="Group 22" id="22"/>
          <p:cNvGrpSpPr/>
          <p:nvPr/>
        </p:nvGrpSpPr>
        <p:grpSpPr>
          <a:xfrm rot="0">
            <a:off x="7123176" y="3909060"/>
            <a:ext cx="4037076" cy="1508760"/>
            <a:chOff x="0" y="0"/>
            <a:chExt cx="5382768" cy="201168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5382768" cy="2011680"/>
            </a:xfrm>
            <a:custGeom>
              <a:avLst/>
              <a:gdLst/>
              <a:ahLst/>
              <a:cxnLst/>
              <a:rect r="r" b="b" t="t" l="l"/>
              <a:pathLst>
                <a:path h="2011680" w="5382768">
                  <a:moveTo>
                    <a:pt x="0" y="0"/>
                  </a:moveTo>
                  <a:lnTo>
                    <a:pt x="5382768" y="0"/>
                  </a:lnTo>
                  <a:lnTo>
                    <a:pt x="5382768" y="2011680"/>
                  </a:lnTo>
                  <a:lnTo>
                    <a:pt x="0" y="20116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137" r="0" b="-2137"/>
              </a:stretch>
            </a:blip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9525"/>
              <a:ext cx="5382768" cy="20212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0080"/>
                </a:lnSpc>
              </a:pPr>
              <a:r>
                <a:rPr lang="en-US" b="true" sz="8400">
                  <a:solidFill>
                    <a:srgbClr val="C87D0E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0</a:t>
              </a: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7123176" y="5417820"/>
            <a:ext cx="4037076" cy="548640"/>
            <a:chOff x="0" y="0"/>
            <a:chExt cx="5382768" cy="73152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5382768" cy="731520"/>
            </a:xfrm>
            <a:custGeom>
              <a:avLst/>
              <a:gdLst/>
              <a:ahLst/>
              <a:cxnLst/>
              <a:rect r="r" b="b" t="t" l="l"/>
              <a:pathLst>
                <a:path h="731520" w="5382768">
                  <a:moveTo>
                    <a:pt x="0" y="0"/>
                  </a:moveTo>
                  <a:lnTo>
                    <a:pt x="5382768" y="0"/>
                  </a:lnTo>
                  <a:lnTo>
                    <a:pt x="5382768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93377" r="0" b="-93377"/>
              </a:stretch>
            </a:blipFill>
          </p:spPr>
        </p:sp>
        <p:sp>
          <p:nvSpPr>
            <p:cNvPr name="TextBox 27" id="27"/>
            <p:cNvSpPr txBox="true"/>
            <p:nvPr/>
          </p:nvSpPr>
          <p:spPr>
            <a:xfrm>
              <a:off x="0" y="-38100"/>
              <a:ext cx="5382768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b="true" sz="1800">
                  <a:solidFill>
                    <a:srgbClr val="1A254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REDE EXTERNA REAL</a:t>
              </a:r>
            </a:p>
          </p:txBody>
        </p:sp>
      </p:grpSp>
      <p:sp>
        <p:nvSpPr>
          <p:cNvPr name="TextBox 28" id="28"/>
          <p:cNvSpPr txBox="true"/>
          <p:nvPr/>
        </p:nvSpPr>
        <p:spPr>
          <a:xfrm rot="0">
            <a:off x="7123176" y="5996940"/>
            <a:ext cx="4037076" cy="22326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50"/>
              </a:lnSpc>
            </a:pPr>
            <a:r>
              <a:rPr lang="en-US" sz="1875">
                <a:solidFill>
                  <a:srgbClr val="5B6472"/>
                </a:solidFill>
                <a:latin typeface="Calibri (MS)"/>
                <a:ea typeface="Calibri (MS)"/>
                <a:cs typeface="Calibri (MS)"/>
                <a:sym typeface="Calibri (MS)"/>
              </a:rPr>
              <a:t>API mockada localmente. Nenhum dado sobrevivia fora do dispositivo.</a:t>
            </a:r>
          </a:p>
        </p:txBody>
      </p:sp>
      <p:grpSp>
        <p:nvGrpSpPr>
          <p:cNvPr name="Group 29" id="29"/>
          <p:cNvGrpSpPr/>
          <p:nvPr/>
        </p:nvGrpSpPr>
        <p:grpSpPr>
          <a:xfrm rot="0">
            <a:off x="12051792" y="3497580"/>
            <a:ext cx="4997196" cy="4937760"/>
            <a:chOff x="0" y="0"/>
            <a:chExt cx="6662928" cy="658368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6662928" cy="6583680"/>
            </a:xfrm>
            <a:custGeom>
              <a:avLst/>
              <a:gdLst/>
              <a:ahLst/>
              <a:cxnLst/>
              <a:rect r="r" b="b" t="t" l="l"/>
              <a:pathLst>
                <a:path h="6583680" w="6662928">
                  <a:moveTo>
                    <a:pt x="0" y="0"/>
                  </a:moveTo>
                  <a:lnTo>
                    <a:pt x="6662928" y="0"/>
                  </a:lnTo>
                  <a:lnTo>
                    <a:pt x="6662928" y="6583680"/>
                  </a:lnTo>
                  <a:lnTo>
                    <a:pt x="0" y="6583680"/>
                  </a:lnTo>
                  <a:close/>
                </a:path>
              </a:pathLst>
            </a:custGeom>
            <a:solidFill>
              <a:srgbClr val="F2F2F0"/>
            </a:solidFill>
          </p:spPr>
        </p:sp>
      </p:grpSp>
      <p:grpSp>
        <p:nvGrpSpPr>
          <p:cNvPr name="Group 31" id="31"/>
          <p:cNvGrpSpPr/>
          <p:nvPr/>
        </p:nvGrpSpPr>
        <p:grpSpPr>
          <a:xfrm rot="0">
            <a:off x="12531852" y="3909060"/>
            <a:ext cx="4037076" cy="1508760"/>
            <a:chOff x="0" y="0"/>
            <a:chExt cx="5382768" cy="201168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5382768" cy="2011680"/>
            </a:xfrm>
            <a:custGeom>
              <a:avLst/>
              <a:gdLst/>
              <a:ahLst/>
              <a:cxnLst/>
              <a:rect r="r" b="b" t="t" l="l"/>
              <a:pathLst>
                <a:path h="2011680" w="5382768">
                  <a:moveTo>
                    <a:pt x="0" y="0"/>
                  </a:moveTo>
                  <a:lnTo>
                    <a:pt x="5382768" y="0"/>
                  </a:lnTo>
                  <a:lnTo>
                    <a:pt x="5382768" y="2011680"/>
                  </a:lnTo>
                  <a:lnTo>
                    <a:pt x="0" y="20116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137" r="0" b="-2137"/>
              </a:stretch>
            </a:blipFill>
          </p:spPr>
        </p:sp>
        <p:sp>
          <p:nvSpPr>
            <p:cNvPr name="TextBox 33" id="33"/>
            <p:cNvSpPr txBox="true"/>
            <p:nvPr/>
          </p:nvSpPr>
          <p:spPr>
            <a:xfrm>
              <a:off x="0" y="-9525"/>
              <a:ext cx="5382768" cy="20212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0080"/>
                </a:lnSpc>
              </a:pPr>
              <a:r>
                <a:rPr lang="en-US" b="true" sz="8400">
                  <a:solidFill>
                    <a:srgbClr val="C87D0E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?</a:t>
              </a:r>
            </a:p>
          </p:txBody>
        </p:sp>
      </p:grpSp>
      <p:grpSp>
        <p:nvGrpSpPr>
          <p:cNvPr name="Group 34" id="34"/>
          <p:cNvGrpSpPr/>
          <p:nvPr/>
        </p:nvGrpSpPr>
        <p:grpSpPr>
          <a:xfrm rot="0">
            <a:off x="12531852" y="5417820"/>
            <a:ext cx="4037076" cy="548640"/>
            <a:chOff x="0" y="0"/>
            <a:chExt cx="5382768" cy="73152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5382768" cy="731520"/>
            </a:xfrm>
            <a:custGeom>
              <a:avLst/>
              <a:gdLst/>
              <a:ahLst/>
              <a:cxnLst/>
              <a:rect r="r" b="b" t="t" l="l"/>
              <a:pathLst>
                <a:path h="731520" w="5382768">
                  <a:moveTo>
                    <a:pt x="0" y="0"/>
                  </a:moveTo>
                  <a:lnTo>
                    <a:pt x="5382768" y="0"/>
                  </a:lnTo>
                  <a:lnTo>
                    <a:pt x="5382768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93377" r="0" b="-93377"/>
              </a:stretch>
            </a:blipFill>
          </p:spPr>
        </p:sp>
        <p:sp>
          <p:nvSpPr>
            <p:cNvPr name="TextBox 36" id="36"/>
            <p:cNvSpPr txBox="true"/>
            <p:nvPr/>
          </p:nvSpPr>
          <p:spPr>
            <a:xfrm>
              <a:off x="0" y="-38100"/>
              <a:ext cx="5382768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b="true" sz="1800">
                  <a:solidFill>
                    <a:srgbClr val="1A254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PRONTO PRA VIDA REAL</a:t>
              </a:r>
            </a:p>
          </p:txBody>
        </p:sp>
      </p:grpSp>
      <p:sp>
        <p:nvSpPr>
          <p:cNvPr name="TextBox 37" id="37"/>
          <p:cNvSpPr txBox="true"/>
          <p:nvPr/>
        </p:nvSpPr>
        <p:spPr>
          <a:xfrm rot="0">
            <a:off x="12531852" y="5996940"/>
            <a:ext cx="4037076" cy="22326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50"/>
              </a:lnSpc>
            </a:pPr>
            <a:r>
              <a:rPr lang="en-US" sz="1875">
                <a:solidFill>
                  <a:srgbClr val="5B6472"/>
                </a:solidFill>
                <a:latin typeface="Calibri (MS)"/>
                <a:ea typeface="Calibri (MS)"/>
                <a:cs typeface="Calibri (MS)"/>
                <a:sym typeface="Calibri (MS)"/>
              </a:rPr>
              <a:t>Bonito e funcional — mas ainda um protótipo, não uma plataforma.</a:t>
            </a:r>
          </a:p>
        </p:txBody>
      </p:sp>
      <p:grpSp>
        <p:nvGrpSpPr>
          <p:cNvPr name="Group 38" id="38"/>
          <p:cNvGrpSpPr/>
          <p:nvPr/>
        </p:nvGrpSpPr>
        <p:grpSpPr>
          <a:xfrm rot="0">
            <a:off x="17323308" y="9669780"/>
            <a:ext cx="685800" cy="411480"/>
            <a:chOff x="0" y="0"/>
            <a:chExt cx="914400" cy="548640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914400" cy="548640"/>
            </a:xfrm>
            <a:custGeom>
              <a:avLst/>
              <a:gdLst/>
              <a:ahLst/>
              <a:cxnLst/>
              <a:rect r="r" b="b" t="t" l="l"/>
              <a:pathLst>
                <a:path h="54864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26982" t="0" r="-26982" b="0"/>
              </a:stretch>
            </a:blipFill>
          </p:spPr>
        </p:sp>
        <p:sp>
          <p:nvSpPr>
            <p:cNvPr name="TextBox 40" id="40"/>
            <p:cNvSpPr txBox="true"/>
            <p:nvPr/>
          </p:nvSpPr>
          <p:spPr>
            <a:xfrm>
              <a:off x="0" y="-38100"/>
              <a:ext cx="91440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800"/>
                </a:lnSpc>
              </a:pPr>
              <a:r>
                <a:rPr lang="en-US" sz="1500">
                  <a:solidFill>
                    <a:srgbClr val="5B6472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02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A25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234440" y="2057400"/>
            <a:ext cx="10972800" cy="548640"/>
            <a:chOff x="0" y="0"/>
            <a:chExt cx="14630400" cy="73152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4630400" cy="731520"/>
            </a:xfrm>
            <a:custGeom>
              <a:avLst/>
              <a:gdLst/>
              <a:ahLst/>
              <a:cxnLst/>
              <a:rect r="r" b="b" t="t" l="l"/>
              <a:pathLst>
                <a:path h="731520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39700" r="0" b="-339700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14630400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b="true" sz="1950">
                  <a:solidFill>
                    <a:srgbClr val="E8B15C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SPRINT 2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165860" y="2674620"/>
            <a:ext cx="14401800" cy="2606040"/>
            <a:chOff x="0" y="0"/>
            <a:chExt cx="19202400" cy="347472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9202400" cy="3474720"/>
            </a:xfrm>
            <a:custGeom>
              <a:avLst/>
              <a:gdLst/>
              <a:ahLst/>
              <a:cxnLst/>
              <a:rect r="r" b="b" t="t" l="l"/>
              <a:pathLst>
                <a:path h="3474720" w="19202400">
                  <a:moveTo>
                    <a:pt x="0" y="0"/>
                  </a:moveTo>
                  <a:lnTo>
                    <a:pt x="19202400" y="0"/>
                  </a:lnTo>
                  <a:lnTo>
                    <a:pt x="19202400" y="3474720"/>
                  </a:lnTo>
                  <a:lnTo>
                    <a:pt x="0" y="34747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57680" r="0" b="-57680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19050"/>
              <a:ext cx="19202400" cy="34937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7920"/>
                </a:lnSpc>
              </a:pPr>
              <a:r>
                <a:rPr lang="en-US" b="true" sz="6600">
                  <a:solidFill>
                    <a:srgbClr val="FFFFF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O protótipo ganha um</a:t>
              </a:r>
            </a:p>
            <a:p>
              <a:pPr algn="l">
                <a:lnSpc>
                  <a:spcPts val="7920"/>
                </a:lnSpc>
              </a:pPr>
              <a:r>
                <a:rPr lang="en-US" b="true" sz="6600">
                  <a:solidFill>
                    <a:srgbClr val="FFFFF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backend de verdade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234440" y="5678424"/>
            <a:ext cx="192024" cy="192024"/>
            <a:chOff x="0" y="0"/>
            <a:chExt cx="256032" cy="256032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56032" cy="256032"/>
            </a:xfrm>
            <a:custGeom>
              <a:avLst/>
              <a:gdLst/>
              <a:ahLst/>
              <a:cxnLst/>
              <a:rect r="r" b="b" t="t" l="l"/>
              <a:pathLst>
                <a:path h="256032" w="256032">
                  <a:moveTo>
                    <a:pt x="0" y="128016"/>
                  </a:moveTo>
                  <a:cubicBezTo>
                    <a:pt x="0" y="57277"/>
                    <a:pt x="57277" y="0"/>
                    <a:pt x="128016" y="0"/>
                  </a:cubicBezTo>
                  <a:cubicBezTo>
                    <a:pt x="198755" y="0"/>
                    <a:pt x="256032" y="57277"/>
                    <a:pt x="256032" y="128016"/>
                  </a:cubicBezTo>
                  <a:cubicBezTo>
                    <a:pt x="256032" y="198755"/>
                    <a:pt x="198755" y="256032"/>
                    <a:pt x="128016" y="256032"/>
                  </a:cubicBezTo>
                  <a:cubicBezTo>
                    <a:pt x="57277" y="256032"/>
                    <a:pt x="0" y="198755"/>
                    <a:pt x="0" y="128016"/>
                  </a:cubicBezTo>
                  <a:close/>
                </a:path>
              </a:pathLst>
            </a:custGeom>
            <a:solidFill>
              <a:srgbClr val="C87D0E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714500" y="5458968"/>
            <a:ext cx="12344400" cy="617220"/>
            <a:chOff x="0" y="0"/>
            <a:chExt cx="16459200" cy="82296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6459200" cy="822960"/>
            </a:xfrm>
            <a:custGeom>
              <a:avLst/>
              <a:gdLst/>
              <a:ahLst/>
              <a:cxnLst/>
              <a:rect r="r" b="b" t="t" l="l"/>
              <a:pathLst>
                <a:path h="822960" w="16459200">
                  <a:moveTo>
                    <a:pt x="0" y="0"/>
                  </a:moveTo>
                  <a:lnTo>
                    <a:pt x="16459200" y="0"/>
                  </a:lnTo>
                  <a:lnTo>
                    <a:pt x="16459200" y="822960"/>
                  </a:lnTo>
                  <a:lnTo>
                    <a:pt x="0" y="8229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39700" r="0" b="-339700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57150"/>
              <a:ext cx="16459200" cy="8801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240"/>
                </a:lnSpc>
              </a:pPr>
              <a:r>
                <a:rPr lang="en-US" sz="27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APIs completas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234440" y="6528816"/>
            <a:ext cx="192024" cy="192024"/>
            <a:chOff x="0" y="0"/>
            <a:chExt cx="256032" cy="256032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256032" cy="256032"/>
            </a:xfrm>
            <a:custGeom>
              <a:avLst/>
              <a:gdLst/>
              <a:ahLst/>
              <a:cxnLst/>
              <a:rect r="r" b="b" t="t" l="l"/>
              <a:pathLst>
                <a:path h="256032" w="256032">
                  <a:moveTo>
                    <a:pt x="0" y="128016"/>
                  </a:moveTo>
                  <a:cubicBezTo>
                    <a:pt x="0" y="57277"/>
                    <a:pt x="57277" y="0"/>
                    <a:pt x="128016" y="0"/>
                  </a:cubicBezTo>
                  <a:cubicBezTo>
                    <a:pt x="198755" y="0"/>
                    <a:pt x="256032" y="57277"/>
                    <a:pt x="256032" y="128016"/>
                  </a:cubicBezTo>
                  <a:cubicBezTo>
                    <a:pt x="256032" y="198755"/>
                    <a:pt x="198755" y="256032"/>
                    <a:pt x="128016" y="256032"/>
                  </a:cubicBezTo>
                  <a:cubicBezTo>
                    <a:pt x="57277" y="256032"/>
                    <a:pt x="0" y="198755"/>
                    <a:pt x="0" y="128016"/>
                  </a:cubicBezTo>
                  <a:close/>
                </a:path>
              </a:pathLst>
            </a:custGeom>
            <a:solidFill>
              <a:srgbClr val="C87D0E"/>
            </a:solid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1714500" y="6309360"/>
            <a:ext cx="12344400" cy="617220"/>
            <a:chOff x="0" y="0"/>
            <a:chExt cx="16459200" cy="82296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6459200" cy="822960"/>
            </a:xfrm>
            <a:custGeom>
              <a:avLst/>
              <a:gdLst/>
              <a:ahLst/>
              <a:cxnLst/>
              <a:rect r="r" b="b" t="t" l="l"/>
              <a:pathLst>
                <a:path h="822960" w="16459200">
                  <a:moveTo>
                    <a:pt x="0" y="0"/>
                  </a:moveTo>
                  <a:lnTo>
                    <a:pt x="16459200" y="0"/>
                  </a:lnTo>
                  <a:lnTo>
                    <a:pt x="16459200" y="822960"/>
                  </a:lnTo>
                  <a:lnTo>
                    <a:pt x="0" y="8229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39700" r="0" b="-339700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57150"/>
              <a:ext cx="16459200" cy="8801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240"/>
                </a:lnSpc>
              </a:pPr>
              <a:r>
                <a:rPr lang="en-US" sz="27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Autenticação e permissões reais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1234440" y="7379208"/>
            <a:ext cx="192024" cy="192024"/>
            <a:chOff x="0" y="0"/>
            <a:chExt cx="256032" cy="256032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256032" cy="256032"/>
            </a:xfrm>
            <a:custGeom>
              <a:avLst/>
              <a:gdLst/>
              <a:ahLst/>
              <a:cxnLst/>
              <a:rect r="r" b="b" t="t" l="l"/>
              <a:pathLst>
                <a:path h="256032" w="256032">
                  <a:moveTo>
                    <a:pt x="0" y="128016"/>
                  </a:moveTo>
                  <a:cubicBezTo>
                    <a:pt x="0" y="57277"/>
                    <a:pt x="57277" y="0"/>
                    <a:pt x="128016" y="0"/>
                  </a:cubicBezTo>
                  <a:cubicBezTo>
                    <a:pt x="198755" y="0"/>
                    <a:pt x="256032" y="57277"/>
                    <a:pt x="256032" y="128016"/>
                  </a:cubicBezTo>
                  <a:cubicBezTo>
                    <a:pt x="256032" y="198755"/>
                    <a:pt x="198755" y="256032"/>
                    <a:pt x="128016" y="256032"/>
                  </a:cubicBezTo>
                  <a:cubicBezTo>
                    <a:pt x="57277" y="256032"/>
                    <a:pt x="0" y="198755"/>
                    <a:pt x="0" y="128016"/>
                  </a:cubicBezTo>
                  <a:close/>
                </a:path>
              </a:pathLst>
            </a:custGeom>
            <a:solidFill>
              <a:srgbClr val="C87D0E"/>
            </a:solid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1714500" y="7159752"/>
            <a:ext cx="12344400" cy="617220"/>
            <a:chOff x="0" y="0"/>
            <a:chExt cx="16459200" cy="82296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6459200" cy="822960"/>
            </a:xfrm>
            <a:custGeom>
              <a:avLst/>
              <a:gdLst/>
              <a:ahLst/>
              <a:cxnLst/>
              <a:rect r="r" b="b" t="t" l="l"/>
              <a:pathLst>
                <a:path h="822960" w="16459200">
                  <a:moveTo>
                    <a:pt x="0" y="0"/>
                  </a:moveTo>
                  <a:lnTo>
                    <a:pt x="16459200" y="0"/>
                  </a:lnTo>
                  <a:lnTo>
                    <a:pt x="16459200" y="822960"/>
                  </a:lnTo>
                  <a:lnTo>
                    <a:pt x="0" y="8229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39700" r="0" b="-339700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57150"/>
              <a:ext cx="16459200" cy="8801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240"/>
                </a:lnSpc>
              </a:pPr>
              <a:r>
                <a:rPr lang="en-US" sz="27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IA de verdade, não simulada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1234440" y="8229600"/>
            <a:ext cx="192024" cy="192024"/>
            <a:chOff x="0" y="0"/>
            <a:chExt cx="256032" cy="256032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256032" cy="256032"/>
            </a:xfrm>
            <a:custGeom>
              <a:avLst/>
              <a:gdLst/>
              <a:ahLst/>
              <a:cxnLst/>
              <a:rect r="r" b="b" t="t" l="l"/>
              <a:pathLst>
                <a:path h="256032" w="256032">
                  <a:moveTo>
                    <a:pt x="0" y="128016"/>
                  </a:moveTo>
                  <a:cubicBezTo>
                    <a:pt x="0" y="57277"/>
                    <a:pt x="57277" y="0"/>
                    <a:pt x="128016" y="0"/>
                  </a:cubicBezTo>
                  <a:cubicBezTo>
                    <a:pt x="198755" y="0"/>
                    <a:pt x="256032" y="57277"/>
                    <a:pt x="256032" y="128016"/>
                  </a:cubicBezTo>
                  <a:cubicBezTo>
                    <a:pt x="256032" y="198755"/>
                    <a:pt x="198755" y="256032"/>
                    <a:pt x="128016" y="256032"/>
                  </a:cubicBezTo>
                  <a:cubicBezTo>
                    <a:pt x="57277" y="256032"/>
                    <a:pt x="0" y="198755"/>
                    <a:pt x="0" y="128016"/>
                  </a:cubicBezTo>
                  <a:close/>
                </a:path>
              </a:pathLst>
            </a:custGeom>
            <a:solidFill>
              <a:srgbClr val="C87D0E"/>
            </a:solidFill>
          </p:spPr>
        </p:sp>
      </p:grpSp>
      <p:grpSp>
        <p:nvGrpSpPr>
          <p:cNvPr name="Group 25" id="25"/>
          <p:cNvGrpSpPr/>
          <p:nvPr/>
        </p:nvGrpSpPr>
        <p:grpSpPr>
          <a:xfrm rot="0">
            <a:off x="1714500" y="8010144"/>
            <a:ext cx="12344400" cy="617220"/>
            <a:chOff x="0" y="0"/>
            <a:chExt cx="16459200" cy="82296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16459200" cy="822960"/>
            </a:xfrm>
            <a:custGeom>
              <a:avLst/>
              <a:gdLst/>
              <a:ahLst/>
              <a:cxnLst/>
              <a:rect r="r" b="b" t="t" l="l"/>
              <a:pathLst>
                <a:path h="822960" w="16459200">
                  <a:moveTo>
                    <a:pt x="0" y="0"/>
                  </a:moveTo>
                  <a:lnTo>
                    <a:pt x="16459200" y="0"/>
                  </a:lnTo>
                  <a:lnTo>
                    <a:pt x="16459200" y="822960"/>
                  </a:lnTo>
                  <a:lnTo>
                    <a:pt x="0" y="8229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39700" r="0" b="-339700"/>
              </a:stretch>
            </a:blipFill>
          </p:spPr>
        </p:sp>
        <p:sp>
          <p:nvSpPr>
            <p:cNvPr name="TextBox 27" id="27"/>
            <p:cNvSpPr txBox="true"/>
            <p:nvPr/>
          </p:nvSpPr>
          <p:spPr>
            <a:xfrm>
              <a:off x="0" y="-57150"/>
              <a:ext cx="16459200" cy="8801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240"/>
                </a:lnSpc>
              </a:pPr>
              <a:r>
                <a:rPr lang="en-US" sz="27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Hospedado na nuvem</a:t>
              </a: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17323308" y="9669780"/>
            <a:ext cx="685800" cy="411480"/>
            <a:chOff x="0" y="0"/>
            <a:chExt cx="914400" cy="54864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914400" cy="548640"/>
            </a:xfrm>
            <a:custGeom>
              <a:avLst/>
              <a:gdLst/>
              <a:ahLst/>
              <a:cxnLst/>
              <a:rect r="r" b="b" t="t" l="l"/>
              <a:pathLst>
                <a:path h="54864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26982" t="0" r="-26982" b="0"/>
              </a:stretch>
            </a:blipFill>
          </p:spPr>
        </p:sp>
        <p:sp>
          <p:nvSpPr>
            <p:cNvPr name="TextBox 30" id="30"/>
            <p:cNvSpPr txBox="true"/>
            <p:nvPr/>
          </p:nvSpPr>
          <p:spPr>
            <a:xfrm>
              <a:off x="0" y="-38100"/>
              <a:ext cx="91440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800"/>
                </a:lnSpc>
              </a:pPr>
              <a:r>
                <a:rPr lang="en-US" sz="1500">
                  <a:solidFill>
                    <a:srgbClr val="5B6472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03</a:t>
              </a:r>
            </a:p>
          </p:txBody>
        </p:sp>
      </p:grp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234440" y="754380"/>
            <a:ext cx="10972800" cy="480060"/>
            <a:chOff x="0" y="0"/>
            <a:chExt cx="14630400" cy="64008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4630400" cy="640080"/>
            </a:xfrm>
            <a:custGeom>
              <a:avLst/>
              <a:gdLst/>
              <a:ahLst/>
              <a:cxnLst/>
              <a:rect r="r" b="b" t="t" l="l"/>
              <a:pathLst>
                <a:path h="640080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95372" r="0" b="-395372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14630400" cy="6877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b="true" sz="1950">
                  <a:solidFill>
                    <a:srgbClr val="C87D0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 JORNADA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234440" y="1234440"/>
            <a:ext cx="15499080" cy="960120"/>
            <a:chOff x="0" y="0"/>
            <a:chExt cx="20665440" cy="128016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0665439" cy="1280160"/>
            </a:xfrm>
            <a:custGeom>
              <a:avLst/>
              <a:gdLst/>
              <a:ahLst/>
              <a:cxnLst/>
              <a:rect r="r" b="b" t="t" l="l"/>
              <a:pathLst>
                <a:path h="1280160" w="20665439">
                  <a:moveTo>
                    <a:pt x="0" y="0"/>
                  </a:moveTo>
                  <a:lnTo>
                    <a:pt x="20665439" y="0"/>
                  </a:lnTo>
                  <a:lnTo>
                    <a:pt x="20665439" y="1280160"/>
                  </a:lnTo>
                  <a:lnTo>
                    <a:pt x="0" y="12801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64544" r="0" b="-264544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9525"/>
              <a:ext cx="20665440" cy="12896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759"/>
                </a:lnSpc>
              </a:pPr>
              <a:r>
                <a:rPr lang="en-US" b="true" sz="4800">
                  <a:solidFill>
                    <a:srgbClr val="1A2540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De uma ideia solta a um resultado no board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234440" y="2194560"/>
            <a:ext cx="15087600" cy="685800"/>
            <a:chOff x="0" y="0"/>
            <a:chExt cx="20116800" cy="9144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0116800" cy="914400"/>
            </a:xfrm>
            <a:custGeom>
              <a:avLst/>
              <a:gdLst/>
              <a:ahLst/>
              <a:cxnLst/>
              <a:rect r="r" b="b" t="t" l="l"/>
              <a:pathLst>
                <a:path h="914400" w="20116800">
                  <a:moveTo>
                    <a:pt x="0" y="0"/>
                  </a:moveTo>
                  <a:lnTo>
                    <a:pt x="20116800" y="0"/>
                  </a:lnTo>
                  <a:lnTo>
                    <a:pt x="2011680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78670" r="0" b="-378670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57150"/>
              <a:ext cx="20116800" cy="9715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00"/>
                </a:lnSpc>
              </a:pPr>
              <a:r>
                <a:rPr lang="en-US" sz="2250">
                  <a:solidFill>
                    <a:srgbClr val="5B6472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Vamos acompanhar uma ideia real, passo a passo, do primeiro toque na tela ao dashboard da liderança.</a:t>
              </a:r>
            </a:p>
          </p:txBody>
        </p:sp>
      </p:grpSp>
      <p:sp>
        <p:nvSpPr>
          <p:cNvPr name="AutoShape 11" id="11"/>
          <p:cNvSpPr/>
          <p:nvPr/>
        </p:nvSpPr>
        <p:spPr>
          <a:xfrm rot="10320">
            <a:off x="2796816" y="4928235"/>
            <a:ext cx="12689796" cy="0"/>
          </a:xfrm>
          <a:prstGeom prst="line">
            <a:avLst/>
          </a:prstGeom>
          <a:ln cap="rnd" w="19050">
            <a:solidFill>
              <a:srgbClr val="D8D8D6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2" id="12"/>
          <p:cNvGrpSpPr/>
          <p:nvPr/>
        </p:nvGrpSpPr>
        <p:grpSpPr>
          <a:xfrm rot="0">
            <a:off x="2267255" y="4389120"/>
            <a:ext cx="1097280" cy="1097280"/>
            <a:chOff x="0" y="0"/>
            <a:chExt cx="1463040" cy="146304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463040" cy="1463040"/>
            </a:xfrm>
            <a:custGeom>
              <a:avLst/>
              <a:gdLst/>
              <a:ahLst/>
              <a:cxnLst/>
              <a:rect r="r" b="b" t="t" l="l"/>
              <a:pathLst>
                <a:path h="1463040" w="1463040">
                  <a:moveTo>
                    <a:pt x="0" y="731520"/>
                  </a:moveTo>
                  <a:cubicBezTo>
                    <a:pt x="0" y="327533"/>
                    <a:pt x="327533" y="0"/>
                    <a:pt x="731520" y="0"/>
                  </a:cubicBezTo>
                  <a:cubicBezTo>
                    <a:pt x="1135507" y="0"/>
                    <a:pt x="1463040" y="327533"/>
                    <a:pt x="1463040" y="731520"/>
                  </a:cubicBezTo>
                  <a:cubicBezTo>
                    <a:pt x="1463040" y="1135507"/>
                    <a:pt x="1135507" y="1463040"/>
                    <a:pt x="731520" y="1463040"/>
                  </a:cubicBezTo>
                  <a:cubicBezTo>
                    <a:pt x="327533" y="1463040"/>
                    <a:pt x="0" y="1135507"/>
                    <a:pt x="0" y="731520"/>
                  </a:cubicBezTo>
                  <a:close/>
                </a:path>
              </a:pathLst>
            </a:custGeom>
            <a:solidFill>
              <a:srgbClr val="1A2540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2267255" y="4389120"/>
            <a:ext cx="1097280" cy="1097280"/>
            <a:chOff x="0" y="0"/>
            <a:chExt cx="1463040" cy="146304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463040" cy="1463040"/>
            </a:xfrm>
            <a:custGeom>
              <a:avLst/>
              <a:gdLst/>
              <a:ahLst/>
              <a:cxnLst/>
              <a:rect r="r" b="b" t="t" l="l"/>
              <a:pathLst>
                <a:path h="1463040" w="1463040">
                  <a:moveTo>
                    <a:pt x="0" y="0"/>
                  </a:moveTo>
                  <a:lnTo>
                    <a:pt x="1463040" y="0"/>
                  </a:lnTo>
                  <a:lnTo>
                    <a:pt x="146304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0"/>
              <a:ext cx="1463040" cy="14630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895"/>
                </a:lnSpc>
              </a:pPr>
              <a:r>
                <a:rPr lang="en-US" b="true" sz="4079">
                  <a:solidFill>
                    <a:srgbClr val="FFFFF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1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234440" y="5692140"/>
            <a:ext cx="3162910" cy="411480"/>
            <a:chOff x="0" y="0"/>
            <a:chExt cx="4217213" cy="54864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4217212" cy="548640"/>
            </a:xfrm>
            <a:custGeom>
              <a:avLst/>
              <a:gdLst/>
              <a:ahLst/>
              <a:cxnLst/>
              <a:rect r="r" b="b" t="t" l="l"/>
              <a:pathLst>
                <a:path h="548640" w="4217212">
                  <a:moveTo>
                    <a:pt x="0" y="0"/>
                  </a:moveTo>
                  <a:lnTo>
                    <a:pt x="4217212" y="0"/>
                  </a:lnTo>
                  <a:lnTo>
                    <a:pt x="4217212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99774" r="0" b="-99774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19050"/>
              <a:ext cx="4217213" cy="5676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89"/>
                </a:lnSpc>
              </a:pPr>
              <a:r>
                <a:rPr lang="en-US" b="true" sz="1575">
                  <a:solidFill>
                    <a:srgbClr val="C87D0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OPERADOR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1097280" y="6103620"/>
            <a:ext cx="3437230" cy="960120"/>
            <a:chOff x="0" y="0"/>
            <a:chExt cx="4582973" cy="128016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4582972" cy="1280160"/>
            </a:xfrm>
            <a:custGeom>
              <a:avLst/>
              <a:gdLst/>
              <a:ahLst/>
              <a:cxnLst/>
              <a:rect r="r" b="b" t="t" l="l"/>
              <a:pathLst>
                <a:path h="1280160" w="4582972">
                  <a:moveTo>
                    <a:pt x="0" y="0"/>
                  </a:moveTo>
                  <a:lnTo>
                    <a:pt x="4582972" y="0"/>
                  </a:lnTo>
                  <a:lnTo>
                    <a:pt x="4582972" y="1280160"/>
                  </a:lnTo>
                  <a:lnTo>
                    <a:pt x="0" y="12801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9756" r="0" b="-19756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47625"/>
              <a:ext cx="4582973" cy="13277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40"/>
                </a:lnSpc>
              </a:pPr>
              <a:r>
                <a:rPr lang="en-US" b="true" sz="1950">
                  <a:solidFill>
                    <a:srgbClr val="1A254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Registra a ideia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5430164" y="4389120"/>
            <a:ext cx="1097280" cy="1097280"/>
            <a:chOff x="0" y="0"/>
            <a:chExt cx="1463040" cy="146304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1463040" cy="1463040"/>
            </a:xfrm>
            <a:custGeom>
              <a:avLst/>
              <a:gdLst/>
              <a:ahLst/>
              <a:cxnLst/>
              <a:rect r="r" b="b" t="t" l="l"/>
              <a:pathLst>
                <a:path h="1463040" w="1463040">
                  <a:moveTo>
                    <a:pt x="0" y="731520"/>
                  </a:moveTo>
                  <a:cubicBezTo>
                    <a:pt x="0" y="327533"/>
                    <a:pt x="327533" y="0"/>
                    <a:pt x="731520" y="0"/>
                  </a:cubicBezTo>
                  <a:cubicBezTo>
                    <a:pt x="1135507" y="0"/>
                    <a:pt x="1463040" y="327533"/>
                    <a:pt x="1463040" y="731520"/>
                  </a:cubicBezTo>
                  <a:cubicBezTo>
                    <a:pt x="1463040" y="1135507"/>
                    <a:pt x="1135507" y="1463040"/>
                    <a:pt x="731520" y="1463040"/>
                  </a:cubicBezTo>
                  <a:cubicBezTo>
                    <a:pt x="327533" y="1463040"/>
                    <a:pt x="0" y="1135507"/>
                    <a:pt x="0" y="731520"/>
                  </a:cubicBezTo>
                  <a:close/>
                </a:path>
              </a:pathLst>
            </a:custGeom>
            <a:solidFill>
              <a:srgbClr val="1A2540"/>
            </a:solidFill>
          </p:spPr>
        </p:sp>
      </p:grpSp>
      <p:grpSp>
        <p:nvGrpSpPr>
          <p:cNvPr name="Group 25" id="25"/>
          <p:cNvGrpSpPr/>
          <p:nvPr/>
        </p:nvGrpSpPr>
        <p:grpSpPr>
          <a:xfrm rot="0">
            <a:off x="5430164" y="4389120"/>
            <a:ext cx="1097280" cy="1097280"/>
            <a:chOff x="0" y="0"/>
            <a:chExt cx="1463040" cy="146304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1463040" cy="1463040"/>
            </a:xfrm>
            <a:custGeom>
              <a:avLst/>
              <a:gdLst/>
              <a:ahLst/>
              <a:cxnLst/>
              <a:rect r="r" b="b" t="t" l="l"/>
              <a:pathLst>
                <a:path h="1463040" w="1463040">
                  <a:moveTo>
                    <a:pt x="0" y="0"/>
                  </a:moveTo>
                  <a:lnTo>
                    <a:pt x="1463040" y="0"/>
                  </a:lnTo>
                  <a:lnTo>
                    <a:pt x="146304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27" id="27"/>
            <p:cNvSpPr txBox="true"/>
            <p:nvPr/>
          </p:nvSpPr>
          <p:spPr>
            <a:xfrm>
              <a:off x="0" y="0"/>
              <a:ext cx="1463040" cy="14630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895"/>
                </a:lnSpc>
              </a:pPr>
              <a:r>
                <a:rPr lang="en-US" b="true" sz="4079">
                  <a:solidFill>
                    <a:srgbClr val="FFFFF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2</a:t>
              </a: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4397350" y="5692140"/>
            <a:ext cx="3162910" cy="411480"/>
            <a:chOff x="0" y="0"/>
            <a:chExt cx="4217213" cy="54864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4217212" cy="548640"/>
            </a:xfrm>
            <a:custGeom>
              <a:avLst/>
              <a:gdLst/>
              <a:ahLst/>
              <a:cxnLst/>
              <a:rect r="r" b="b" t="t" l="l"/>
              <a:pathLst>
                <a:path h="548640" w="4217212">
                  <a:moveTo>
                    <a:pt x="0" y="0"/>
                  </a:moveTo>
                  <a:lnTo>
                    <a:pt x="4217212" y="0"/>
                  </a:lnTo>
                  <a:lnTo>
                    <a:pt x="4217212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99774" r="0" b="-99774"/>
              </a:stretch>
            </a:blipFill>
          </p:spPr>
        </p:sp>
        <p:sp>
          <p:nvSpPr>
            <p:cNvPr name="TextBox 30" id="30"/>
            <p:cNvSpPr txBox="true"/>
            <p:nvPr/>
          </p:nvSpPr>
          <p:spPr>
            <a:xfrm>
              <a:off x="0" y="-19050"/>
              <a:ext cx="4217213" cy="5676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89"/>
                </a:lnSpc>
              </a:pPr>
              <a:r>
                <a:rPr lang="en-US" b="true" sz="1575">
                  <a:solidFill>
                    <a:srgbClr val="C87D0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GESTOR + IA</a:t>
              </a: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4260190" y="6103620"/>
            <a:ext cx="3437230" cy="960120"/>
            <a:chOff x="0" y="0"/>
            <a:chExt cx="4582973" cy="128016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4582972" cy="1280160"/>
            </a:xfrm>
            <a:custGeom>
              <a:avLst/>
              <a:gdLst/>
              <a:ahLst/>
              <a:cxnLst/>
              <a:rect r="r" b="b" t="t" l="l"/>
              <a:pathLst>
                <a:path h="1280160" w="4582972">
                  <a:moveTo>
                    <a:pt x="0" y="0"/>
                  </a:moveTo>
                  <a:lnTo>
                    <a:pt x="4582972" y="0"/>
                  </a:lnTo>
                  <a:lnTo>
                    <a:pt x="4582972" y="1280160"/>
                  </a:lnTo>
                  <a:lnTo>
                    <a:pt x="0" y="12801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9756" r="0" b="-19756"/>
              </a:stretch>
            </a:blipFill>
          </p:spPr>
        </p:sp>
        <p:sp>
          <p:nvSpPr>
            <p:cNvPr name="TextBox 33" id="33"/>
            <p:cNvSpPr txBox="true"/>
            <p:nvPr/>
          </p:nvSpPr>
          <p:spPr>
            <a:xfrm>
              <a:off x="0" y="-47625"/>
              <a:ext cx="4582973" cy="13277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40"/>
                </a:lnSpc>
              </a:pPr>
              <a:r>
                <a:rPr lang="en-US" b="true" sz="1950">
                  <a:solidFill>
                    <a:srgbClr val="1A254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Prioriza e pontua</a:t>
              </a:r>
            </a:p>
          </p:txBody>
        </p:sp>
      </p:grpSp>
      <p:grpSp>
        <p:nvGrpSpPr>
          <p:cNvPr name="Group 34" id="34"/>
          <p:cNvGrpSpPr/>
          <p:nvPr/>
        </p:nvGrpSpPr>
        <p:grpSpPr>
          <a:xfrm rot="0">
            <a:off x="8593074" y="4389120"/>
            <a:ext cx="1097280" cy="1097280"/>
            <a:chOff x="0" y="0"/>
            <a:chExt cx="1463040" cy="146304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1463040" cy="1463040"/>
            </a:xfrm>
            <a:custGeom>
              <a:avLst/>
              <a:gdLst/>
              <a:ahLst/>
              <a:cxnLst/>
              <a:rect r="r" b="b" t="t" l="l"/>
              <a:pathLst>
                <a:path h="1463040" w="1463040">
                  <a:moveTo>
                    <a:pt x="0" y="731520"/>
                  </a:moveTo>
                  <a:cubicBezTo>
                    <a:pt x="0" y="327533"/>
                    <a:pt x="327533" y="0"/>
                    <a:pt x="731520" y="0"/>
                  </a:cubicBezTo>
                  <a:cubicBezTo>
                    <a:pt x="1135507" y="0"/>
                    <a:pt x="1463040" y="327533"/>
                    <a:pt x="1463040" y="731520"/>
                  </a:cubicBezTo>
                  <a:cubicBezTo>
                    <a:pt x="1463040" y="1135507"/>
                    <a:pt x="1135507" y="1463040"/>
                    <a:pt x="731520" y="1463040"/>
                  </a:cubicBezTo>
                  <a:cubicBezTo>
                    <a:pt x="327533" y="1463040"/>
                    <a:pt x="0" y="1135507"/>
                    <a:pt x="0" y="731520"/>
                  </a:cubicBezTo>
                  <a:close/>
                </a:path>
              </a:pathLst>
            </a:custGeom>
            <a:solidFill>
              <a:srgbClr val="1A2540"/>
            </a:solidFill>
          </p:spPr>
        </p:sp>
      </p:grpSp>
      <p:grpSp>
        <p:nvGrpSpPr>
          <p:cNvPr name="Group 36" id="36"/>
          <p:cNvGrpSpPr/>
          <p:nvPr/>
        </p:nvGrpSpPr>
        <p:grpSpPr>
          <a:xfrm rot="0">
            <a:off x="8593074" y="4389120"/>
            <a:ext cx="1097280" cy="1097280"/>
            <a:chOff x="0" y="0"/>
            <a:chExt cx="1463040" cy="1463040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1463040" cy="1463040"/>
            </a:xfrm>
            <a:custGeom>
              <a:avLst/>
              <a:gdLst/>
              <a:ahLst/>
              <a:cxnLst/>
              <a:rect r="r" b="b" t="t" l="l"/>
              <a:pathLst>
                <a:path h="1463040" w="1463040">
                  <a:moveTo>
                    <a:pt x="0" y="0"/>
                  </a:moveTo>
                  <a:lnTo>
                    <a:pt x="1463040" y="0"/>
                  </a:lnTo>
                  <a:lnTo>
                    <a:pt x="146304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38" id="38"/>
            <p:cNvSpPr txBox="true"/>
            <p:nvPr/>
          </p:nvSpPr>
          <p:spPr>
            <a:xfrm>
              <a:off x="0" y="0"/>
              <a:ext cx="1463040" cy="14630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895"/>
                </a:lnSpc>
              </a:pPr>
              <a:r>
                <a:rPr lang="en-US" b="true" sz="4079">
                  <a:solidFill>
                    <a:srgbClr val="FFFFF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3</a:t>
              </a:r>
            </a:p>
          </p:txBody>
        </p:sp>
      </p:grpSp>
      <p:grpSp>
        <p:nvGrpSpPr>
          <p:cNvPr name="Group 39" id="39"/>
          <p:cNvGrpSpPr/>
          <p:nvPr/>
        </p:nvGrpSpPr>
        <p:grpSpPr>
          <a:xfrm rot="0">
            <a:off x="7560259" y="5692140"/>
            <a:ext cx="3162910" cy="411480"/>
            <a:chOff x="0" y="0"/>
            <a:chExt cx="4217213" cy="548640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4217212" cy="548640"/>
            </a:xfrm>
            <a:custGeom>
              <a:avLst/>
              <a:gdLst/>
              <a:ahLst/>
              <a:cxnLst/>
              <a:rect r="r" b="b" t="t" l="l"/>
              <a:pathLst>
                <a:path h="548640" w="4217212">
                  <a:moveTo>
                    <a:pt x="0" y="0"/>
                  </a:moveTo>
                  <a:lnTo>
                    <a:pt x="4217212" y="0"/>
                  </a:lnTo>
                  <a:lnTo>
                    <a:pt x="4217212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99774" r="0" b="-99774"/>
              </a:stretch>
            </a:blipFill>
          </p:spPr>
        </p:sp>
        <p:sp>
          <p:nvSpPr>
            <p:cNvPr name="TextBox 41" id="41"/>
            <p:cNvSpPr txBox="true"/>
            <p:nvPr/>
          </p:nvSpPr>
          <p:spPr>
            <a:xfrm>
              <a:off x="0" y="-19050"/>
              <a:ext cx="4217213" cy="5676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89"/>
                </a:lnSpc>
              </a:pPr>
              <a:r>
                <a:rPr lang="en-US" b="true" sz="1575">
                  <a:solidFill>
                    <a:srgbClr val="C87D0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GESTOR</a:t>
              </a:r>
            </a:p>
          </p:txBody>
        </p:sp>
      </p:grpSp>
      <p:grpSp>
        <p:nvGrpSpPr>
          <p:cNvPr name="Group 42" id="42"/>
          <p:cNvGrpSpPr/>
          <p:nvPr/>
        </p:nvGrpSpPr>
        <p:grpSpPr>
          <a:xfrm rot="0">
            <a:off x="7423099" y="6103620"/>
            <a:ext cx="3437230" cy="960120"/>
            <a:chOff x="0" y="0"/>
            <a:chExt cx="4582973" cy="1280160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4582972" cy="1280160"/>
            </a:xfrm>
            <a:custGeom>
              <a:avLst/>
              <a:gdLst/>
              <a:ahLst/>
              <a:cxnLst/>
              <a:rect r="r" b="b" t="t" l="l"/>
              <a:pathLst>
                <a:path h="1280160" w="4582972">
                  <a:moveTo>
                    <a:pt x="0" y="0"/>
                  </a:moveTo>
                  <a:lnTo>
                    <a:pt x="4582972" y="0"/>
                  </a:lnTo>
                  <a:lnTo>
                    <a:pt x="4582972" y="1280160"/>
                  </a:lnTo>
                  <a:lnTo>
                    <a:pt x="0" y="12801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9756" r="0" b="-19756"/>
              </a:stretch>
            </a:blipFill>
          </p:spPr>
        </p:sp>
        <p:sp>
          <p:nvSpPr>
            <p:cNvPr name="TextBox 44" id="44"/>
            <p:cNvSpPr txBox="true"/>
            <p:nvPr/>
          </p:nvSpPr>
          <p:spPr>
            <a:xfrm>
              <a:off x="0" y="-47625"/>
              <a:ext cx="4582973" cy="13277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40"/>
                </a:lnSpc>
              </a:pPr>
              <a:r>
                <a:rPr lang="en-US" b="true" sz="1950">
                  <a:solidFill>
                    <a:srgbClr val="1A254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Ideia vira projeto</a:t>
              </a:r>
            </a:p>
          </p:txBody>
        </p:sp>
      </p:grpSp>
      <p:grpSp>
        <p:nvGrpSpPr>
          <p:cNvPr name="Group 45" id="45"/>
          <p:cNvGrpSpPr/>
          <p:nvPr/>
        </p:nvGrpSpPr>
        <p:grpSpPr>
          <a:xfrm rot="0">
            <a:off x="11755984" y="4389120"/>
            <a:ext cx="1097280" cy="1097280"/>
            <a:chOff x="0" y="0"/>
            <a:chExt cx="1463040" cy="1463040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1463040" cy="1463040"/>
            </a:xfrm>
            <a:custGeom>
              <a:avLst/>
              <a:gdLst/>
              <a:ahLst/>
              <a:cxnLst/>
              <a:rect r="r" b="b" t="t" l="l"/>
              <a:pathLst>
                <a:path h="1463040" w="1463040">
                  <a:moveTo>
                    <a:pt x="0" y="731520"/>
                  </a:moveTo>
                  <a:cubicBezTo>
                    <a:pt x="0" y="327533"/>
                    <a:pt x="327533" y="0"/>
                    <a:pt x="731520" y="0"/>
                  </a:cubicBezTo>
                  <a:cubicBezTo>
                    <a:pt x="1135507" y="0"/>
                    <a:pt x="1463040" y="327533"/>
                    <a:pt x="1463040" y="731520"/>
                  </a:cubicBezTo>
                  <a:cubicBezTo>
                    <a:pt x="1463040" y="1135507"/>
                    <a:pt x="1135507" y="1463040"/>
                    <a:pt x="731520" y="1463040"/>
                  </a:cubicBezTo>
                  <a:cubicBezTo>
                    <a:pt x="327533" y="1463040"/>
                    <a:pt x="0" y="1135507"/>
                    <a:pt x="0" y="731520"/>
                  </a:cubicBezTo>
                  <a:close/>
                </a:path>
              </a:pathLst>
            </a:custGeom>
            <a:solidFill>
              <a:srgbClr val="1A2540"/>
            </a:solidFill>
          </p:spPr>
        </p:sp>
      </p:grpSp>
      <p:grpSp>
        <p:nvGrpSpPr>
          <p:cNvPr name="Group 47" id="47"/>
          <p:cNvGrpSpPr/>
          <p:nvPr/>
        </p:nvGrpSpPr>
        <p:grpSpPr>
          <a:xfrm rot="0">
            <a:off x="11755984" y="4389120"/>
            <a:ext cx="1097280" cy="1097280"/>
            <a:chOff x="0" y="0"/>
            <a:chExt cx="1463040" cy="1463040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1463040" cy="1463040"/>
            </a:xfrm>
            <a:custGeom>
              <a:avLst/>
              <a:gdLst/>
              <a:ahLst/>
              <a:cxnLst/>
              <a:rect r="r" b="b" t="t" l="l"/>
              <a:pathLst>
                <a:path h="1463040" w="1463040">
                  <a:moveTo>
                    <a:pt x="0" y="0"/>
                  </a:moveTo>
                  <a:lnTo>
                    <a:pt x="1463040" y="0"/>
                  </a:lnTo>
                  <a:lnTo>
                    <a:pt x="146304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49" id="49"/>
            <p:cNvSpPr txBox="true"/>
            <p:nvPr/>
          </p:nvSpPr>
          <p:spPr>
            <a:xfrm>
              <a:off x="0" y="0"/>
              <a:ext cx="1463040" cy="14630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895"/>
                </a:lnSpc>
              </a:pPr>
              <a:r>
                <a:rPr lang="en-US" b="true" sz="4079">
                  <a:solidFill>
                    <a:srgbClr val="FFFFF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4</a:t>
              </a:r>
            </a:p>
          </p:txBody>
        </p:sp>
      </p:grpSp>
      <p:grpSp>
        <p:nvGrpSpPr>
          <p:cNvPr name="Group 50" id="50"/>
          <p:cNvGrpSpPr/>
          <p:nvPr/>
        </p:nvGrpSpPr>
        <p:grpSpPr>
          <a:xfrm rot="0">
            <a:off x="10723169" y="5692140"/>
            <a:ext cx="3162910" cy="411480"/>
            <a:chOff x="0" y="0"/>
            <a:chExt cx="4217213" cy="548640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4217212" cy="548640"/>
            </a:xfrm>
            <a:custGeom>
              <a:avLst/>
              <a:gdLst/>
              <a:ahLst/>
              <a:cxnLst/>
              <a:rect r="r" b="b" t="t" l="l"/>
              <a:pathLst>
                <a:path h="548640" w="4217212">
                  <a:moveTo>
                    <a:pt x="0" y="0"/>
                  </a:moveTo>
                  <a:lnTo>
                    <a:pt x="4217212" y="0"/>
                  </a:lnTo>
                  <a:lnTo>
                    <a:pt x="4217212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99774" r="0" b="-99774"/>
              </a:stretch>
            </a:blipFill>
          </p:spPr>
        </p:sp>
        <p:sp>
          <p:nvSpPr>
            <p:cNvPr name="TextBox 52" id="52"/>
            <p:cNvSpPr txBox="true"/>
            <p:nvPr/>
          </p:nvSpPr>
          <p:spPr>
            <a:xfrm>
              <a:off x="0" y="-19050"/>
              <a:ext cx="4217213" cy="5676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89"/>
                </a:lnSpc>
              </a:pPr>
              <a:r>
                <a:rPr lang="en-US" b="true" sz="1575">
                  <a:solidFill>
                    <a:srgbClr val="C87D0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GESTOR</a:t>
              </a:r>
            </a:p>
          </p:txBody>
        </p:sp>
      </p:grpSp>
      <p:grpSp>
        <p:nvGrpSpPr>
          <p:cNvPr name="Group 53" id="53"/>
          <p:cNvGrpSpPr/>
          <p:nvPr/>
        </p:nvGrpSpPr>
        <p:grpSpPr>
          <a:xfrm rot="0">
            <a:off x="10586009" y="6103620"/>
            <a:ext cx="3437230" cy="960120"/>
            <a:chOff x="0" y="0"/>
            <a:chExt cx="4582973" cy="1280160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4582972" cy="1280160"/>
            </a:xfrm>
            <a:custGeom>
              <a:avLst/>
              <a:gdLst/>
              <a:ahLst/>
              <a:cxnLst/>
              <a:rect r="r" b="b" t="t" l="l"/>
              <a:pathLst>
                <a:path h="1280160" w="4582972">
                  <a:moveTo>
                    <a:pt x="0" y="0"/>
                  </a:moveTo>
                  <a:lnTo>
                    <a:pt x="4582972" y="0"/>
                  </a:lnTo>
                  <a:lnTo>
                    <a:pt x="4582972" y="1280160"/>
                  </a:lnTo>
                  <a:lnTo>
                    <a:pt x="0" y="12801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9756" r="0" b="-19756"/>
              </a:stretch>
            </a:blipFill>
          </p:spPr>
        </p:sp>
        <p:sp>
          <p:nvSpPr>
            <p:cNvPr name="TextBox 55" id="55"/>
            <p:cNvSpPr txBox="true"/>
            <p:nvPr/>
          </p:nvSpPr>
          <p:spPr>
            <a:xfrm>
              <a:off x="0" y="-47625"/>
              <a:ext cx="4582973" cy="13277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40"/>
                </a:lnSpc>
              </a:pPr>
              <a:r>
                <a:rPr lang="en-US" b="true" sz="1950">
                  <a:solidFill>
                    <a:srgbClr val="1A254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Executa e mede</a:t>
              </a:r>
            </a:p>
          </p:txBody>
        </p:sp>
      </p:grpSp>
      <p:grpSp>
        <p:nvGrpSpPr>
          <p:cNvPr name="Group 56" id="56"/>
          <p:cNvGrpSpPr/>
          <p:nvPr/>
        </p:nvGrpSpPr>
        <p:grpSpPr>
          <a:xfrm rot="0">
            <a:off x="14918893" y="4389120"/>
            <a:ext cx="1097280" cy="1097280"/>
            <a:chOff x="0" y="0"/>
            <a:chExt cx="1463040" cy="1463040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1463040" cy="1463040"/>
            </a:xfrm>
            <a:custGeom>
              <a:avLst/>
              <a:gdLst/>
              <a:ahLst/>
              <a:cxnLst/>
              <a:rect r="r" b="b" t="t" l="l"/>
              <a:pathLst>
                <a:path h="1463040" w="1463040">
                  <a:moveTo>
                    <a:pt x="0" y="731520"/>
                  </a:moveTo>
                  <a:cubicBezTo>
                    <a:pt x="0" y="327533"/>
                    <a:pt x="327533" y="0"/>
                    <a:pt x="731520" y="0"/>
                  </a:cubicBezTo>
                  <a:cubicBezTo>
                    <a:pt x="1135507" y="0"/>
                    <a:pt x="1463040" y="327533"/>
                    <a:pt x="1463040" y="731520"/>
                  </a:cubicBezTo>
                  <a:cubicBezTo>
                    <a:pt x="1463040" y="1135507"/>
                    <a:pt x="1135507" y="1463040"/>
                    <a:pt x="731520" y="1463040"/>
                  </a:cubicBezTo>
                  <a:cubicBezTo>
                    <a:pt x="327533" y="1463040"/>
                    <a:pt x="0" y="1135507"/>
                    <a:pt x="0" y="731520"/>
                  </a:cubicBezTo>
                  <a:close/>
                </a:path>
              </a:pathLst>
            </a:custGeom>
            <a:solidFill>
              <a:srgbClr val="C87D0E"/>
            </a:solidFill>
          </p:spPr>
        </p:sp>
      </p:grpSp>
      <p:grpSp>
        <p:nvGrpSpPr>
          <p:cNvPr name="Group 58" id="58"/>
          <p:cNvGrpSpPr/>
          <p:nvPr/>
        </p:nvGrpSpPr>
        <p:grpSpPr>
          <a:xfrm rot="0">
            <a:off x="14918893" y="4389120"/>
            <a:ext cx="1097280" cy="1097280"/>
            <a:chOff x="0" y="0"/>
            <a:chExt cx="1463040" cy="1463040"/>
          </a:xfrm>
        </p:grpSpPr>
        <p:sp>
          <p:nvSpPr>
            <p:cNvPr name="Freeform 59" id="59"/>
            <p:cNvSpPr/>
            <p:nvPr/>
          </p:nvSpPr>
          <p:spPr>
            <a:xfrm flipH="false" flipV="false" rot="0">
              <a:off x="0" y="0"/>
              <a:ext cx="1463040" cy="1463040"/>
            </a:xfrm>
            <a:custGeom>
              <a:avLst/>
              <a:gdLst/>
              <a:ahLst/>
              <a:cxnLst/>
              <a:rect r="r" b="b" t="t" l="l"/>
              <a:pathLst>
                <a:path h="1463040" w="1463040">
                  <a:moveTo>
                    <a:pt x="0" y="0"/>
                  </a:moveTo>
                  <a:lnTo>
                    <a:pt x="1463040" y="0"/>
                  </a:lnTo>
                  <a:lnTo>
                    <a:pt x="146304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60" id="60"/>
            <p:cNvSpPr txBox="true"/>
            <p:nvPr/>
          </p:nvSpPr>
          <p:spPr>
            <a:xfrm>
              <a:off x="0" y="0"/>
              <a:ext cx="1463040" cy="14630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895"/>
                </a:lnSpc>
              </a:pPr>
              <a:r>
                <a:rPr lang="en-US" b="true" sz="4079">
                  <a:solidFill>
                    <a:srgbClr val="FFFFF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5</a:t>
              </a:r>
            </a:p>
          </p:txBody>
        </p:sp>
      </p:grpSp>
      <p:grpSp>
        <p:nvGrpSpPr>
          <p:cNvPr name="Group 61" id="61"/>
          <p:cNvGrpSpPr/>
          <p:nvPr/>
        </p:nvGrpSpPr>
        <p:grpSpPr>
          <a:xfrm rot="0">
            <a:off x="13886078" y="5692140"/>
            <a:ext cx="3162910" cy="411480"/>
            <a:chOff x="0" y="0"/>
            <a:chExt cx="4217213" cy="548640"/>
          </a:xfrm>
        </p:grpSpPr>
        <p:sp>
          <p:nvSpPr>
            <p:cNvPr name="Freeform 62" id="62"/>
            <p:cNvSpPr/>
            <p:nvPr/>
          </p:nvSpPr>
          <p:spPr>
            <a:xfrm flipH="false" flipV="false" rot="0">
              <a:off x="0" y="0"/>
              <a:ext cx="4217212" cy="548640"/>
            </a:xfrm>
            <a:custGeom>
              <a:avLst/>
              <a:gdLst/>
              <a:ahLst/>
              <a:cxnLst/>
              <a:rect r="r" b="b" t="t" l="l"/>
              <a:pathLst>
                <a:path h="548640" w="4217212">
                  <a:moveTo>
                    <a:pt x="0" y="0"/>
                  </a:moveTo>
                  <a:lnTo>
                    <a:pt x="4217212" y="0"/>
                  </a:lnTo>
                  <a:lnTo>
                    <a:pt x="4217212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99774" r="0" b="-99774"/>
              </a:stretch>
            </a:blipFill>
          </p:spPr>
        </p:sp>
        <p:sp>
          <p:nvSpPr>
            <p:cNvPr name="TextBox 63" id="63"/>
            <p:cNvSpPr txBox="true"/>
            <p:nvPr/>
          </p:nvSpPr>
          <p:spPr>
            <a:xfrm>
              <a:off x="0" y="-19050"/>
              <a:ext cx="4217213" cy="5676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89"/>
                </a:lnSpc>
              </a:pPr>
              <a:r>
                <a:rPr lang="en-US" b="true" sz="1575">
                  <a:solidFill>
                    <a:srgbClr val="C87D0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LÍDER</a:t>
              </a:r>
            </a:p>
          </p:txBody>
        </p:sp>
      </p:grpSp>
      <p:grpSp>
        <p:nvGrpSpPr>
          <p:cNvPr name="Group 64" id="64"/>
          <p:cNvGrpSpPr/>
          <p:nvPr/>
        </p:nvGrpSpPr>
        <p:grpSpPr>
          <a:xfrm rot="0">
            <a:off x="13748918" y="6103620"/>
            <a:ext cx="3437230" cy="960120"/>
            <a:chOff x="0" y="0"/>
            <a:chExt cx="4582973" cy="1280160"/>
          </a:xfrm>
        </p:grpSpPr>
        <p:sp>
          <p:nvSpPr>
            <p:cNvPr name="Freeform 65" id="65"/>
            <p:cNvSpPr/>
            <p:nvPr/>
          </p:nvSpPr>
          <p:spPr>
            <a:xfrm flipH="false" flipV="false" rot="0">
              <a:off x="0" y="0"/>
              <a:ext cx="4582972" cy="1280160"/>
            </a:xfrm>
            <a:custGeom>
              <a:avLst/>
              <a:gdLst/>
              <a:ahLst/>
              <a:cxnLst/>
              <a:rect r="r" b="b" t="t" l="l"/>
              <a:pathLst>
                <a:path h="1280160" w="4582972">
                  <a:moveTo>
                    <a:pt x="0" y="0"/>
                  </a:moveTo>
                  <a:lnTo>
                    <a:pt x="4582972" y="0"/>
                  </a:lnTo>
                  <a:lnTo>
                    <a:pt x="4582972" y="1280160"/>
                  </a:lnTo>
                  <a:lnTo>
                    <a:pt x="0" y="12801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9756" r="0" b="-19756"/>
              </a:stretch>
            </a:blipFill>
          </p:spPr>
        </p:sp>
        <p:sp>
          <p:nvSpPr>
            <p:cNvPr name="TextBox 66" id="66"/>
            <p:cNvSpPr txBox="true"/>
            <p:nvPr/>
          </p:nvSpPr>
          <p:spPr>
            <a:xfrm>
              <a:off x="0" y="-47625"/>
              <a:ext cx="4582973" cy="13277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40"/>
                </a:lnSpc>
              </a:pPr>
              <a:r>
                <a:rPr lang="en-US" b="true" sz="1950">
                  <a:solidFill>
                    <a:srgbClr val="1A254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Decide com dados</a:t>
              </a:r>
            </a:p>
          </p:txBody>
        </p:sp>
      </p:grpSp>
      <p:grpSp>
        <p:nvGrpSpPr>
          <p:cNvPr name="Group 67" id="67"/>
          <p:cNvGrpSpPr/>
          <p:nvPr/>
        </p:nvGrpSpPr>
        <p:grpSpPr>
          <a:xfrm rot="0">
            <a:off x="1234440" y="8641080"/>
            <a:ext cx="15087600" cy="685800"/>
            <a:chOff x="0" y="0"/>
            <a:chExt cx="20116800" cy="914400"/>
          </a:xfrm>
        </p:grpSpPr>
        <p:sp>
          <p:nvSpPr>
            <p:cNvPr name="Freeform 68" id="68"/>
            <p:cNvSpPr/>
            <p:nvPr/>
          </p:nvSpPr>
          <p:spPr>
            <a:xfrm flipH="false" flipV="false" rot="0">
              <a:off x="0" y="0"/>
              <a:ext cx="20116800" cy="914400"/>
            </a:xfrm>
            <a:custGeom>
              <a:avLst/>
              <a:gdLst/>
              <a:ahLst/>
              <a:cxnLst/>
              <a:rect r="r" b="b" t="t" l="l"/>
              <a:pathLst>
                <a:path h="914400" w="20116800">
                  <a:moveTo>
                    <a:pt x="0" y="0"/>
                  </a:moveTo>
                  <a:lnTo>
                    <a:pt x="20116800" y="0"/>
                  </a:lnTo>
                  <a:lnTo>
                    <a:pt x="2011680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78670" r="0" b="-378670"/>
              </a:stretch>
            </a:blipFill>
          </p:spPr>
        </p:sp>
        <p:sp>
          <p:nvSpPr>
            <p:cNvPr name="TextBox 69" id="69"/>
            <p:cNvSpPr txBox="true"/>
            <p:nvPr/>
          </p:nvSpPr>
          <p:spPr>
            <a:xfrm>
              <a:off x="0" y="-38100"/>
              <a:ext cx="20116800" cy="9525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50"/>
                </a:lnSpc>
              </a:pPr>
              <a:r>
                <a:rPr lang="en-US" sz="1875" i="true">
                  <a:solidFill>
                    <a:srgbClr val="5B6472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Cada seta abaixo é uma chamada real de API contra o backend em produção — nada simulado.</a:t>
              </a:r>
            </a:p>
          </p:txBody>
        </p:sp>
      </p:grpSp>
      <p:grpSp>
        <p:nvGrpSpPr>
          <p:cNvPr name="Group 70" id="70"/>
          <p:cNvGrpSpPr/>
          <p:nvPr/>
        </p:nvGrpSpPr>
        <p:grpSpPr>
          <a:xfrm rot="0">
            <a:off x="17323308" y="9669780"/>
            <a:ext cx="685800" cy="411480"/>
            <a:chOff x="0" y="0"/>
            <a:chExt cx="914400" cy="548640"/>
          </a:xfrm>
        </p:grpSpPr>
        <p:sp>
          <p:nvSpPr>
            <p:cNvPr name="Freeform 71" id="71"/>
            <p:cNvSpPr/>
            <p:nvPr/>
          </p:nvSpPr>
          <p:spPr>
            <a:xfrm flipH="false" flipV="false" rot="0">
              <a:off x="0" y="0"/>
              <a:ext cx="914400" cy="548640"/>
            </a:xfrm>
            <a:custGeom>
              <a:avLst/>
              <a:gdLst/>
              <a:ahLst/>
              <a:cxnLst/>
              <a:rect r="r" b="b" t="t" l="l"/>
              <a:pathLst>
                <a:path h="54864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26982" t="0" r="-26982" b="0"/>
              </a:stretch>
            </a:blipFill>
          </p:spPr>
        </p:sp>
        <p:sp>
          <p:nvSpPr>
            <p:cNvPr name="TextBox 72" id="72"/>
            <p:cNvSpPr txBox="true"/>
            <p:nvPr/>
          </p:nvSpPr>
          <p:spPr>
            <a:xfrm>
              <a:off x="0" y="-38100"/>
              <a:ext cx="91440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800"/>
                </a:lnSpc>
              </a:pPr>
              <a:r>
                <a:rPr lang="en-US" sz="1500">
                  <a:solidFill>
                    <a:srgbClr val="5B6472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04</a:t>
              </a:r>
            </a:p>
          </p:txBody>
        </p:sp>
      </p:grp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6309360" cy="10287000"/>
            <a:chOff x="0" y="0"/>
            <a:chExt cx="841248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41248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8412480">
                  <a:moveTo>
                    <a:pt x="0" y="0"/>
                  </a:moveTo>
                  <a:lnTo>
                    <a:pt x="8412480" y="0"/>
                  </a:lnTo>
                  <a:lnTo>
                    <a:pt x="841248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1A2540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960120" y="960120"/>
            <a:ext cx="1234440" cy="1234440"/>
            <a:chOff x="0" y="0"/>
            <a:chExt cx="1645920" cy="164592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645920" cy="1645920"/>
            </a:xfrm>
            <a:custGeom>
              <a:avLst/>
              <a:gdLst/>
              <a:ahLst/>
              <a:cxnLst/>
              <a:rect r="r" b="b" t="t" l="l"/>
              <a:pathLst>
                <a:path h="1645920" w="1645920">
                  <a:moveTo>
                    <a:pt x="0" y="822960"/>
                  </a:moveTo>
                  <a:cubicBezTo>
                    <a:pt x="0" y="368427"/>
                    <a:pt x="368427" y="0"/>
                    <a:pt x="822960" y="0"/>
                  </a:cubicBezTo>
                  <a:cubicBezTo>
                    <a:pt x="1277493" y="0"/>
                    <a:pt x="1645920" y="368427"/>
                    <a:pt x="1645920" y="822960"/>
                  </a:cubicBezTo>
                  <a:cubicBezTo>
                    <a:pt x="1645920" y="1277493"/>
                    <a:pt x="1277493" y="1645920"/>
                    <a:pt x="822960" y="1645920"/>
                  </a:cubicBezTo>
                  <a:cubicBezTo>
                    <a:pt x="368427" y="1645920"/>
                    <a:pt x="0" y="1277493"/>
                    <a:pt x="0" y="822960"/>
                  </a:cubicBezTo>
                  <a:close/>
                </a:path>
              </a:pathLst>
            </a:custGeom>
            <a:solidFill>
              <a:srgbClr val="C87D0E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960120" y="960120"/>
            <a:ext cx="1234440" cy="1234440"/>
            <a:chOff x="0" y="0"/>
            <a:chExt cx="1645920" cy="164592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645920" cy="1645920"/>
            </a:xfrm>
            <a:custGeom>
              <a:avLst/>
              <a:gdLst/>
              <a:ahLst/>
              <a:cxnLst/>
              <a:rect r="r" b="b" t="t" l="l"/>
              <a:pathLst>
                <a:path h="1645920" w="1645920">
                  <a:moveTo>
                    <a:pt x="0" y="0"/>
                  </a:moveTo>
                  <a:lnTo>
                    <a:pt x="1645920" y="0"/>
                  </a:lnTo>
                  <a:lnTo>
                    <a:pt x="1645920" y="1645920"/>
                  </a:lnTo>
                  <a:lnTo>
                    <a:pt x="0" y="16459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-9525"/>
              <a:ext cx="1645920" cy="16554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5508"/>
                </a:lnSpc>
              </a:pPr>
              <a:r>
                <a:rPr lang="en-US" b="true" sz="4590">
                  <a:solidFill>
                    <a:srgbClr val="FFFFF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1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960120" y="2537460"/>
            <a:ext cx="4663440" cy="480060"/>
            <a:chOff x="0" y="0"/>
            <a:chExt cx="6217920" cy="64008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6217920" cy="640080"/>
            </a:xfrm>
            <a:custGeom>
              <a:avLst/>
              <a:gdLst/>
              <a:ahLst/>
              <a:cxnLst/>
              <a:rect r="r" b="b" t="t" l="l"/>
              <a:pathLst>
                <a:path h="640080" w="6217920">
                  <a:moveTo>
                    <a:pt x="0" y="0"/>
                  </a:moveTo>
                  <a:lnTo>
                    <a:pt x="6217920" y="0"/>
                  </a:lnTo>
                  <a:lnTo>
                    <a:pt x="621792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39283" r="0" b="-139283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6217920" cy="6781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b="true" sz="1800">
                  <a:solidFill>
                    <a:srgbClr val="E8B15C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OPERADOR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960120" y="3017520"/>
            <a:ext cx="4800600" cy="2057400"/>
            <a:chOff x="0" y="0"/>
            <a:chExt cx="6400800" cy="27432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6400800" cy="2743200"/>
            </a:xfrm>
            <a:custGeom>
              <a:avLst/>
              <a:gdLst/>
              <a:ahLst/>
              <a:cxnLst/>
              <a:rect r="r" b="b" t="t" l="l"/>
              <a:pathLst>
                <a:path h="2743200" w="6400800">
                  <a:moveTo>
                    <a:pt x="0" y="0"/>
                  </a:moveTo>
                  <a:lnTo>
                    <a:pt x="6400800" y="0"/>
                  </a:lnTo>
                  <a:lnTo>
                    <a:pt x="6400800" y="2743200"/>
                  </a:lnTo>
                  <a:lnTo>
                    <a:pt x="0" y="27432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4987" t="0" r="-4987" b="0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9525"/>
              <a:ext cx="6400800" cy="27527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860"/>
                </a:lnSpc>
              </a:pPr>
              <a:r>
                <a:rPr lang="en-US" b="true" sz="4050">
                  <a:solidFill>
                    <a:srgbClr val="FFFFF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Registra a ideia</a:t>
              </a:r>
            </a:p>
          </p:txBody>
        </p:sp>
      </p:grpSp>
      <p:sp>
        <p:nvSpPr>
          <p:cNvPr name="TextBox 15" id="15"/>
          <p:cNvSpPr txBox="true"/>
          <p:nvPr/>
        </p:nvSpPr>
        <p:spPr>
          <a:xfrm rot="0">
            <a:off x="960120" y="5301615"/>
            <a:ext cx="4800600" cy="37509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0"/>
              </a:lnSpc>
            </a:pPr>
            <a:r>
              <a:rPr lang="en-US" sz="1950">
                <a:solidFill>
                  <a:srgbClr val="C7CEDD"/>
                </a:solidFill>
                <a:latin typeface="Calibri (MS)"/>
                <a:ea typeface="Calibri (MS)"/>
                <a:cs typeface="Calibri (MS)"/>
                <a:sym typeface="Calibri (MS)"/>
              </a:rPr>
              <a:t>É terça de manhã. Um operador percebe que o checklist de inspeção em papel está gerando atraso na saída da frota. Em menos de um minuto, registra isso direto do celular.</a:t>
            </a:r>
          </a:p>
        </p:txBody>
      </p:sp>
      <p:grpSp>
        <p:nvGrpSpPr>
          <p:cNvPr name="Group 16" id="16"/>
          <p:cNvGrpSpPr/>
          <p:nvPr/>
        </p:nvGrpSpPr>
        <p:grpSpPr>
          <a:xfrm rot="0">
            <a:off x="6858000" y="891540"/>
            <a:ext cx="10602468" cy="1234440"/>
            <a:chOff x="0" y="0"/>
            <a:chExt cx="14136624" cy="164592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4136624" cy="1645920"/>
            </a:xfrm>
            <a:custGeom>
              <a:avLst/>
              <a:gdLst/>
              <a:ahLst/>
              <a:cxnLst/>
              <a:rect r="r" b="b" t="t" l="l"/>
              <a:pathLst>
                <a:path h="1645920" w="14136624">
                  <a:moveTo>
                    <a:pt x="0" y="0"/>
                  </a:moveTo>
                  <a:lnTo>
                    <a:pt x="14136624" y="0"/>
                  </a:lnTo>
                  <a:lnTo>
                    <a:pt x="14136624" y="1645920"/>
                  </a:lnTo>
                  <a:lnTo>
                    <a:pt x="0" y="16459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17354" r="0" b="-117354"/>
              </a:stretch>
            </a:blip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9525"/>
              <a:ext cx="14136624" cy="16554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960"/>
                </a:lnSpc>
              </a:pPr>
              <a:r>
                <a:rPr lang="en-US" b="true" sz="3300">
                  <a:solidFill>
                    <a:srgbClr val="1A2540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Uma dor operacional vira dado estruturado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6858000" y="2331720"/>
            <a:ext cx="10602468" cy="1303020"/>
            <a:chOff x="0" y="0"/>
            <a:chExt cx="14136624" cy="173736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4136624" cy="1737360"/>
            </a:xfrm>
            <a:custGeom>
              <a:avLst/>
              <a:gdLst/>
              <a:ahLst/>
              <a:cxnLst/>
              <a:rect r="r" b="b" t="t" l="l"/>
              <a:pathLst>
                <a:path h="1737360" w="14136624">
                  <a:moveTo>
                    <a:pt x="0" y="0"/>
                  </a:moveTo>
                  <a:lnTo>
                    <a:pt x="14136624" y="0"/>
                  </a:lnTo>
                  <a:lnTo>
                    <a:pt x="14136624" y="1737360"/>
                  </a:lnTo>
                  <a:lnTo>
                    <a:pt x="0" y="1737360"/>
                  </a:lnTo>
                  <a:close/>
                </a:path>
              </a:pathLst>
            </a:custGeom>
            <a:solidFill>
              <a:srgbClr val="F2F2F0"/>
            </a:solidFill>
          </p:spPr>
        </p:sp>
      </p:grpSp>
      <p:grpSp>
        <p:nvGrpSpPr>
          <p:cNvPr name="Group 21" id="21"/>
          <p:cNvGrpSpPr/>
          <p:nvPr/>
        </p:nvGrpSpPr>
        <p:grpSpPr>
          <a:xfrm rot="0">
            <a:off x="7200900" y="2468880"/>
            <a:ext cx="9916668" cy="438912"/>
            <a:chOff x="0" y="0"/>
            <a:chExt cx="13222224" cy="585216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13222224" cy="585216"/>
            </a:xfrm>
            <a:custGeom>
              <a:avLst/>
              <a:gdLst/>
              <a:ahLst/>
              <a:cxnLst/>
              <a:rect r="r" b="b" t="t" l="l"/>
              <a:pathLst>
                <a:path h="585216" w="13222224">
                  <a:moveTo>
                    <a:pt x="0" y="0"/>
                  </a:moveTo>
                  <a:lnTo>
                    <a:pt x="13222224" y="0"/>
                  </a:lnTo>
                  <a:lnTo>
                    <a:pt x="13222224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90240" r="0" b="-390240"/>
              </a:stretch>
            </a:blip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38100"/>
              <a:ext cx="13222224" cy="6233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70"/>
                </a:lnSpc>
              </a:pPr>
              <a:r>
                <a:rPr lang="en-US" b="true" sz="1725">
                  <a:solidFill>
                    <a:srgbClr val="C87D0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TÍTULO E CATEGORIA</a:t>
              </a:r>
            </a:p>
          </p:txBody>
        </p:sp>
      </p:grpSp>
      <p:sp>
        <p:nvSpPr>
          <p:cNvPr name="TextBox 24" id="24"/>
          <p:cNvSpPr txBox="true"/>
          <p:nvPr/>
        </p:nvSpPr>
        <p:spPr>
          <a:xfrm rot="0">
            <a:off x="7200900" y="2842260"/>
            <a:ext cx="9916668" cy="723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0"/>
              </a:lnSpc>
            </a:pPr>
            <a:r>
              <a:rPr lang="en-US" sz="2025">
                <a:solidFill>
                  <a:srgbClr val="1A2540"/>
                </a:solidFill>
                <a:latin typeface="Calibri (MS)"/>
                <a:ea typeface="Calibri (MS)"/>
                <a:cs typeface="Calibri (MS)"/>
                <a:sym typeface="Calibri (MS)"/>
              </a:rPr>
              <a:t>"Automatizar checklist de inspeção" · Processo</a:t>
            </a:r>
          </a:p>
        </p:txBody>
      </p:sp>
      <p:grpSp>
        <p:nvGrpSpPr>
          <p:cNvPr name="Group 25" id="25"/>
          <p:cNvGrpSpPr/>
          <p:nvPr/>
        </p:nvGrpSpPr>
        <p:grpSpPr>
          <a:xfrm rot="0">
            <a:off x="6858000" y="3840480"/>
            <a:ext cx="10602468" cy="1303020"/>
            <a:chOff x="0" y="0"/>
            <a:chExt cx="14136624" cy="173736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14136624" cy="1737360"/>
            </a:xfrm>
            <a:custGeom>
              <a:avLst/>
              <a:gdLst/>
              <a:ahLst/>
              <a:cxnLst/>
              <a:rect r="r" b="b" t="t" l="l"/>
              <a:pathLst>
                <a:path h="1737360" w="14136624">
                  <a:moveTo>
                    <a:pt x="0" y="0"/>
                  </a:moveTo>
                  <a:lnTo>
                    <a:pt x="14136624" y="0"/>
                  </a:lnTo>
                  <a:lnTo>
                    <a:pt x="14136624" y="1737360"/>
                  </a:lnTo>
                  <a:lnTo>
                    <a:pt x="0" y="1737360"/>
                  </a:lnTo>
                  <a:close/>
                </a:path>
              </a:pathLst>
            </a:custGeom>
            <a:solidFill>
              <a:srgbClr val="F2F2F0"/>
            </a:solidFill>
          </p:spPr>
        </p:sp>
      </p:grpSp>
      <p:grpSp>
        <p:nvGrpSpPr>
          <p:cNvPr name="Group 27" id="27"/>
          <p:cNvGrpSpPr/>
          <p:nvPr/>
        </p:nvGrpSpPr>
        <p:grpSpPr>
          <a:xfrm rot="0">
            <a:off x="7200900" y="3977640"/>
            <a:ext cx="9916668" cy="438912"/>
            <a:chOff x="0" y="0"/>
            <a:chExt cx="13222224" cy="585216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13222224" cy="585216"/>
            </a:xfrm>
            <a:custGeom>
              <a:avLst/>
              <a:gdLst/>
              <a:ahLst/>
              <a:cxnLst/>
              <a:rect r="r" b="b" t="t" l="l"/>
              <a:pathLst>
                <a:path h="585216" w="13222224">
                  <a:moveTo>
                    <a:pt x="0" y="0"/>
                  </a:moveTo>
                  <a:lnTo>
                    <a:pt x="13222224" y="0"/>
                  </a:lnTo>
                  <a:lnTo>
                    <a:pt x="13222224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90240" r="0" b="-390240"/>
              </a:stretch>
            </a:blipFill>
          </p:spPr>
        </p:sp>
        <p:sp>
          <p:nvSpPr>
            <p:cNvPr name="TextBox 29" id="29"/>
            <p:cNvSpPr txBox="true"/>
            <p:nvPr/>
          </p:nvSpPr>
          <p:spPr>
            <a:xfrm>
              <a:off x="0" y="-38100"/>
              <a:ext cx="13222224" cy="6233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70"/>
                </a:lnSpc>
              </a:pPr>
              <a:r>
                <a:rPr lang="en-US" b="true" sz="1725">
                  <a:solidFill>
                    <a:srgbClr val="C87D0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PROBLEMA, BENEFÍCIOS E RECURSOS</a:t>
              </a:r>
            </a:p>
          </p:txBody>
        </p:sp>
      </p:grpSp>
      <p:sp>
        <p:nvSpPr>
          <p:cNvPr name="TextBox 30" id="30"/>
          <p:cNvSpPr txBox="true"/>
          <p:nvPr/>
        </p:nvSpPr>
        <p:spPr>
          <a:xfrm rot="0">
            <a:off x="7200900" y="4351020"/>
            <a:ext cx="9916668" cy="723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0"/>
              </a:lnSpc>
            </a:pPr>
            <a:r>
              <a:rPr lang="en-US" sz="2025">
                <a:solidFill>
                  <a:srgbClr val="1A2540"/>
                </a:solidFill>
                <a:latin typeface="Calibri (MS)"/>
                <a:ea typeface="Calibri (MS)"/>
                <a:cs typeface="Calibri (MS)"/>
                <a:sym typeface="Calibri (MS)"/>
              </a:rPr>
              <a:t>Descrito em texto livre — sem formulário burocrático</a:t>
            </a:r>
          </a:p>
        </p:txBody>
      </p:sp>
      <p:grpSp>
        <p:nvGrpSpPr>
          <p:cNvPr name="Group 31" id="31"/>
          <p:cNvGrpSpPr/>
          <p:nvPr/>
        </p:nvGrpSpPr>
        <p:grpSpPr>
          <a:xfrm rot="0">
            <a:off x="6858000" y="5349240"/>
            <a:ext cx="10602468" cy="1303020"/>
            <a:chOff x="0" y="0"/>
            <a:chExt cx="14136624" cy="173736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14136624" cy="1737360"/>
            </a:xfrm>
            <a:custGeom>
              <a:avLst/>
              <a:gdLst/>
              <a:ahLst/>
              <a:cxnLst/>
              <a:rect r="r" b="b" t="t" l="l"/>
              <a:pathLst>
                <a:path h="1737360" w="14136624">
                  <a:moveTo>
                    <a:pt x="0" y="0"/>
                  </a:moveTo>
                  <a:lnTo>
                    <a:pt x="14136624" y="0"/>
                  </a:lnTo>
                  <a:lnTo>
                    <a:pt x="14136624" y="1737360"/>
                  </a:lnTo>
                  <a:lnTo>
                    <a:pt x="0" y="1737360"/>
                  </a:lnTo>
                  <a:close/>
                </a:path>
              </a:pathLst>
            </a:custGeom>
            <a:solidFill>
              <a:srgbClr val="F2F2F0"/>
            </a:solidFill>
          </p:spPr>
        </p:sp>
      </p:grpSp>
      <p:grpSp>
        <p:nvGrpSpPr>
          <p:cNvPr name="Group 33" id="33"/>
          <p:cNvGrpSpPr/>
          <p:nvPr/>
        </p:nvGrpSpPr>
        <p:grpSpPr>
          <a:xfrm rot="0">
            <a:off x="7200900" y="5486400"/>
            <a:ext cx="9916668" cy="438912"/>
            <a:chOff x="0" y="0"/>
            <a:chExt cx="13222224" cy="585216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13222224" cy="585216"/>
            </a:xfrm>
            <a:custGeom>
              <a:avLst/>
              <a:gdLst/>
              <a:ahLst/>
              <a:cxnLst/>
              <a:rect r="r" b="b" t="t" l="l"/>
              <a:pathLst>
                <a:path h="585216" w="13222224">
                  <a:moveTo>
                    <a:pt x="0" y="0"/>
                  </a:moveTo>
                  <a:lnTo>
                    <a:pt x="13222224" y="0"/>
                  </a:lnTo>
                  <a:lnTo>
                    <a:pt x="13222224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90240" r="0" b="-390240"/>
              </a:stretch>
            </a:blipFill>
          </p:spPr>
        </p:sp>
        <p:sp>
          <p:nvSpPr>
            <p:cNvPr name="TextBox 35" id="35"/>
            <p:cNvSpPr txBox="true"/>
            <p:nvPr/>
          </p:nvSpPr>
          <p:spPr>
            <a:xfrm>
              <a:off x="0" y="-38100"/>
              <a:ext cx="13222224" cy="6233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70"/>
                </a:lnSpc>
              </a:pPr>
              <a:r>
                <a:rPr lang="en-US" b="true" sz="1725">
                  <a:solidFill>
                    <a:srgbClr val="C87D0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STATUS INICIAL</a:t>
              </a:r>
            </a:p>
          </p:txBody>
        </p:sp>
      </p:grpSp>
      <p:sp>
        <p:nvSpPr>
          <p:cNvPr name="TextBox 36" id="36"/>
          <p:cNvSpPr txBox="true"/>
          <p:nvPr/>
        </p:nvSpPr>
        <p:spPr>
          <a:xfrm rot="0">
            <a:off x="7200900" y="5859780"/>
            <a:ext cx="9916668" cy="723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0"/>
              </a:lnSpc>
            </a:pPr>
            <a:r>
              <a:rPr lang="en-US" sz="2025">
                <a:solidFill>
                  <a:srgbClr val="1A2540"/>
                </a:solidFill>
                <a:latin typeface="Calibri (MS)"/>
                <a:ea typeface="Calibri (MS)"/>
                <a:cs typeface="Calibri (MS)"/>
                <a:sym typeface="Calibri (MS)"/>
              </a:rPr>
              <a:t>Aguardando análise do gestor responsável</a:t>
            </a:r>
          </a:p>
        </p:txBody>
      </p:sp>
      <p:grpSp>
        <p:nvGrpSpPr>
          <p:cNvPr name="Group 37" id="37"/>
          <p:cNvGrpSpPr/>
          <p:nvPr/>
        </p:nvGrpSpPr>
        <p:grpSpPr>
          <a:xfrm rot="0">
            <a:off x="6858000" y="6995160"/>
            <a:ext cx="10602468" cy="754380"/>
            <a:chOff x="0" y="0"/>
            <a:chExt cx="14136624" cy="1005840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14136624" cy="1005840"/>
            </a:xfrm>
            <a:custGeom>
              <a:avLst/>
              <a:gdLst/>
              <a:ahLst/>
              <a:cxnLst/>
              <a:rect r="r" b="b" t="t" l="l"/>
              <a:pathLst>
                <a:path h="1005840" w="14136624">
                  <a:moveTo>
                    <a:pt x="0" y="0"/>
                  </a:moveTo>
                  <a:lnTo>
                    <a:pt x="14136624" y="0"/>
                  </a:lnTo>
                  <a:lnTo>
                    <a:pt x="14136624" y="1005840"/>
                  </a:lnTo>
                  <a:lnTo>
                    <a:pt x="0" y="1005840"/>
                  </a:lnTo>
                  <a:close/>
                </a:path>
              </a:pathLst>
            </a:custGeom>
            <a:solidFill>
              <a:srgbClr val="1A2540"/>
            </a:solidFill>
          </p:spPr>
        </p:sp>
      </p:grpSp>
      <p:grpSp>
        <p:nvGrpSpPr>
          <p:cNvPr name="Group 39" id="39"/>
          <p:cNvGrpSpPr/>
          <p:nvPr/>
        </p:nvGrpSpPr>
        <p:grpSpPr>
          <a:xfrm rot="0">
            <a:off x="7132320" y="6995160"/>
            <a:ext cx="10053828" cy="754380"/>
            <a:chOff x="0" y="0"/>
            <a:chExt cx="13405104" cy="1005840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13405104" cy="1005840"/>
            </a:xfrm>
            <a:custGeom>
              <a:avLst/>
              <a:gdLst/>
              <a:ahLst/>
              <a:cxnLst/>
              <a:rect r="r" b="b" t="t" l="l"/>
              <a:pathLst>
                <a:path h="1005840" w="13405104">
                  <a:moveTo>
                    <a:pt x="0" y="0"/>
                  </a:moveTo>
                  <a:lnTo>
                    <a:pt x="13405104" y="0"/>
                  </a:lnTo>
                  <a:lnTo>
                    <a:pt x="13405104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09682" r="0" b="-209682"/>
              </a:stretch>
            </a:blipFill>
          </p:spPr>
        </p:sp>
        <p:sp>
          <p:nvSpPr>
            <p:cNvPr name="TextBox 41" id="41"/>
            <p:cNvSpPr txBox="true"/>
            <p:nvPr/>
          </p:nvSpPr>
          <p:spPr>
            <a:xfrm>
              <a:off x="0" y="-9525"/>
              <a:ext cx="13405104" cy="10153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E8B15C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POST /api/v1/ideas · JWT do operador</a:t>
              </a:r>
            </a:p>
          </p:txBody>
        </p:sp>
      </p:grpSp>
      <p:grpSp>
        <p:nvGrpSpPr>
          <p:cNvPr name="Group 42" id="42"/>
          <p:cNvGrpSpPr/>
          <p:nvPr/>
        </p:nvGrpSpPr>
        <p:grpSpPr>
          <a:xfrm rot="0">
            <a:off x="17323308" y="9669780"/>
            <a:ext cx="685800" cy="411480"/>
            <a:chOff x="0" y="0"/>
            <a:chExt cx="914400" cy="548640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914400" cy="548640"/>
            </a:xfrm>
            <a:custGeom>
              <a:avLst/>
              <a:gdLst/>
              <a:ahLst/>
              <a:cxnLst/>
              <a:rect r="r" b="b" t="t" l="l"/>
              <a:pathLst>
                <a:path h="54864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26982" t="0" r="-26982" b="0"/>
              </a:stretch>
            </a:blipFill>
          </p:spPr>
        </p:sp>
        <p:sp>
          <p:nvSpPr>
            <p:cNvPr name="TextBox 44" id="44"/>
            <p:cNvSpPr txBox="true"/>
            <p:nvPr/>
          </p:nvSpPr>
          <p:spPr>
            <a:xfrm>
              <a:off x="0" y="-38100"/>
              <a:ext cx="91440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800"/>
                </a:lnSpc>
              </a:pPr>
              <a:r>
                <a:rPr lang="en-US" sz="1500">
                  <a:solidFill>
                    <a:srgbClr val="5B6472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05</a:t>
              </a:r>
            </a:p>
          </p:txBody>
        </p:sp>
      </p:grp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6309360" cy="10287000"/>
            <a:chOff x="0" y="0"/>
            <a:chExt cx="841248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41248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8412480">
                  <a:moveTo>
                    <a:pt x="0" y="0"/>
                  </a:moveTo>
                  <a:lnTo>
                    <a:pt x="8412480" y="0"/>
                  </a:lnTo>
                  <a:lnTo>
                    <a:pt x="841248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1A2540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960120" y="960120"/>
            <a:ext cx="1234440" cy="1234440"/>
            <a:chOff x="0" y="0"/>
            <a:chExt cx="1645920" cy="164592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645920" cy="1645920"/>
            </a:xfrm>
            <a:custGeom>
              <a:avLst/>
              <a:gdLst/>
              <a:ahLst/>
              <a:cxnLst/>
              <a:rect r="r" b="b" t="t" l="l"/>
              <a:pathLst>
                <a:path h="1645920" w="1645920">
                  <a:moveTo>
                    <a:pt x="0" y="822960"/>
                  </a:moveTo>
                  <a:cubicBezTo>
                    <a:pt x="0" y="368427"/>
                    <a:pt x="368427" y="0"/>
                    <a:pt x="822960" y="0"/>
                  </a:cubicBezTo>
                  <a:cubicBezTo>
                    <a:pt x="1277493" y="0"/>
                    <a:pt x="1645920" y="368427"/>
                    <a:pt x="1645920" y="822960"/>
                  </a:cubicBezTo>
                  <a:cubicBezTo>
                    <a:pt x="1645920" y="1277493"/>
                    <a:pt x="1277493" y="1645920"/>
                    <a:pt x="822960" y="1645920"/>
                  </a:cubicBezTo>
                  <a:cubicBezTo>
                    <a:pt x="368427" y="1645920"/>
                    <a:pt x="0" y="1277493"/>
                    <a:pt x="0" y="822960"/>
                  </a:cubicBezTo>
                  <a:close/>
                </a:path>
              </a:pathLst>
            </a:custGeom>
            <a:solidFill>
              <a:srgbClr val="C87D0E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960120" y="960120"/>
            <a:ext cx="1234440" cy="1234440"/>
            <a:chOff x="0" y="0"/>
            <a:chExt cx="1645920" cy="164592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645920" cy="1645920"/>
            </a:xfrm>
            <a:custGeom>
              <a:avLst/>
              <a:gdLst/>
              <a:ahLst/>
              <a:cxnLst/>
              <a:rect r="r" b="b" t="t" l="l"/>
              <a:pathLst>
                <a:path h="1645920" w="1645920">
                  <a:moveTo>
                    <a:pt x="0" y="0"/>
                  </a:moveTo>
                  <a:lnTo>
                    <a:pt x="1645920" y="0"/>
                  </a:lnTo>
                  <a:lnTo>
                    <a:pt x="1645920" y="1645920"/>
                  </a:lnTo>
                  <a:lnTo>
                    <a:pt x="0" y="16459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-9525"/>
              <a:ext cx="1645920" cy="16554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5508"/>
                </a:lnSpc>
              </a:pPr>
              <a:r>
                <a:rPr lang="en-US" b="true" sz="4590">
                  <a:solidFill>
                    <a:srgbClr val="FFFFF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2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960120" y="2537460"/>
            <a:ext cx="4663440" cy="480060"/>
            <a:chOff x="0" y="0"/>
            <a:chExt cx="6217920" cy="64008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6217920" cy="640080"/>
            </a:xfrm>
            <a:custGeom>
              <a:avLst/>
              <a:gdLst/>
              <a:ahLst/>
              <a:cxnLst/>
              <a:rect r="r" b="b" t="t" l="l"/>
              <a:pathLst>
                <a:path h="640080" w="6217920">
                  <a:moveTo>
                    <a:pt x="0" y="0"/>
                  </a:moveTo>
                  <a:lnTo>
                    <a:pt x="6217920" y="0"/>
                  </a:lnTo>
                  <a:lnTo>
                    <a:pt x="621792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39283" r="0" b="-139283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6217920" cy="6781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b="true" sz="1800">
                  <a:solidFill>
                    <a:srgbClr val="E8B15C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GESTOR + IA REAL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960120" y="3017520"/>
            <a:ext cx="4800600" cy="2057400"/>
            <a:chOff x="0" y="0"/>
            <a:chExt cx="6400800" cy="27432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6400800" cy="2743200"/>
            </a:xfrm>
            <a:custGeom>
              <a:avLst/>
              <a:gdLst/>
              <a:ahLst/>
              <a:cxnLst/>
              <a:rect r="r" b="b" t="t" l="l"/>
              <a:pathLst>
                <a:path h="2743200" w="6400800">
                  <a:moveTo>
                    <a:pt x="0" y="0"/>
                  </a:moveTo>
                  <a:lnTo>
                    <a:pt x="6400800" y="0"/>
                  </a:lnTo>
                  <a:lnTo>
                    <a:pt x="6400800" y="2743200"/>
                  </a:lnTo>
                  <a:lnTo>
                    <a:pt x="0" y="27432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4987" t="0" r="-4987" b="0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9525"/>
              <a:ext cx="6400800" cy="27527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860"/>
                </a:lnSpc>
              </a:pPr>
              <a:r>
                <a:rPr lang="en-US" b="true" sz="4050">
                  <a:solidFill>
                    <a:srgbClr val="FFFFF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Prioriza e pontua com IA</a:t>
              </a:r>
            </a:p>
          </p:txBody>
        </p:sp>
      </p:grpSp>
      <p:sp>
        <p:nvSpPr>
          <p:cNvPr name="TextBox 15" id="15"/>
          <p:cNvSpPr txBox="true"/>
          <p:nvPr/>
        </p:nvSpPr>
        <p:spPr>
          <a:xfrm rot="0">
            <a:off x="960120" y="5301615"/>
            <a:ext cx="4800600" cy="37509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0"/>
              </a:lnSpc>
            </a:pPr>
            <a:r>
              <a:rPr lang="en-US" sz="1950">
                <a:solidFill>
                  <a:srgbClr val="C7CEDD"/>
                </a:solidFill>
                <a:latin typeface="Calibri (MS)"/>
                <a:ea typeface="Calibri (MS)"/>
                <a:cs typeface="Calibri (MS)"/>
                <a:sym typeface="Calibri (MS)"/>
              </a:rPr>
              <a:t>O gestor abre a fila de pendentes e, em vez de avaliar tudo manualmente, pede a opinião da IA — que analisa a ideia inteira e devolve uma nota fundamentada em segundos.</a:t>
            </a:r>
          </a:p>
        </p:txBody>
      </p:sp>
      <p:grpSp>
        <p:nvGrpSpPr>
          <p:cNvPr name="Group 16" id="16"/>
          <p:cNvGrpSpPr/>
          <p:nvPr/>
        </p:nvGrpSpPr>
        <p:grpSpPr>
          <a:xfrm rot="0">
            <a:off x="6858000" y="891540"/>
            <a:ext cx="10602468" cy="1234440"/>
            <a:chOff x="0" y="0"/>
            <a:chExt cx="14136624" cy="164592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4136624" cy="1645920"/>
            </a:xfrm>
            <a:custGeom>
              <a:avLst/>
              <a:gdLst/>
              <a:ahLst/>
              <a:cxnLst/>
              <a:rect r="r" b="b" t="t" l="l"/>
              <a:pathLst>
                <a:path h="1645920" w="14136624">
                  <a:moveTo>
                    <a:pt x="0" y="0"/>
                  </a:moveTo>
                  <a:lnTo>
                    <a:pt x="14136624" y="0"/>
                  </a:lnTo>
                  <a:lnTo>
                    <a:pt x="14136624" y="1645920"/>
                  </a:lnTo>
                  <a:lnTo>
                    <a:pt x="0" y="16459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17354" r="0" b="-117354"/>
              </a:stretch>
            </a:blip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9525"/>
              <a:ext cx="14136624" cy="16554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960"/>
                </a:lnSpc>
              </a:pPr>
              <a:r>
                <a:rPr lang="en-US" b="true" sz="3300">
                  <a:solidFill>
                    <a:srgbClr val="1A2540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Google Gemini entra na decisão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6858000" y="2331720"/>
            <a:ext cx="10602468" cy="1303020"/>
            <a:chOff x="0" y="0"/>
            <a:chExt cx="14136624" cy="173736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4136624" cy="1737360"/>
            </a:xfrm>
            <a:custGeom>
              <a:avLst/>
              <a:gdLst/>
              <a:ahLst/>
              <a:cxnLst/>
              <a:rect r="r" b="b" t="t" l="l"/>
              <a:pathLst>
                <a:path h="1737360" w="14136624">
                  <a:moveTo>
                    <a:pt x="0" y="0"/>
                  </a:moveTo>
                  <a:lnTo>
                    <a:pt x="14136624" y="0"/>
                  </a:lnTo>
                  <a:lnTo>
                    <a:pt x="14136624" y="1737360"/>
                  </a:lnTo>
                  <a:lnTo>
                    <a:pt x="0" y="1737360"/>
                  </a:lnTo>
                  <a:close/>
                </a:path>
              </a:pathLst>
            </a:custGeom>
            <a:solidFill>
              <a:srgbClr val="F2F2F0"/>
            </a:solidFill>
          </p:spPr>
        </p:sp>
      </p:grpSp>
      <p:grpSp>
        <p:nvGrpSpPr>
          <p:cNvPr name="Group 21" id="21"/>
          <p:cNvGrpSpPr/>
          <p:nvPr/>
        </p:nvGrpSpPr>
        <p:grpSpPr>
          <a:xfrm rot="0">
            <a:off x="7200900" y="2468880"/>
            <a:ext cx="9916668" cy="438912"/>
            <a:chOff x="0" y="0"/>
            <a:chExt cx="13222224" cy="585216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13222224" cy="585216"/>
            </a:xfrm>
            <a:custGeom>
              <a:avLst/>
              <a:gdLst/>
              <a:ahLst/>
              <a:cxnLst/>
              <a:rect r="r" b="b" t="t" l="l"/>
              <a:pathLst>
                <a:path h="585216" w="13222224">
                  <a:moveTo>
                    <a:pt x="0" y="0"/>
                  </a:moveTo>
                  <a:lnTo>
                    <a:pt x="13222224" y="0"/>
                  </a:lnTo>
                  <a:lnTo>
                    <a:pt x="13222224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90240" r="0" b="-390240"/>
              </a:stretch>
            </a:blip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38100"/>
              <a:ext cx="13222224" cy="6233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70"/>
                </a:lnSpc>
              </a:pPr>
              <a:r>
                <a:rPr lang="en-US" b="true" sz="1725">
                  <a:solidFill>
                    <a:srgbClr val="C87D0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 IA ANALISA</a:t>
              </a:r>
            </a:p>
          </p:txBody>
        </p:sp>
      </p:grpSp>
      <p:sp>
        <p:nvSpPr>
          <p:cNvPr name="TextBox 24" id="24"/>
          <p:cNvSpPr txBox="true"/>
          <p:nvPr/>
        </p:nvSpPr>
        <p:spPr>
          <a:xfrm rot="0">
            <a:off x="7200900" y="2842260"/>
            <a:ext cx="9916668" cy="723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0"/>
              </a:lnSpc>
            </a:pPr>
            <a:r>
              <a:rPr lang="en-US" sz="2025">
                <a:solidFill>
                  <a:srgbClr val="1A2540"/>
                </a:solidFill>
                <a:latin typeface="Calibri (MS)"/>
                <a:ea typeface="Calibri (MS)"/>
                <a:cs typeface="Calibri (MS)"/>
                <a:sym typeface="Calibri (MS)"/>
              </a:rPr>
              <a:t>Título, categoria, descrição, problema, benefícios e recursos</a:t>
            </a:r>
          </a:p>
        </p:txBody>
      </p:sp>
      <p:grpSp>
        <p:nvGrpSpPr>
          <p:cNvPr name="Group 25" id="25"/>
          <p:cNvGrpSpPr/>
          <p:nvPr/>
        </p:nvGrpSpPr>
        <p:grpSpPr>
          <a:xfrm rot="0">
            <a:off x="6858000" y="3840480"/>
            <a:ext cx="10602468" cy="1303020"/>
            <a:chOff x="0" y="0"/>
            <a:chExt cx="14136624" cy="173736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14136624" cy="1737360"/>
            </a:xfrm>
            <a:custGeom>
              <a:avLst/>
              <a:gdLst/>
              <a:ahLst/>
              <a:cxnLst/>
              <a:rect r="r" b="b" t="t" l="l"/>
              <a:pathLst>
                <a:path h="1737360" w="14136624">
                  <a:moveTo>
                    <a:pt x="0" y="0"/>
                  </a:moveTo>
                  <a:lnTo>
                    <a:pt x="14136624" y="0"/>
                  </a:lnTo>
                  <a:lnTo>
                    <a:pt x="14136624" y="1737360"/>
                  </a:lnTo>
                  <a:lnTo>
                    <a:pt x="0" y="1737360"/>
                  </a:lnTo>
                  <a:close/>
                </a:path>
              </a:pathLst>
            </a:custGeom>
            <a:solidFill>
              <a:srgbClr val="F2F2F0"/>
            </a:solidFill>
          </p:spPr>
        </p:sp>
      </p:grpSp>
      <p:grpSp>
        <p:nvGrpSpPr>
          <p:cNvPr name="Group 27" id="27"/>
          <p:cNvGrpSpPr/>
          <p:nvPr/>
        </p:nvGrpSpPr>
        <p:grpSpPr>
          <a:xfrm rot="0">
            <a:off x="7200900" y="3977640"/>
            <a:ext cx="9916668" cy="438912"/>
            <a:chOff x="0" y="0"/>
            <a:chExt cx="13222224" cy="585216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13222224" cy="585216"/>
            </a:xfrm>
            <a:custGeom>
              <a:avLst/>
              <a:gdLst/>
              <a:ahLst/>
              <a:cxnLst/>
              <a:rect r="r" b="b" t="t" l="l"/>
              <a:pathLst>
                <a:path h="585216" w="13222224">
                  <a:moveTo>
                    <a:pt x="0" y="0"/>
                  </a:moveTo>
                  <a:lnTo>
                    <a:pt x="13222224" y="0"/>
                  </a:lnTo>
                  <a:lnTo>
                    <a:pt x="13222224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90240" r="0" b="-390240"/>
              </a:stretch>
            </a:blipFill>
          </p:spPr>
        </p:sp>
        <p:sp>
          <p:nvSpPr>
            <p:cNvPr name="TextBox 29" id="29"/>
            <p:cNvSpPr txBox="true"/>
            <p:nvPr/>
          </p:nvSpPr>
          <p:spPr>
            <a:xfrm>
              <a:off x="0" y="-38100"/>
              <a:ext cx="13222224" cy="6233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70"/>
                </a:lnSpc>
              </a:pPr>
              <a:r>
                <a:rPr lang="en-US" b="true" sz="1725">
                  <a:solidFill>
                    <a:srgbClr val="C87D0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DEVOLVE</a:t>
              </a:r>
            </a:p>
          </p:txBody>
        </p:sp>
      </p:grpSp>
      <p:sp>
        <p:nvSpPr>
          <p:cNvPr name="TextBox 30" id="30"/>
          <p:cNvSpPr txBox="true"/>
          <p:nvPr/>
        </p:nvSpPr>
        <p:spPr>
          <a:xfrm rot="0">
            <a:off x="7200900" y="4351020"/>
            <a:ext cx="9916668" cy="723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0"/>
              </a:lnSpc>
            </a:pPr>
            <a:r>
              <a:rPr lang="en-US" sz="2025">
                <a:solidFill>
                  <a:srgbClr val="1A2540"/>
                </a:solidFill>
                <a:latin typeface="Calibri (MS)"/>
                <a:ea typeface="Calibri (MS)"/>
                <a:cs typeface="Calibri (MS)"/>
                <a:sym typeface="Calibri (MS)"/>
              </a:rPr>
              <a:t>Nota de 0 a 100 (aiScore) + justificativa em texto (aiJustification)</a:t>
            </a:r>
          </a:p>
        </p:txBody>
      </p:sp>
      <p:grpSp>
        <p:nvGrpSpPr>
          <p:cNvPr name="Group 31" id="31"/>
          <p:cNvGrpSpPr/>
          <p:nvPr/>
        </p:nvGrpSpPr>
        <p:grpSpPr>
          <a:xfrm rot="0">
            <a:off x="6858000" y="5349240"/>
            <a:ext cx="10602468" cy="1303020"/>
            <a:chOff x="0" y="0"/>
            <a:chExt cx="14136624" cy="173736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14136624" cy="1737360"/>
            </a:xfrm>
            <a:custGeom>
              <a:avLst/>
              <a:gdLst/>
              <a:ahLst/>
              <a:cxnLst/>
              <a:rect r="r" b="b" t="t" l="l"/>
              <a:pathLst>
                <a:path h="1737360" w="14136624">
                  <a:moveTo>
                    <a:pt x="0" y="0"/>
                  </a:moveTo>
                  <a:lnTo>
                    <a:pt x="14136624" y="0"/>
                  </a:lnTo>
                  <a:lnTo>
                    <a:pt x="14136624" y="1737360"/>
                  </a:lnTo>
                  <a:lnTo>
                    <a:pt x="0" y="1737360"/>
                  </a:lnTo>
                  <a:close/>
                </a:path>
              </a:pathLst>
            </a:custGeom>
            <a:solidFill>
              <a:srgbClr val="F2F2F0"/>
            </a:solidFill>
          </p:spPr>
        </p:sp>
      </p:grpSp>
      <p:grpSp>
        <p:nvGrpSpPr>
          <p:cNvPr name="Group 33" id="33"/>
          <p:cNvGrpSpPr/>
          <p:nvPr/>
        </p:nvGrpSpPr>
        <p:grpSpPr>
          <a:xfrm rot="0">
            <a:off x="7200900" y="5486400"/>
            <a:ext cx="9916668" cy="438912"/>
            <a:chOff x="0" y="0"/>
            <a:chExt cx="13222224" cy="585216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13222224" cy="585216"/>
            </a:xfrm>
            <a:custGeom>
              <a:avLst/>
              <a:gdLst/>
              <a:ahLst/>
              <a:cxnLst/>
              <a:rect r="r" b="b" t="t" l="l"/>
              <a:pathLst>
                <a:path h="585216" w="13222224">
                  <a:moveTo>
                    <a:pt x="0" y="0"/>
                  </a:moveTo>
                  <a:lnTo>
                    <a:pt x="13222224" y="0"/>
                  </a:lnTo>
                  <a:lnTo>
                    <a:pt x="13222224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90240" r="0" b="-390240"/>
              </a:stretch>
            </a:blipFill>
          </p:spPr>
        </p:sp>
        <p:sp>
          <p:nvSpPr>
            <p:cNvPr name="TextBox 35" id="35"/>
            <p:cNvSpPr txBox="true"/>
            <p:nvPr/>
          </p:nvSpPr>
          <p:spPr>
            <a:xfrm>
              <a:off x="0" y="-38100"/>
              <a:ext cx="13222224" cy="6233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70"/>
                </a:lnSpc>
              </a:pPr>
              <a:r>
                <a:rPr lang="en-US" b="true" sz="1725">
                  <a:solidFill>
                    <a:srgbClr val="C87D0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O GESTOR DECIDE</a:t>
              </a:r>
            </a:p>
          </p:txBody>
        </p:sp>
      </p:grpSp>
      <p:sp>
        <p:nvSpPr>
          <p:cNvPr name="TextBox 36" id="36"/>
          <p:cNvSpPr txBox="true"/>
          <p:nvPr/>
        </p:nvSpPr>
        <p:spPr>
          <a:xfrm rot="0">
            <a:off x="7200900" y="5859780"/>
            <a:ext cx="9916668" cy="723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0"/>
              </a:lnSpc>
            </a:pPr>
            <a:r>
              <a:rPr lang="en-US" sz="2025">
                <a:solidFill>
                  <a:srgbClr val="1A2540"/>
                </a:solidFill>
                <a:latin typeface="Calibri (MS)"/>
                <a:ea typeface="Calibri (MS)"/>
                <a:cs typeface="Calibri (MS)"/>
                <a:sym typeface="Calibri (MS)"/>
              </a:rPr>
              <a:t>Aprova, rejeita ou pede mais informação — a IA orienta, não substitui</a:t>
            </a:r>
          </a:p>
        </p:txBody>
      </p:sp>
      <p:grpSp>
        <p:nvGrpSpPr>
          <p:cNvPr name="Group 37" id="37"/>
          <p:cNvGrpSpPr/>
          <p:nvPr/>
        </p:nvGrpSpPr>
        <p:grpSpPr>
          <a:xfrm rot="0">
            <a:off x="6858000" y="6995160"/>
            <a:ext cx="10602468" cy="754380"/>
            <a:chOff x="0" y="0"/>
            <a:chExt cx="14136624" cy="1005840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14136624" cy="1005840"/>
            </a:xfrm>
            <a:custGeom>
              <a:avLst/>
              <a:gdLst/>
              <a:ahLst/>
              <a:cxnLst/>
              <a:rect r="r" b="b" t="t" l="l"/>
              <a:pathLst>
                <a:path h="1005840" w="14136624">
                  <a:moveTo>
                    <a:pt x="0" y="0"/>
                  </a:moveTo>
                  <a:lnTo>
                    <a:pt x="14136624" y="0"/>
                  </a:lnTo>
                  <a:lnTo>
                    <a:pt x="14136624" y="1005840"/>
                  </a:lnTo>
                  <a:lnTo>
                    <a:pt x="0" y="1005840"/>
                  </a:lnTo>
                  <a:close/>
                </a:path>
              </a:pathLst>
            </a:custGeom>
            <a:solidFill>
              <a:srgbClr val="1A2540"/>
            </a:solidFill>
          </p:spPr>
        </p:sp>
      </p:grpSp>
      <p:grpSp>
        <p:nvGrpSpPr>
          <p:cNvPr name="Group 39" id="39"/>
          <p:cNvGrpSpPr/>
          <p:nvPr/>
        </p:nvGrpSpPr>
        <p:grpSpPr>
          <a:xfrm rot="0">
            <a:off x="7132320" y="6995160"/>
            <a:ext cx="10053828" cy="754380"/>
            <a:chOff x="0" y="0"/>
            <a:chExt cx="13405104" cy="1005840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13405104" cy="1005840"/>
            </a:xfrm>
            <a:custGeom>
              <a:avLst/>
              <a:gdLst/>
              <a:ahLst/>
              <a:cxnLst/>
              <a:rect r="r" b="b" t="t" l="l"/>
              <a:pathLst>
                <a:path h="1005840" w="13405104">
                  <a:moveTo>
                    <a:pt x="0" y="0"/>
                  </a:moveTo>
                  <a:lnTo>
                    <a:pt x="13405104" y="0"/>
                  </a:lnTo>
                  <a:lnTo>
                    <a:pt x="13405104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09682" r="0" b="-209682"/>
              </a:stretch>
            </a:blipFill>
          </p:spPr>
        </p:sp>
        <p:sp>
          <p:nvSpPr>
            <p:cNvPr name="TextBox 41" id="41"/>
            <p:cNvSpPr txBox="true"/>
            <p:nvPr/>
          </p:nvSpPr>
          <p:spPr>
            <a:xfrm>
              <a:off x="0" y="-9525"/>
              <a:ext cx="13405104" cy="10153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E8B15C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POST /api/v1/ideas/{id}/ai-score · Google Gemini API</a:t>
              </a:r>
            </a:p>
          </p:txBody>
        </p:sp>
      </p:grpSp>
      <p:grpSp>
        <p:nvGrpSpPr>
          <p:cNvPr name="Group 42" id="42"/>
          <p:cNvGrpSpPr/>
          <p:nvPr/>
        </p:nvGrpSpPr>
        <p:grpSpPr>
          <a:xfrm rot="0">
            <a:off x="17323308" y="9669780"/>
            <a:ext cx="685800" cy="411480"/>
            <a:chOff x="0" y="0"/>
            <a:chExt cx="914400" cy="548640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914400" cy="548640"/>
            </a:xfrm>
            <a:custGeom>
              <a:avLst/>
              <a:gdLst/>
              <a:ahLst/>
              <a:cxnLst/>
              <a:rect r="r" b="b" t="t" l="l"/>
              <a:pathLst>
                <a:path h="54864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26982" t="0" r="-26982" b="0"/>
              </a:stretch>
            </a:blipFill>
          </p:spPr>
        </p:sp>
        <p:sp>
          <p:nvSpPr>
            <p:cNvPr name="TextBox 44" id="44"/>
            <p:cNvSpPr txBox="true"/>
            <p:nvPr/>
          </p:nvSpPr>
          <p:spPr>
            <a:xfrm>
              <a:off x="0" y="-38100"/>
              <a:ext cx="91440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800"/>
                </a:lnSpc>
              </a:pPr>
              <a:r>
                <a:rPr lang="en-US" sz="1500">
                  <a:solidFill>
                    <a:srgbClr val="5B6472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06</a:t>
              </a:r>
            </a:p>
          </p:txBody>
        </p:sp>
      </p:grp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6309360" cy="10287000"/>
            <a:chOff x="0" y="0"/>
            <a:chExt cx="841248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41248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8412480">
                  <a:moveTo>
                    <a:pt x="0" y="0"/>
                  </a:moveTo>
                  <a:lnTo>
                    <a:pt x="8412480" y="0"/>
                  </a:lnTo>
                  <a:lnTo>
                    <a:pt x="841248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1A2540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960120" y="960120"/>
            <a:ext cx="1234440" cy="1234440"/>
            <a:chOff x="0" y="0"/>
            <a:chExt cx="1645920" cy="164592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645920" cy="1645920"/>
            </a:xfrm>
            <a:custGeom>
              <a:avLst/>
              <a:gdLst/>
              <a:ahLst/>
              <a:cxnLst/>
              <a:rect r="r" b="b" t="t" l="l"/>
              <a:pathLst>
                <a:path h="1645920" w="1645920">
                  <a:moveTo>
                    <a:pt x="0" y="822960"/>
                  </a:moveTo>
                  <a:cubicBezTo>
                    <a:pt x="0" y="368427"/>
                    <a:pt x="368427" y="0"/>
                    <a:pt x="822960" y="0"/>
                  </a:cubicBezTo>
                  <a:cubicBezTo>
                    <a:pt x="1277493" y="0"/>
                    <a:pt x="1645920" y="368427"/>
                    <a:pt x="1645920" y="822960"/>
                  </a:cubicBezTo>
                  <a:cubicBezTo>
                    <a:pt x="1645920" y="1277493"/>
                    <a:pt x="1277493" y="1645920"/>
                    <a:pt x="822960" y="1645920"/>
                  </a:cubicBezTo>
                  <a:cubicBezTo>
                    <a:pt x="368427" y="1645920"/>
                    <a:pt x="0" y="1277493"/>
                    <a:pt x="0" y="822960"/>
                  </a:cubicBezTo>
                  <a:close/>
                </a:path>
              </a:pathLst>
            </a:custGeom>
            <a:solidFill>
              <a:srgbClr val="C87D0E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960120" y="960120"/>
            <a:ext cx="1234440" cy="1234440"/>
            <a:chOff x="0" y="0"/>
            <a:chExt cx="1645920" cy="164592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645920" cy="1645920"/>
            </a:xfrm>
            <a:custGeom>
              <a:avLst/>
              <a:gdLst/>
              <a:ahLst/>
              <a:cxnLst/>
              <a:rect r="r" b="b" t="t" l="l"/>
              <a:pathLst>
                <a:path h="1645920" w="1645920">
                  <a:moveTo>
                    <a:pt x="0" y="0"/>
                  </a:moveTo>
                  <a:lnTo>
                    <a:pt x="1645920" y="0"/>
                  </a:lnTo>
                  <a:lnTo>
                    <a:pt x="1645920" y="1645920"/>
                  </a:lnTo>
                  <a:lnTo>
                    <a:pt x="0" y="16459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-9525"/>
              <a:ext cx="1645920" cy="16554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5508"/>
                </a:lnSpc>
              </a:pPr>
              <a:r>
                <a:rPr lang="en-US" b="true" sz="4590">
                  <a:solidFill>
                    <a:srgbClr val="FFFFF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3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960120" y="2537460"/>
            <a:ext cx="4663440" cy="480060"/>
            <a:chOff x="0" y="0"/>
            <a:chExt cx="6217920" cy="64008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6217920" cy="640080"/>
            </a:xfrm>
            <a:custGeom>
              <a:avLst/>
              <a:gdLst/>
              <a:ahLst/>
              <a:cxnLst/>
              <a:rect r="r" b="b" t="t" l="l"/>
              <a:pathLst>
                <a:path h="640080" w="6217920">
                  <a:moveTo>
                    <a:pt x="0" y="0"/>
                  </a:moveTo>
                  <a:lnTo>
                    <a:pt x="6217920" y="0"/>
                  </a:lnTo>
                  <a:lnTo>
                    <a:pt x="621792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39283" r="0" b="-139283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6217920" cy="6781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b="true" sz="1800">
                  <a:solidFill>
                    <a:srgbClr val="E8B15C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GESTOR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960120" y="3017520"/>
            <a:ext cx="4800600" cy="2057400"/>
            <a:chOff x="0" y="0"/>
            <a:chExt cx="6400800" cy="27432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6400800" cy="2743200"/>
            </a:xfrm>
            <a:custGeom>
              <a:avLst/>
              <a:gdLst/>
              <a:ahLst/>
              <a:cxnLst/>
              <a:rect r="r" b="b" t="t" l="l"/>
              <a:pathLst>
                <a:path h="2743200" w="6400800">
                  <a:moveTo>
                    <a:pt x="0" y="0"/>
                  </a:moveTo>
                  <a:lnTo>
                    <a:pt x="6400800" y="0"/>
                  </a:lnTo>
                  <a:lnTo>
                    <a:pt x="6400800" y="2743200"/>
                  </a:lnTo>
                  <a:lnTo>
                    <a:pt x="0" y="27432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4987" t="0" r="-4987" b="0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9525"/>
              <a:ext cx="6400800" cy="27527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860"/>
                </a:lnSpc>
              </a:pPr>
              <a:r>
                <a:rPr lang="en-US" b="true" sz="4050">
                  <a:solidFill>
                    <a:srgbClr val="FFFFF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A ideia vira projeto</a:t>
              </a:r>
            </a:p>
          </p:txBody>
        </p:sp>
      </p:grpSp>
      <p:sp>
        <p:nvSpPr>
          <p:cNvPr name="TextBox 15" id="15"/>
          <p:cNvSpPr txBox="true"/>
          <p:nvPr/>
        </p:nvSpPr>
        <p:spPr>
          <a:xfrm rot="0">
            <a:off x="960120" y="5301615"/>
            <a:ext cx="4800600" cy="37509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0"/>
              </a:lnSpc>
            </a:pPr>
            <a:r>
              <a:rPr lang="en-US" sz="1950">
                <a:solidFill>
                  <a:srgbClr val="C7CEDD"/>
                </a:solidFill>
                <a:latin typeface="Calibri (MS)"/>
                <a:ea typeface="Calibri (MS)"/>
                <a:cs typeface="Calibri (MS)"/>
                <a:sym typeface="Calibri (MS)"/>
              </a:rPr>
              <a:t>Ideia aprovada com nota alta pela IA e pelo gestor. Um clique transforma a ideia em uma iniciativa real, já conectada à orientação estratégica vigente da liderança.</a:t>
            </a:r>
          </a:p>
        </p:txBody>
      </p:sp>
      <p:grpSp>
        <p:nvGrpSpPr>
          <p:cNvPr name="Group 16" id="16"/>
          <p:cNvGrpSpPr/>
          <p:nvPr/>
        </p:nvGrpSpPr>
        <p:grpSpPr>
          <a:xfrm rot="0">
            <a:off x="6858000" y="891540"/>
            <a:ext cx="10602468" cy="1234440"/>
            <a:chOff x="0" y="0"/>
            <a:chExt cx="14136624" cy="164592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4136624" cy="1645920"/>
            </a:xfrm>
            <a:custGeom>
              <a:avLst/>
              <a:gdLst/>
              <a:ahLst/>
              <a:cxnLst/>
              <a:rect r="r" b="b" t="t" l="l"/>
              <a:pathLst>
                <a:path h="1645920" w="14136624">
                  <a:moveTo>
                    <a:pt x="0" y="0"/>
                  </a:moveTo>
                  <a:lnTo>
                    <a:pt x="14136624" y="0"/>
                  </a:lnTo>
                  <a:lnTo>
                    <a:pt x="14136624" y="1645920"/>
                  </a:lnTo>
                  <a:lnTo>
                    <a:pt x="0" y="16459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17354" r="0" b="-117354"/>
              </a:stretch>
            </a:blip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9525"/>
              <a:ext cx="14136624" cy="16554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960"/>
                </a:lnSpc>
              </a:pPr>
              <a:r>
                <a:rPr lang="en-US" b="true" sz="3300">
                  <a:solidFill>
                    <a:srgbClr val="1A2540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Do papel à estrutura de um projeto real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6858000" y="2331720"/>
            <a:ext cx="10602468" cy="1303020"/>
            <a:chOff x="0" y="0"/>
            <a:chExt cx="14136624" cy="173736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4136624" cy="1737360"/>
            </a:xfrm>
            <a:custGeom>
              <a:avLst/>
              <a:gdLst/>
              <a:ahLst/>
              <a:cxnLst/>
              <a:rect r="r" b="b" t="t" l="l"/>
              <a:pathLst>
                <a:path h="1737360" w="14136624">
                  <a:moveTo>
                    <a:pt x="0" y="0"/>
                  </a:moveTo>
                  <a:lnTo>
                    <a:pt x="14136624" y="0"/>
                  </a:lnTo>
                  <a:lnTo>
                    <a:pt x="14136624" y="1737360"/>
                  </a:lnTo>
                  <a:lnTo>
                    <a:pt x="0" y="1737360"/>
                  </a:lnTo>
                  <a:close/>
                </a:path>
              </a:pathLst>
            </a:custGeom>
            <a:solidFill>
              <a:srgbClr val="F2F2F0"/>
            </a:solidFill>
          </p:spPr>
        </p:sp>
      </p:grpSp>
      <p:grpSp>
        <p:nvGrpSpPr>
          <p:cNvPr name="Group 21" id="21"/>
          <p:cNvGrpSpPr/>
          <p:nvPr/>
        </p:nvGrpSpPr>
        <p:grpSpPr>
          <a:xfrm rot="0">
            <a:off x="7200900" y="2468880"/>
            <a:ext cx="9916668" cy="438912"/>
            <a:chOff x="0" y="0"/>
            <a:chExt cx="13222224" cy="585216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13222224" cy="585216"/>
            </a:xfrm>
            <a:custGeom>
              <a:avLst/>
              <a:gdLst/>
              <a:ahLst/>
              <a:cxnLst/>
              <a:rect r="r" b="b" t="t" l="l"/>
              <a:pathLst>
                <a:path h="585216" w="13222224">
                  <a:moveTo>
                    <a:pt x="0" y="0"/>
                  </a:moveTo>
                  <a:lnTo>
                    <a:pt x="13222224" y="0"/>
                  </a:lnTo>
                  <a:lnTo>
                    <a:pt x="13222224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90240" r="0" b="-390240"/>
              </a:stretch>
            </a:blip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38100"/>
              <a:ext cx="13222224" cy="6233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70"/>
                </a:lnSpc>
              </a:pPr>
              <a:r>
                <a:rPr lang="en-US" b="true" sz="1725">
                  <a:solidFill>
                    <a:srgbClr val="C87D0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VÍNCULO ESTRATÉGICO</a:t>
              </a:r>
            </a:p>
          </p:txBody>
        </p:sp>
      </p:grpSp>
      <p:sp>
        <p:nvSpPr>
          <p:cNvPr name="TextBox 24" id="24"/>
          <p:cNvSpPr txBox="true"/>
          <p:nvPr/>
        </p:nvSpPr>
        <p:spPr>
          <a:xfrm rot="0">
            <a:off x="7200900" y="2842260"/>
            <a:ext cx="9916668" cy="723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0"/>
              </a:lnSpc>
            </a:pPr>
            <a:r>
              <a:rPr lang="en-US" sz="2025">
                <a:solidFill>
                  <a:srgbClr val="1A2540"/>
                </a:solidFill>
                <a:latin typeface="Calibri (MS)"/>
                <a:ea typeface="Calibri (MS)"/>
                <a:cs typeface="Calibri (MS)"/>
                <a:sym typeface="Calibri (MS)"/>
              </a:rPr>
              <a:t>Projeto associado a uma orientação da liderança (ex: Eficiência Operacional 2026)</a:t>
            </a:r>
          </a:p>
        </p:txBody>
      </p:sp>
      <p:grpSp>
        <p:nvGrpSpPr>
          <p:cNvPr name="Group 25" id="25"/>
          <p:cNvGrpSpPr/>
          <p:nvPr/>
        </p:nvGrpSpPr>
        <p:grpSpPr>
          <a:xfrm rot="0">
            <a:off x="6858000" y="3840480"/>
            <a:ext cx="10602468" cy="1303020"/>
            <a:chOff x="0" y="0"/>
            <a:chExt cx="14136624" cy="173736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14136624" cy="1737360"/>
            </a:xfrm>
            <a:custGeom>
              <a:avLst/>
              <a:gdLst/>
              <a:ahLst/>
              <a:cxnLst/>
              <a:rect r="r" b="b" t="t" l="l"/>
              <a:pathLst>
                <a:path h="1737360" w="14136624">
                  <a:moveTo>
                    <a:pt x="0" y="0"/>
                  </a:moveTo>
                  <a:lnTo>
                    <a:pt x="14136624" y="0"/>
                  </a:lnTo>
                  <a:lnTo>
                    <a:pt x="14136624" y="1737360"/>
                  </a:lnTo>
                  <a:lnTo>
                    <a:pt x="0" y="1737360"/>
                  </a:lnTo>
                  <a:close/>
                </a:path>
              </a:pathLst>
            </a:custGeom>
            <a:solidFill>
              <a:srgbClr val="F2F2F0"/>
            </a:solidFill>
          </p:spPr>
        </p:sp>
      </p:grpSp>
      <p:grpSp>
        <p:nvGrpSpPr>
          <p:cNvPr name="Group 27" id="27"/>
          <p:cNvGrpSpPr/>
          <p:nvPr/>
        </p:nvGrpSpPr>
        <p:grpSpPr>
          <a:xfrm rot="0">
            <a:off x="7200900" y="3977640"/>
            <a:ext cx="9916668" cy="438912"/>
            <a:chOff x="0" y="0"/>
            <a:chExt cx="13222224" cy="585216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13222224" cy="585216"/>
            </a:xfrm>
            <a:custGeom>
              <a:avLst/>
              <a:gdLst/>
              <a:ahLst/>
              <a:cxnLst/>
              <a:rect r="r" b="b" t="t" l="l"/>
              <a:pathLst>
                <a:path h="585216" w="13222224">
                  <a:moveTo>
                    <a:pt x="0" y="0"/>
                  </a:moveTo>
                  <a:lnTo>
                    <a:pt x="13222224" y="0"/>
                  </a:lnTo>
                  <a:lnTo>
                    <a:pt x="13222224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90240" r="0" b="-390240"/>
              </a:stretch>
            </a:blipFill>
          </p:spPr>
        </p:sp>
        <p:sp>
          <p:nvSpPr>
            <p:cNvPr name="TextBox 29" id="29"/>
            <p:cNvSpPr txBox="true"/>
            <p:nvPr/>
          </p:nvSpPr>
          <p:spPr>
            <a:xfrm>
              <a:off x="0" y="-38100"/>
              <a:ext cx="13222224" cy="6233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70"/>
                </a:lnSpc>
              </a:pPr>
              <a:r>
                <a:rPr lang="en-US" b="true" sz="1725">
                  <a:solidFill>
                    <a:srgbClr val="C87D0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PLANEJAMENTO</a:t>
              </a:r>
            </a:p>
          </p:txBody>
        </p:sp>
      </p:grpSp>
      <p:sp>
        <p:nvSpPr>
          <p:cNvPr name="TextBox 30" id="30"/>
          <p:cNvSpPr txBox="true"/>
          <p:nvPr/>
        </p:nvSpPr>
        <p:spPr>
          <a:xfrm rot="0">
            <a:off x="7200900" y="4351020"/>
            <a:ext cx="9916668" cy="723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0"/>
              </a:lnSpc>
            </a:pPr>
            <a:r>
              <a:rPr lang="en-US" sz="2025">
                <a:solidFill>
                  <a:srgbClr val="1A2540"/>
                </a:solidFill>
                <a:latin typeface="Calibri (MS)"/>
                <a:ea typeface="Calibri (MS)"/>
                <a:cs typeface="Calibri (MS)"/>
                <a:sym typeface="Calibri (MS)"/>
              </a:rPr>
              <a:t>Sponsor, marcos iniciais, equipe, investimento e ROI previsto</a:t>
            </a:r>
          </a:p>
        </p:txBody>
      </p:sp>
      <p:grpSp>
        <p:nvGrpSpPr>
          <p:cNvPr name="Group 31" id="31"/>
          <p:cNvGrpSpPr/>
          <p:nvPr/>
        </p:nvGrpSpPr>
        <p:grpSpPr>
          <a:xfrm rot="0">
            <a:off x="6858000" y="5349240"/>
            <a:ext cx="10602468" cy="1303020"/>
            <a:chOff x="0" y="0"/>
            <a:chExt cx="14136624" cy="173736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14136624" cy="1737360"/>
            </a:xfrm>
            <a:custGeom>
              <a:avLst/>
              <a:gdLst/>
              <a:ahLst/>
              <a:cxnLst/>
              <a:rect r="r" b="b" t="t" l="l"/>
              <a:pathLst>
                <a:path h="1737360" w="14136624">
                  <a:moveTo>
                    <a:pt x="0" y="0"/>
                  </a:moveTo>
                  <a:lnTo>
                    <a:pt x="14136624" y="0"/>
                  </a:lnTo>
                  <a:lnTo>
                    <a:pt x="14136624" y="1737360"/>
                  </a:lnTo>
                  <a:lnTo>
                    <a:pt x="0" y="1737360"/>
                  </a:lnTo>
                  <a:close/>
                </a:path>
              </a:pathLst>
            </a:custGeom>
            <a:solidFill>
              <a:srgbClr val="F2F2F0"/>
            </a:solidFill>
          </p:spPr>
        </p:sp>
      </p:grpSp>
      <p:grpSp>
        <p:nvGrpSpPr>
          <p:cNvPr name="Group 33" id="33"/>
          <p:cNvGrpSpPr/>
          <p:nvPr/>
        </p:nvGrpSpPr>
        <p:grpSpPr>
          <a:xfrm rot="0">
            <a:off x="7200900" y="5486400"/>
            <a:ext cx="9916668" cy="438912"/>
            <a:chOff x="0" y="0"/>
            <a:chExt cx="13222224" cy="585216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13222224" cy="585216"/>
            </a:xfrm>
            <a:custGeom>
              <a:avLst/>
              <a:gdLst/>
              <a:ahLst/>
              <a:cxnLst/>
              <a:rect r="r" b="b" t="t" l="l"/>
              <a:pathLst>
                <a:path h="585216" w="13222224">
                  <a:moveTo>
                    <a:pt x="0" y="0"/>
                  </a:moveTo>
                  <a:lnTo>
                    <a:pt x="13222224" y="0"/>
                  </a:lnTo>
                  <a:lnTo>
                    <a:pt x="13222224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90240" r="0" b="-390240"/>
              </a:stretch>
            </a:blipFill>
          </p:spPr>
        </p:sp>
        <p:sp>
          <p:nvSpPr>
            <p:cNvPr name="TextBox 35" id="35"/>
            <p:cNvSpPr txBox="true"/>
            <p:nvPr/>
          </p:nvSpPr>
          <p:spPr>
            <a:xfrm>
              <a:off x="0" y="-38100"/>
              <a:ext cx="13222224" cy="6233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70"/>
                </a:lnSpc>
              </a:pPr>
              <a:r>
                <a:rPr lang="en-US" b="true" sz="1725">
                  <a:solidFill>
                    <a:srgbClr val="C87D0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STATUS</a:t>
              </a:r>
            </a:p>
          </p:txBody>
        </p:sp>
      </p:grpSp>
      <p:sp>
        <p:nvSpPr>
          <p:cNvPr name="TextBox 36" id="36"/>
          <p:cNvSpPr txBox="true"/>
          <p:nvPr/>
        </p:nvSpPr>
        <p:spPr>
          <a:xfrm rot="0">
            <a:off x="7200900" y="5859780"/>
            <a:ext cx="9916668" cy="723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0"/>
              </a:lnSpc>
            </a:pPr>
            <a:r>
              <a:rPr lang="en-US" sz="2025">
                <a:solidFill>
                  <a:srgbClr val="1A2540"/>
                </a:solidFill>
                <a:latin typeface="Calibri (MS)"/>
                <a:ea typeface="Calibri (MS)"/>
                <a:cs typeface="Calibri (MS)"/>
                <a:sym typeface="Calibri (MS)"/>
              </a:rPr>
              <a:t>A ideia de origem passa a EM_PROJETO</a:t>
            </a:r>
          </a:p>
        </p:txBody>
      </p:sp>
      <p:grpSp>
        <p:nvGrpSpPr>
          <p:cNvPr name="Group 37" id="37"/>
          <p:cNvGrpSpPr/>
          <p:nvPr/>
        </p:nvGrpSpPr>
        <p:grpSpPr>
          <a:xfrm rot="0">
            <a:off x="6858000" y="6995160"/>
            <a:ext cx="10602468" cy="754380"/>
            <a:chOff x="0" y="0"/>
            <a:chExt cx="14136624" cy="1005840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14136624" cy="1005840"/>
            </a:xfrm>
            <a:custGeom>
              <a:avLst/>
              <a:gdLst/>
              <a:ahLst/>
              <a:cxnLst/>
              <a:rect r="r" b="b" t="t" l="l"/>
              <a:pathLst>
                <a:path h="1005840" w="14136624">
                  <a:moveTo>
                    <a:pt x="0" y="0"/>
                  </a:moveTo>
                  <a:lnTo>
                    <a:pt x="14136624" y="0"/>
                  </a:lnTo>
                  <a:lnTo>
                    <a:pt x="14136624" y="1005840"/>
                  </a:lnTo>
                  <a:lnTo>
                    <a:pt x="0" y="1005840"/>
                  </a:lnTo>
                  <a:close/>
                </a:path>
              </a:pathLst>
            </a:custGeom>
            <a:solidFill>
              <a:srgbClr val="1A2540"/>
            </a:solidFill>
          </p:spPr>
        </p:sp>
      </p:grpSp>
      <p:grpSp>
        <p:nvGrpSpPr>
          <p:cNvPr name="Group 39" id="39"/>
          <p:cNvGrpSpPr/>
          <p:nvPr/>
        </p:nvGrpSpPr>
        <p:grpSpPr>
          <a:xfrm rot="0">
            <a:off x="7132320" y="6995160"/>
            <a:ext cx="10053828" cy="754380"/>
            <a:chOff x="0" y="0"/>
            <a:chExt cx="13405104" cy="1005840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13405104" cy="1005840"/>
            </a:xfrm>
            <a:custGeom>
              <a:avLst/>
              <a:gdLst/>
              <a:ahLst/>
              <a:cxnLst/>
              <a:rect r="r" b="b" t="t" l="l"/>
              <a:pathLst>
                <a:path h="1005840" w="13405104">
                  <a:moveTo>
                    <a:pt x="0" y="0"/>
                  </a:moveTo>
                  <a:lnTo>
                    <a:pt x="13405104" y="0"/>
                  </a:lnTo>
                  <a:lnTo>
                    <a:pt x="13405104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09682" r="0" b="-209682"/>
              </a:stretch>
            </a:blipFill>
          </p:spPr>
        </p:sp>
        <p:sp>
          <p:nvSpPr>
            <p:cNvPr name="TextBox 41" id="41"/>
            <p:cNvSpPr txBox="true"/>
            <p:nvPr/>
          </p:nvSpPr>
          <p:spPr>
            <a:xfrm>
              <a:off x="0" y="-9525"/>
              <a:ext cx="13405104" cy="10153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E8B15C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POST /api/v1/projects · PATCH /api/v1/ideas/{id}/review</a:t>
              </a:r>
            </a:p>
          </p:txBody>
        </p:sp>
      </p:grpSp>
      <p:grpSp>
        <p:nvGrpSpPr>
          <p:cNvPr name="Group 42" id="42"/>
          <p:cNvGrpSpPr/>
          <p:nvPr/>
        </p:nvGrpSpPr>
        <p:grpSpPr>
          <a:xfrm rot="0">
            <a:off x="17323308" y="9669780"/>
            <a:ext cx="685800" cy="411480"/>
            <a:chOff x="0" y="0"/>
            <a:chExt cx="914400" cy="548640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914400" cy="548640"/>
            </a:xfrm>
            <a:custGeom>
              <a:avLst/>
              <a:gdLst/>
              <a:ahLst/>
              <a:cxnLst/>
              <a:rect r="r" b="b" t="t" l="l"/>
              <a:pathLst>
                <a:path h="54864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26982" t="0" r="-26982" b="0"/>
              </a:stretch>
            </a:blipFill>
          </p:spPr>
        </p:sp>
        <p:sp>
          <p:nvSpPr>
            <p:cNvPr name="TextBox 44" id="44"/>
            <p:cNvSpPr txBox="true"/>
            <p:nvPr/>
          </p:nvSpPr>
          <p:spPr>
            <a:xfrm>
              <a:off x="0" y="-38100"/>
              <a:ext cx="91440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800"/>
                </a:lnSpc>
              </a:pPr>
              <a:r>
                <a:rPr lang="en-US" sz="1500">
                  <a:solidFill>
                    <a:srgbClr val="5B6472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07</a:t>
              </a:r>
            </a:p>
          </p:txBody>
        </p:sp>
      </p:grp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6309360" cy="10287000"/>
            <a:chOff x="0" y="0"/>
            <a:chExt cx="841248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41248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8412480">
                  <a:moveTo>
                    <a:pt x="0" y="0"/>
                  </a:moveTo>
                  <a:lnTo>
                    <a:pt x="8412480" y="0"/>
                  </a:lnTo>
                  <a:lnTo>
                    <a:pt x="841248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1A2540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960120" y="960120"/>
            <a:ext cx="1234440" cy="1234440"/>
            <a:chOff x="0" y="0"/>
            <a:chExt cx="1645920" cy="164592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645920" cy="1645920"/>
            </a:xfrm>
            <a:custGeom>
              <a:avLst/>
              <a:gdLst/>
              <a:ahLst/>
              <a:cxnLst/>
              <a:rect r="r" b="b" t="t" l="l"/>
              <a:pathLst>
                <a:path h="1645920" w="1645920">
                  <a:moveTo>
                    <a:pt x="0" y="822960"/>
                  </a:moveTo>
                  <a:cubicBezTo>
                    <a:pt x="0" y="368427"/>
                    <a:pt x="368427" y="0"/>
                    <a:pt x="822960" y="0"/>
                  </a:cubicBezTo>
                  <a:cubicBezTo>
                    <a:pt x="1277493" y="0"/>
                    <a:pt x="1645920" y="368427"/>
                    <a:pt x="1645920" y="822960"/>
                  </a:cubicBezTo>
                  <a:cubicBezTo>
                    <a:pt x="1645920" y="1277493"/>
                    <a:pt x="1277493" y="1645920"/>
                    <a:pt x="822960" y="1645920"/>
                  </a:cubicBezTo>
                  <a:cubicBezTo>
                    <a:pt x="368427" y="1645920"/>
                    <a:pt x="0" y="1277493"/>
                    <a:pt x="0" y="822960"/>
                  </a:cubicBezTo>
                  <a:close/>
                </a:path>
              </a:pathLst>
            </a:custGeom>
            <a:solidFill>
              <a:srgbClr val="C87D0E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960120" y="960120"/>
            <a:ext cx="1234440" cy="1234440"/>
            <a:chOff x="0" y="0"/>
            <a:chExt cx="1645920" cy="164592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645920" cy="1645920"/>
            </a:xfrm>
            <a:custGeom>
              <a:avLst/>
              <a:gdLst/>
              <a:ahLst/>
              <a:cxnLst/>
              <a:rect r="r" b="b" t="t" l="l"/>
              <a:pathLst>
                <a:path h="1645920" w="1645920">
                  <a:moveTo>
                    <a:pt x="0" y="0"/>
                  </a:moveTo>
                  <a:lnTo>
                    <a:pt x="1645920" y="0"/>
                  </a:lnTo>
                  <a:lnTo>
                    <a:pt x="1645920" y="1645920"/>
                  </a:lnTo>
                  <a:lnTo>
                    <a:pt x="0" y="16459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-9525"/>
              <a:ext cx="1645920" cy="16554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5508"/>
                </a:lnSpc>
              </a:pPr>
              <a:r>
                <a:rPr lang="en-US" b="true" sz="4590">
                  <a:solidFill>
                    <a:srgbClr val="FFFFF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4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960120" y="2537460"/>
            <a:ext cx="4663440" cy="480060"/>
            <a:chOff x="0" y="0"/>
            <a:chExt cx="6217920" cy="64008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6217920" cy="640080"/>
            </a:xfrm>
            <a:custGeom>
              <a:avLst/>
              <a:gdLst/>
              <a:ahLst/>
              <a:cxnLst/>
              <a:rect r="r" b="b" t="t" l="l"/>
              <a:pathLst>
                <a:path h="640080" w="6217920">
                  <a:moveTo>
                    <a:pt x="0" y="0"/>
                  </a:moveTo>
                  <a:lnTo>
                    <a:pt x="6217920" y="0"/>
                  </a:lnTo>
                  <a:lnTo>
                    <a:pt x="621792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39283" r="0" b="-139283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6217920" cy="6781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b="true" sz="1800">
                  <a:solidFill>
                    <a:srgbClr val="E8B15C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GESTOR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960120" y="3017520"/>
            <a:ext cx="4800600" cy="2057400"/>
            <a:chOff x="0" y="0"/>
            <a:chExt cx="6400800" cy="27432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6400800" cy="2743200"/>
            </a:xfrm>
            <a:custGeom>
              <a:avLst/>
              <a:gdLst/>
              <a:ahLst/>
              <a:cxnLst/>
              <a:rect r="r" b="b" t="t" l="l"/>
              <a:pathLst>
                <a:path h="2743200" w="6400800">
                  <a:moveTo>
                    <a:pt x="0" y="0"/>
                  </a:moveTo>
                  <a:lnTo>
                    <a:pt x="6400800" y="0"/>
                  </a:lnTo>
                  <a:lnTo>
                    <a:pt x="6400800" y="2743200"/>
                  </a:lnTo>
                  <a:lnTo>
                    <a:pt x="0" y="27432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4987" t="0" r="-4987" b="0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9525"/>
              <a:ext cx="6400800" cy="27527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860"/>
                </a:lnSpc>
              </a:pPr>
              <a:r>
                <a:rPr lang="en-US" b="true" sz="4050">
                  <a:solidFill>
                    <a:srgbClr val="FFFFF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Executa e mede</a:t>
              </a:r>
            </a:p>
          </p:txBody>
        </p:sp>
      </p:grpSp>
      <p:sp>
        <p:nvSpPr>
          <p:cNvPr name="TextBox 15" id="15"/>
          <p:cNvSpPr txBox="true"/>
          <p:nvPr/>
        </p:nvSpPr>
        <p:spPr>
          <a:xfrm rot="0">
            <a:off x="960120" y="5301615"/>
            <a:ext cx="4800600" cy="37509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0"/>
              </a:lnSpc>
            </a:pPr>
            <a:r>
              <a:rPr lang="en-US" sz="1950">
                <a:solidFill>
                  <a:srgbClr val="C7CEDD"/>
                </a:solidFill>
                <a:latin typeface="Calibri (MS)"/>
                <a:ea typeface="Calibri (MS)"/>
                <a:cs typeface="Calibri (MS)"/>
                <a:sym typeface="Calibri (MS)"/>
              </a:rPr>
              <a:t>Semanas depois, o checklist digital já está em uso. O gestor volta ao app periodicamente para atualizar o progresso, os marcos concluídos e o retorno financeiro real obtido até aqui.</a:t>
            </a:r>
          </a:p>
        </p:txBody>
      </p:sp>
      <p:grpSp>
        <p:nvGrpSpPr>
          <p:cNvPr name="Group 16" id="16"/>
          <p:cNvGrpSpPr/>
          <p:nvPr/>
        </p:nvGrpSpPr>
        <p:grpSpPr>
          <a:xfrm rot="0">
            <a:off x="6858000" y="891540"/>
            <a:ext cx="10602468" cy="1234440"/>
            <a:chOff x="0" y="0"/>
            <a:chExt cx="14136624" cy="164592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4136624" cy="1645920"/>
            </a:xfrm>
            <a:custGeom>
              <a:avLst/>
              <a:gdLst/>
              <a:ahLst/>
              <a:cxnLst/>
              <a:rect r="r" b="b" t="t" l="l"/>
              <a:pathLst>
                <a:path h="1645920" w="14136624">
                  <a:moveTo>
                    <a:pt x="0" y="0"/>
                  </a:moveTo>
                  <a:lnTo>
                    <a:pt x="14136624" y="0"/>
                  </a:lnTo>
                  <a:lnTo>
                    <a:pt x="14136624" y="1645920"/>
                  </a:lnTo>
                  <a:lnTo>
                    <a:pt x="0" y="16459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17354" r="0" b="-117354"/>
              </a:stretch>
            </a:blip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9525"/>
              <a:ext cx="14136624" cy="16554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960"/>
                </a:lnSpc>
              </a:pPr>
              <a:r>
                <a:rPr lang="en-US" b="true" sz="3300">
                  <a:solidFill>
                    <a:srgbClr val="1A2540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O projeto deixa de ser uma promessa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6858000" y="2331720"/>
            <a:ext cx="10602468" cy="1303020"/>
            <a:chOff x="0" y="0"/>
            <a:chExt cx="14136624" cy="173736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4136624" cy="1737360"/>
            </a:xfrm>
            <a:custGeom>
              <a:avLst/>
              <a:gdLst/>
              <a:ahLst/>
              <a:cxnLst/>
              <a:rect r="r" b="b" t="t" l="l"/>
              <a:pathLst>
                <a:path h="1737360" w="14136624">
                  <a:moveTo>
                    <a:pt x="0" y="0"/>
                  </a:moveTo>
                  <a:lnTo>
                    <a:pt x="14136624" y="0"/>
                  </a:lnTo>
                  <a:lnTo>
                    <a:pt x="14136624" y="1737360"/>
                  </a:lnTo>
                  <a:lnTo>
                    <a:pt x="0" y="1737360"/>
                  </a:lnTo>
                  <a:close/>
                </a:path>
              </a:pathLst>
            </a:custGeom>
            <a:solidFill>
              <a:srgbClr val="F2F2F0"/>
            </a:solidFill>
          </p:spPr>
        </p:sp>
      </p:grpSp>
      <p:grpSp>
        <p:nvGrpSpPr>
          <p:cNvPr name="Group 21" id="21"/>
          <p:cNvGrpSpPr/>
          <p:nvPr/>
        </p:nvGrpSpPr>
        <p:grpSpPr>
          <a:xfrm rot="0">
            <a:off x="7200900" y="2468880"/>
            <a:ext cx="9916668" cy="438912"/>
            <a:chOff x="0" y="0"/>
            <a:chExt cx="13222224" cy="585216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13222224" cy="585216"/>
            </a:xfrm>
            <a:custGeom>
              <a:avLst/>
              <a:gdLst/>
              <a:ahLst/>
              <a:cxnLst/>
              <a:rect r="r" b="b" t="t" l="l"/>
              <a:pathLst>
                <a:path h="585216" w="13222224">
                  <a:moveTo>
                    <a:pt x="0" y="0"/>
                  </a:moveTo>
                  <a:lnTo>
                    <a:pt x="13222224" y="0"/>
                  </a:lnTo>
                  <a:lnTo>
                    <a:pt x="13222224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90240" r="0" b="-390240"/>
              </a:stretch>
            </a:blip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38100"/>
              <a:ext cx="13222224" cy="6233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70"/>
                </a:lnSpc>
              </a:pPr>
              <a:r>
                <a:rPr lang="en-US" b="true" sz="1725">
                  <a:solidFill>
                    <a:srgbClr val="C87D0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PROGRESSO</a:t>
              </a:r>
            </a:p>
          </p:txBody>
        </p:sp>
      </p:grpSp>
      <p:sp>
        <p:nvSpPr>
          <p:cNvPr name="TextBox 24" id="24"/>
          <p:cNvSpPr txBox="true"/>
          <p:nvPr/>
        </p:nvSpPr>
        <p:spPr>
          <a:xfrm rot="0">
            <a:off x="7200900" y="2842260"/>
            <a:ext cx="9916668" cy="723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0"/>
              </a:lnSpc>
            </a:pPr>
            <a:r>
              <a:rPr lang="en-US" sz="2025">
                <a:solidFill>
                  <a:srgbClr val="1A2540"/>
                </a:solidFill>
                <a:latin typeface="Calibri (MS)"/>
                <a:ea typeface="Calibri (MS)"/>
                <a:cs typeface="Calibri (MS)"/>
                <a:sym typeface="Calibri (MS)"/>
              </a:rPr>
              <a:t>Percentual de execução e status (planejamento → em andamento → concluído)</a:t>
            </a:r>
          </a:p>
        </p:txBody>
      </p:sp>
      <p:grpSp>
        <p:nvGrpSpPr>
          <p:cNvPr name="Group 25" id="25"/>
          <p:cNvGrpSpPr/>
          <p:nvPr/>
        </p:nvGrpSpPr>
        <p:grpSpPr>
          <a:xfrm rot="0">
            <a:off x="6858000" y="3840480"/>
            <a:ext cx="10602468" cy="1303020"/>
            <a:chOff x="0" y="0"/>
            <a:chExt cx="14136624" cy="173736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14136624" cy="1737360"/>
            </a:xfrm>
            <a:custGeom>
              <a:avLst/>
              <a:gdLst/>
              <a:ahLst/>
              <a:cxnLst/>
              <a:rect r="r" b="b" t="t" l="l"/>
              <a:pathLst>
                <a:path h="1737360" w="14136624">
                  <a:moveTo>
                    <a:pt x="0" y="0"/>
                  </a:moveTo>
                  <a:lnTo>
                    <a:pt x="14136624" y="0"/>
                  </a:lnTo>
                  <a:lnTo>
                    <a:pt x="14136624" y="1737360"/>
                  </a:lnTo>
                  <a:lnTo>
                    <a:pt x="0" y="1737360"/>
                  </a:lnTo>
                  <a:close/>
                </a:path>
              </a:pathLst>
            </a:custGeom>
            <a:solidFill>
              <a:srgbClr val="F2F2F0"/>
            </a:solidFill>
          </p:spPr>
        </p:sp>
      </p:grpSp>
      <p:grpSp>
        <p:nvGrpSpPr>
          <p:cNvPr name="Group 27" id="27"/>
          <p:cNvGrpSpPr/>
          <p:nvPr/>
        </p:nvGrpSpPr>
        <p:grpSpPr>
          <a:xfrm rot="0">
            <a:off x="7200900" y="3977640"/>
            <a:ext cx="9916668" cy="438912"/>
            <a:chOff x="0" y="0"/>
            <a:chExt cx="13222224" cy="585216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13222224" cy="585216"/>
            </a:xfrm>
            <a:custGeom>
              <a:avLst/>
              <a:gdLst/>
              <a:ahLst/>
              <a:cxnLst/>
              <a:rect r="r" b="b" t="t" l="l"/>
              <a:pathLst>
                <a:path h="585216" w="13222224">
                  <a:moveTo>
                    <a:pt x="0" y="0"/>
                  </a:moveTo>
                  <a:lnTo>
                    <a:pt x="13222224" y="0"/>
                  </a:lnTo>
                  <a:lnTo>
                    <a:pt x="13222224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90240" r="0" b="-390240"/>
              </a:stretch>
            </a:blipFill>
          </p:spPr>
        </p:sp>
        <p:sp>
          <p:nvSpPr>
            <p:cNvPr name="TextBox 29" id="29"/>
            <p:cNvSpPr txBox="true"/>
            <p:nvPr/>
          </p:nvSpPr>
          <p:spPr>
            <a:xfrm>
              <a:off x="0" y="-38100"/>
              <a:ext cx="13222224" cy="6233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70"/>
                </a:lnSpc>
              </a:pPr>
              <a:r>
                <a:rPr lang="en-US" b="true" sz="1725">
                  <a:solidFill>
                    <a:srgbClr val="C87D0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MARCOS</a:t>
              </a:r>
            </a:p>
          </p:txBody>
        </p:sp>
      </p:grpSp>
      <p:sp>
        <p:nvSpPr>
          <p:cNvPr name="TextBox 30" id="30"/>
          <p:cNvSpPr txBox="true"/>
          <p:nvPr/>
        </p:nvSpPr>
        <p:spPr>
          <a:xfrm rot="0">
            <a:off x="7200900" y="4351020"/>
            <a:ext cx="9916668" cy="723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0"/>
              </a:lnSpc>
            </a:pPr>
            <a:r>
              <a:rPr lang="en-US" sz="2025">
                <a:solidFill>
                  <a:srgbClr val="1A2540"/>
                </a:solidFill>
                <a:latin typeface="Calibri (MS)"/>
                <a:ea typeface="Calibri (MS)"/>
                <a:cs typeface="Calibri (MS)"/>
                <a:sym typeface="Calibri (MS)"/>
              </a:rPr>
              <a:t>Cada etapa com prazo e status próprio</a:t>
            </a:r>
          </a:p>
        </p:txBody>
      </p:sp>
      <p:grpSp>
        <p:nvGrpSpPr>
          <p:cNvPr name="Group 31" id="31"/>
          <p:cNvGrpSpPr/>
          <p:nvPr/>
        </p:nvGrpSpPr>
        <p:grpSpPr>
          <a:xfrm rot="0">
            <a:off x="6858000" y="5349240"/>
            <a:ext cx="10602468" cy="1303020"/>
            <a:chOff x="0" y="0"/>
            <a:chExt cx="14136624" cy="173736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14136624" cy="1737360"/>
            </a:xfrm>
            <a:custGeom>
              <a:avLst/>
              <a:gdLst/>
              <a:ahLst/>
              <a:cxnLst/>
              <a:rect r="r" b="b" t="t" l="l"/>
              <a:pathLst>
                <a:path h="1737360" w="14136624">
                  <a:moveTo>
                    <a:pt x="0" y="0"/>
                  </a:moveTo>
                  <a:lnTo>
                    <a:pt x="14136624" y="0"/>
                  </a:lnTo>
                  <a:lnTo>
                    <a:pt x="14136624" y="1737360"/>
                  </a:lnTo>
                  <a:lnTo>
                    <a:pt x="0" y="1737360"/>
                  </a:lnTo>
                  <a:close/>
                </a:path>
              </a:pathLst>
            </a:custGeom>
            <a:solidFill>
              <a:srgbClr val="F2F2F0"/>
            </a:solidFill>
          </p:spPr>
        </p:sp>
      </p:grpSp>
      <p:grpSp>
        <p:nvGrpSpPr>
          <p:cNvPr name="Group 33" id="33"/>
          <p:cNvGrpSpPr/>
          <p:nvPr/>
        </p:nvGrpSpPr>
        <p:grpSpPr>
          <a:xfrm rot="0">
            <a:off x="7200900" y="5486400"/>
            <a:ext cx="9916668" cy="438912"/>
            <a:chOff x="0" y="0"/>
            <a:chExt cx="13222224" cy="585216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13222224" cy="585216"/>
            </a:xfrm>
            <a:custGeom>
              <a:avLst/>
              <a:gdLst/>
              <a:ahLst/>
              <a:cxnLst/>
              <a:rect r="r" b="b" t="t" l="l"/>
              <a:pathLst>
                <a:path h="585216" w="13222224">
                  <a:moveTo>
                    <a:pt x="0" y="0"/>
                  </a:moveTo>
                  <a:lnTo>
                    <a:pt x="13222224" y="0"/>
                  </a:lnTo>
                  <a:lnTo>
                    <a:pt x="13222224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90240" r="0" b="-390240"/>
              </a:stretch>
            </a:blipFill>
          </p:spPr>
        </p:sp>
        <p:sp>
          <p:nvSpPr>
            <p:cNvPr name="TextBox 35" id="35"/>
            <p:cNvSpPr txBox="true"/>
            <p:nvPr/>
          </p:nvSpPr>
          <p:spPr>
            <a:xfrm>
              <a:off x="0" y="-38100"/>
              <a:ext cx="13222224" cy="6233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70"/>
                </a:lnSpc>
              </a:pPr>
              <a:r>
                <a:rPr lang="en-US" b="true" sz="1725">
                  <a:solidFill>
                    <a:srgbClr val="C87D0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ROI REALIZADO</a:t>
              </a:r>
            </a:p>
          </p:txBody>
        </p:sp>
      </p:grpSp>
      <p:sp>
        <p:nvSpPr>
          <p:cNvPr name="TextBox 36" id="36"/>
          <p:cNvSpPr txBox="true"/>
          <p:nvPr/>
        </p:nvSpPr>
        <p:spPr>
          <a:xfrm rot="0">
            <a:off x="7200900" y="5859780"/>
            <a:ext cx="9916668" cy="723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0"/>
              </a:lnSpc>
            </a:pPr>
            <a:r>
              <a:rPr lang="en-US" sz="2025">
                <a:solidFill>
                  <a:srgbClr val="1A2540"/>
                </a:solidFill>
                <a:latin typeface="Calibri (MS)"/>
                <a:ea typeface="Calibri (MS)"/>
                <a:cs typeface="Calibri (MS)"/>
                <a:sym typeface="Calibri (MS)"/>
              </a:rPr>
              <a:t>Atualizado conforme o resultado real chega — não é mais só estimativa</a:t>
            </a:r>
          </a:p>
        </p:txBody>
      </p:sp>
      <p:grpSp>
        <p:nvGrpSpPr>
          <p:cNvPr name="Group 37" id="37"/>
          <p:cNvGrpSpPr/>
          <p:nvPr/>
        </p:nvGrpSpPr>
        <p:grpSpPr>
          <a:xfrm rot="0">
            <a:off x="6858000" y="6995160"/>
            <a:ext cx="10602468" cy="754380"/>
            <a:chOff x="0" y="0"/>
            <a:chExt cx="14136624" cy="1005840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14136624" cy="1005840"/>
            </a:xfrm>
            <a:custGeom>
              <a:avLst/>
              <a:gdLst/>
              <a:ahLst/>
              <a:cxnLst/>
              <a:rect r="r" b="b" t="t" l="l"/>
              <a:pathLst>
                <a:path h="1005840" w="14136624">
                  <a:moveTo>
                    <a:pt x="0" y="0"/>
                  </a:moveTo>
                  <a:lnTo>
                    <a:pt x="14136624" y="0"/>
                  </a:lnTo>
                  <a:lnTo>
                    <a:pt x="14136624" y="1005840"/>
                  </a:lnTo>
                  <a:lnTo>
                    <a:pt x="0" y="1005840"/>
                  </a:lnTo>
                  <a:close/>
                </a:path>
              </a:pathLst>
            </a:custGeom>
            <a:solidFill>
              <a:srgbClr val="1A2540"/>
            </a:solidFill>
          </p:spPr>
        </p:sp>
      </p:grpSp>
      <p:grpSp>
        <p:nvGrpSpPr>
          <p:cNvPr name="Group 39" id="39"/>
          <p:cNvGrpSpPr/>
          <p:nvPr/>
        </p:nvGrpSpPr>
        <p:grpSpPr>
          <a:xfrm rot="0">
            <a:off x="7132320" y="6995160"/>
            <a:ext cx="10053828" cy="754380"/>
            <a:chOff x="0" y="0"/>
            <a:chExt cx="13405104" cy="1005840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13405104" cy="1005840"/>
            </a:xfrm>
            <a:custGeom>
              <a:avLst/>
              <a:gdLst/>
              <a:ahLst/>
              <a:cxnLst/>
              <a:rect r="r" b="b" t="t" l="l"/>
              <a:pathLst>
                <a:path h="1005840" w="13405104">
                  <a:moveTo>
                    <a:pt x="0" y="0"/>
                  </a:moveTo>
                  <a:lnTo>
                    <a:pt x="13405104" y="0"/>
                  </a:lnTo>
                  <a:lnTo>
                    <a:pt x="13405104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09682" r="0" b="-209682"/>
              </a:stretch>
            </a:blipFill>
          </p:spPr>
        </p:sp>
        <p:sp>
          <p:nvSpPr>
            <p:cNvPr name="TextBox 41" id="41"/>
            <p:cNvSpPr txBox="true"/>
            <p:nvPr/>
          </p:nvSpPr>
          <p:spPr>
            <a:xfrm>
              <a:off x="0" y="-9525"/>
              <a:ext cx="13405104" cy="10153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E8B15C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PATCH /api/v1/projects/{id}/progress</a:t>
              </a:r>
            </a:p>
          </p:txBody>
        </p:sp>
      </p:grpSp>
      <p:grpSp>
        <p:nvGrpSpPr>
          <p:cNvPr name="Group 42" id="42"/>
          <p:cNvGrpSpPr/>
          <p:nvPr/>
        </p:nvGrpSpPr>
        <p:grpSpPr>
          <a:xfrm rot="0">
            <a:off x="17323308" y="9669780"/>
            <a:ext cx="685800" cy="411480"/>
            <a:chOff x="0" y="0"/>
            <a:chExt cx="914400" cy="548640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914400" cy="548640"/>
            </a:xfrm>
            <a:custGeom>
              <a:avLst/>
              <a:gdLst/>
              <a:ahLst/>
              <a:cxnLst/>
              <a:rect r="r" b="b" t="t" l="l"/>
              <a:pathLst>
                <a:path h="54864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26982" t="0" r="-26982" b="0"/>
              </a:stretch>
            </a:blipFill>
          </p:spPr>
        </p:sp>
        <p:sp>
          <p:nvSpPr>
            <p:cNvPr name="TextBox 44" id="44"/>
            <p:cNvSpPr txBox="true"/>
            <p:nvPr/>
          </p:nvSpPr>
          <p:spPr>
            <a:xfrm>
              <a:off x="0" y="-38100"/>
              <a:ext cx="91440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800"/>
                </a:lnSpc>
              </a:pPr>
              <a:r>
                <a:rPr lang="en-US" sz="1500">
                  <a:solidFill>
                    <a:srgbClr val="5B6472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08</a:t>
              </a:r>
            </a:p>
          </p:txBody>
        </p:sp>
      </p:grp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6309360" cy="10287000"/>
            <a:chOff x="0" y="0"/>
            <a:chExt cx="841248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41248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8412480">
                  <a:moveTo>
                    <a:pt x="0" y="0"/>
                  </a:moveTo>
                  <a:lnTo>
                    <a:pt x="8412480" y="0"/>
                  </a:lnTo>
                  <a:lnTo>
                    <a:pt x="841248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1A2540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960120" y="960120"/>
            <a:ext cx="1234440" cy="1234440"/>
            <a:chOff x="0" y="0"/>
            <a:chExt cx="1645920" cy="164592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645920" cy="1645920"/>
            </a:xfrm>
            <a:custGeom>
              <a:avLst/>
              <a:gdLst/>
              <a:ahLst/>
              <a:cxnLst/>
              <a:rect r="r" b="b" t="t" l="l"/>
              <a:pathLst>
                <a:path h="1645920" w="1645920">
                  <a:moveTo>
                    <a:pt x="0" y="822960"/>
                  </a:moveTo>
                  <a:cubicBezTo>
                    <a:pt x="0" y="368427"/>
                    <a:pt x="368427" y="0"/>
                    <a:pt x="822960" y="0"/>
                  </a:cubicBezTo>
                  <a:cubicBezTo>
                    <a:pt x="1277493" y="0"/>
                    <a:pt x="1645920" y="368427"/>
                    <a:pt x="1645920" y="822960"/>
                  </a:cubicBezTo>
                  <a:cubicBezTo>
                    <a:pt x="1645920" y="1277493"/>
                    <a:pt x="1277493" y="1645920"/>
                    <a:pt x="822960" y="1645920"/>
                  </a:cubicBezTo>
                  <a:cubicBezTo>
                    <a:pt x="368427" y="1645920"/>
                    <a:pt x="0" y="1277493"/>
                    <a:pt x="0" y="822960"/>
                  </a:cubicBezTo>
                  <a:close/>
                </a:path>
              </a:pathLst>
            </a:custGeom>
            <a:solidFill>
              <a:srgbClr val="C87D0E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960120" y="960120"/>
            <a:ext cx="1234440" cy="1234440"/>
            <a:chOff x="0" y="0"/>
            <a:chExt cx="1645920" cy="164592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645920" cy="1645920"/>
            </a:xfrm>
            <a:custGeom>
              <a:avLst/>
              <a:gdLst/>
              <a:ahLst/>
              <a:cxnLst/>
              <a:rect r="r" b="b" t="t" l="l"/>
              <a:pathLst>
                <a:path h="1645920" w="1645920">
                  <a:moveTo>
                    <a:pt x="0" y="0"/>
                  </a:moveTo>
                  <a:lnTo>
                    <a:pt x="1645920" y="0"/>
                  </a:lnTo>
                  <a:lnTo>
                    <a:pt x="1645920" y="1645920"/>
                  </a:lnTo>
                  <a:lnTo>
                    <a:pt x="0" y="16459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-9525"/>
              <a:ext cx="1645920" cy="16554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5508"/>
                </a:lnSpc>
              </a:pPr>
              <a:r>
                <a:rPr lang="en-US" b="true" sz="4590">
                  <a:solidFill>
                    <a:srgbClr val="FFFFF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5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960120" y="2537460"/>
            <a:ext cx="4663440" cy="480060"/>
            <a:chOff x="0" y="0"/>
            <a:chExt cx="6217920" cy="64008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6217920" cy="640080"/>
            </a:xfrm>
            <a:custGeom>
              <a:avLst/>
              <a:gdLst/>
              <a:ahLst/>
              <a:cxnLst/>
              <a:rect r="r" b="b" t="t" l="l"/>
              <a:pathLst>
                <a:path h="640080" w="6217920">
                  <a:moveTo>
                    <a:pt x="0" y="0"/>
                  </a:moveTo>
                  <a:lnTo>
                    <a:pt x="6217920" y="0"/>
                  </a:lnTo>
                  <a:lnTo>
                    <a:pt x="621792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39283" r="0" b="-139283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6217920" cy="6781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b="true" sz="1800">
                  <a:solidFill>
                    <a:srgbClr val="E8B15C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LIDERANÇA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960120" y="3017520"/>
            <a:ext cx="4800600" cy="2057400"/>
            <a:chOff x="0" y="0"/>
            <a:chExt cx="6400800" cy="27432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6400800" cy="2743200"/>
            </a:xfrm>
            <a:custGeom>
              <a:avLst/>
              <a:gdLst/>
              <a:ahLst/>
              <a:cxnLst/>
              <a:rect r="r" b="b" t="t" l="l"/>
              <a:pathLst>
                <a:path h="2743200" w="6400800">
                  <a:moveTo>
                    <a:pt x="0" y="0"/>
                  </a:moveTo>
                  <a:lnTo>
                    <a:pt x="6400800" y="0"/>
                  </a:lnTo>
                  <a:lnTo>
                    <a:pt x="6400800" y="2743200"/>
                  </a:lnTo>
                  <a:lnTo>
                    <a:pt x="0" y="27432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4987" t="0" r="-4987" b="0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9525"/>
              <a:ext cx="6400800" cy="27527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860"/>
                </a:lnSpc>
              </a:pPr>
              <a:r>
                <a:rPr lang="en-US" b="true" sz="4050">
                  <a:solidFill>
                    <a:srgbClr val="FFFFF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Decide com dados reais</a:t>
              </a:r>
            </a:p>
          </p:txBody>
        </p:sp>
      </p:grpSp>
      <p:sp>
        <p:nvSpPr>
          <p:cNvPr name="TextBox 15" id="15"/>
          <p:cNvSpPr txBox="true"/>
          <p:nvPr/>
        </p:nvSpPr>
        <p:spPr>
          <a:xfrm rot="0">
            <a:off x="960120" y="5301615"/>
            <a:ext cx="4800600" cy="37509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0"/>
              </a:lnSpc>
            </a:pPr>
            <a:r>
              <a:rPr lang="en-US" sz="1950">
                <a:solidFill>
                  <a:srgbClr val="C7CEDD"/>
                </a:solidFill>
                <a:latin typeface="Calibri (MS)"/>
                <a:ea typeface="Calibri (MS)"/>
                <a:cs typeface="Calibri (MS)"/>
                <a:sym typeface="Calibri (MS)"/>
              </a:rPr>
              <a:t>No fim do mês, a liderança abre o dashboard — não uma planilha remendada, mas um resumo estruturado, calculado no backend, agregando cada ideia e cada projeto do período.</a:t>
            </a:r>
          </a:p>
        </p:txBody>
      </p:sp>
      <p:grpSp>
        <p:nvGrpSpPr>
          <p:cNvPr name="Group 16" id="16"/>
          <p:cNvGrpSpPr/>
          <p:nvPr/>
        </p:nvGrpSpPr>
        <p:grpSpPr>
          <a:xfrm rot="0">
            <a:off x="6858000" y="891540"/>
            <a:ext cx="10602468" cy="1234440"/>
            <a:chOff x="0" y="0"/>
            <a:chExt cx="14136624" cy="164592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4136624" cy="1645920"/>
            </a:xfrm>
            <a:custGeom>
              <a:avLst/>
              <a:gdLst/>
              <a:ahLst/>
              <a:cxnLst/>
              <a:rect r="r" b="b" t="t" l="l"/>
              <a:pathLst>
                <a:path h="1645920" w="14136624">
                  <a:moveTo>
                    <a:pt x="0" y="0"/>
                  </a:moveTo>
                  <a:lnTo>
                    <a:pt x="14136624" y="0"/>
                  </a:lnTo>
                  <a:lnTo>
                    <a:pt x="14136624" y="1645920"/>
                  </a:lnTo>
                  <a:lnTo>
                    <a:pt x="0" y="16459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17354" r="0" b="-117354"/>
              </a:stretch>
            </a:blip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9525"/>
              <a:ext cx="14136624" cy="16554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960"/>
                </a:lnSpc>
              </a:pPr>
              <a:r>
                <a:rPr lang="en-US" b="true" sz="3300">
                  <a:solidFill>
                    <a:srgbClr val="1A2540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Da operação ao board, em tempo real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6858000" y="2331720"/>
            <a:ext cx="10602468" cy="1303020"/>
            <a:chOff x="0" y="0"/>
            <a:chExt cx="14136624" cy="173736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4136624" cy="1737360"/>
            </a:xfrm>
            <a:custGeom>
              <a:avLst/>
              <a:gdLst/>
              <a:ahLst/>
              <a:cxnLst/>
              <a:rect r="r" b="b" t="t" l="l"/>
              <a:pathLst>
                <a:path h="1737360" w="14136624">
                  <a:moveTo>
                    <a:pt x="0" y="0"/>
                  </a:moveTo>
                  <a:lnTo>
                    <a:pt x="14136624" y="0"/>
                  </a:lnTo>
                  <a:lnTo>
                    <a:pt x="14136624" y="1737360"/>
                  </a:lnTo>
                  <a:lnTo>
                    <a:pt x="0" y="1737360"/>
                  </a:lnTo>
                  <a:close/>
                </a:path>
              </a:pathLst>
            </a:custGeom>
            <a:solidFill>
              <a:srgbClr val="F2F2F0"/>
            </a:solidFill>
          </p:spPr>
        </p:sp>
      </p:grpSp>
      <p:grpSp>
        <p:nvGrpSpPr>
          <p:cNvPr name="Group 21" id="21"/>
          <p:cNvGrpSpPr/>
          <p:nvPr/>
        </p:nvGrpSpPr>
        <p:grpSpPr>
          <a:xfrm rot="0">
            <a:off x="7200900" y="2468880"/>
            <a:ext cx="9916668" cy="438912"/>
            <a:chOff x="0" y="0"/>
            <a:chExt cx="13222224" cy="585216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13222224" cy="585216"/>
            </a:xfrm>
            <a:custGeom>
              <a:avLst/>
              <a:gdLst/>
              <a:ahLst/>
              <a:cxnLst/>
              <a:rect r="r" b="b" t="t" l="l"/>
              <a:pathLst>
                <a:path h="585216" w="13222224">
                  <a:moveTo>
                    <a:pt x="0" y="0"/>
                  </a:moveTo>
                  <a:lnTo>
                    <a:pt x="13222224" y="0"/>
                  </a:lnTo>
                  <a:lnTo>
                    <a:pt x="13222224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90240" r="0" b="-390240"/>
              </a:stretch>
            </a:blip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38100"/>
              <a:ext cx="13222224" cy="6233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70"/>
                </a:lnSpc>
              </a:pPr>
              <a:r>
                <a:rPr lang="en-US" b="true" sz="1725">
                  <a:solidFill>
                    <a:srgbClr val="C87D0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RESUMO GERAL</a:t>
              </a:r>
            </a:p>
          </p:txBody>
        </p:sp>
      </p:grpSp>
      <p:sp>
        <p:nvSpPr>
          <p:cNvPr name="TextBox 24" id="24"/>
          <p:cNvSpPr txBox="true"/>
          <p:nvPr/>
        </p:nvSpPr>
        <p:spPr>
          <a:xfrm rot="0">
            <a:off x="7200900" y="2842260"/>
            <a:ext cx="9916668" cy="723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0"/>
              </a:lnSpc>
            </a:pPr>
            <a:r>
              <a:rPr lang="en-US" sz="2025">
                <a:solidFill>
                  <a:srgbClr val="1A2540"/>
                </a:solidFill>
                <a:latin typeface="Calibri (MS)"/>
                <a:ea typeface="Calibri (MS)"/>
                <a:cs typeface="Calibri (MS)"/>
                <a:sym typeface="Calibri (MS)"/>
              </a:rPr>
              <a:t>Ideias submetidas/aprovadas, taxa de conversão, ROI total</a:t>
            </a:r>
          </a:p>
        </p:txBody>
      </p:sp>
      <p:grpSp>
        <p:nvGrpSpPr>
          <p:cNvPr name="Group 25" id="25"/>
          <p:cNvGrpSpPr/>
          <p:nvPr/>
        </p:nvGrpSpPr>
        <p:grpSpPr>
          <a:xfrm rot="0">
            <a:off x="6858000" y="3840480"/>
            <a:ext cx="10602468" cy="1303020"/>
            <a:chOff x="0" y="0"/>
            <a:chExt cx="14136624" cy="173736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14136624" cy="1737360"/>
            </a:xfrm>
            <a:custGeom>
              <a:avLst/>
              <a:gdLst/>
              <a:ahLst/>
              <a:cxnLst/>
              <a:rect r="r" b="b" t="t" l="l"/>
              <a:pathLst>
                <a:path h="1737360" w="14136624">
                  <a:moveTo>
                    <a:pt x="0" y="0"/>
                  </a:moveTo>
                  <a:lnTo>
                    <a:pt x="14136624" y="0"/>
                  </a:lnTo>
                  <a:lnTo>
                    <a:pt x="14136624" y="1737360"/>
                  </a:lnTo>
                  <a:lnTo>
                    <a:pt x="0" y="1737360"/>
                  </a:lnTo>
                  <a:close/>
                </a:path>
              </a:pathLst>
            </a:custGeom>
            <a:solidFill>
              <a:srgbClr val="F2F2F0"/>
            </a:solidFill>
          </p:spPr>
        </p:sp>
      </p:grpSp>
      <p:grpSp>
        <p:nvGrpSpPr>
          <p:cNvPr name="Group 27" id="27"/>
          <p:cNvGrpSpPr/>
          <p:nvPr/>
        </p:nvGrpSpPr>
        <p:grpSpPr>
          <a:xfrm rot="0">
            <a:off x="7200900" y="3977640"/>
            <a:ext cx="9916668" cy="438912"/>
            <a:chOff x="0" y="0"/>
            <a:chExt cx="13222224" cy="585216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13222224" cy="585216"/>
            </a:xfrm>
            <a:custGeom>
              <a:avLst/>
              <a:gdLst/>
              <a:ahLst/>
              <a:cxnLst/>
              <a:rect r="r" b="b" t="t" l="l"/>
              <a:pathLst>
                <a:path h="585216" w="13222224">
                  <a:moveTo>
                    <a:pt x="0" y="0"/>
                  </a:moveTo>
                  <a:lnTo>
                    <a:pt x="13222224" y="0"/>
                  </a:lnTo>
                  <a:lnTo>
                    <a:pt x="13222224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90240" r="0" b="-390240"/>
              </a:stretch>
            </a:blipFill>
          </p:spPr>
        </p:sp>
        <p:sp>
          <p:nvSpPr>
            <p:cNvPr name="TextBox 29" id="29"/>
            <p:cNvSpPr txBox="true"/>
            <p:nvPr/>
          </p:nvSpPr>
          <p:spPr>
            <a:xfrm>
              <a:off x="0" y="-38100"/>
              <a:ext cx="13222224" cy="6233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70"/>
                </a:lnSpc>
              </a:pPr>
              <a:r>
                <a:rPr lang="en-US" b="true" sz="1725">
                  <a:solidFill>
                    <a:srgbClr val="C87D0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POR PROJETO E POR ESTRATÉGIA</a:t>
              </a:r>
            </a:p>
          </p:txBody>
        </p:sp>
      </p:grpSp>
      <p:sp>
        <p:nvSpPr>
          <p:cNvPr name="TextBox 30" id="30"/>
          <p:cNvSpPr txBox="true"/>
          <p:nvPr/>
        </p:nvSpPr>
        <p:spPr>
          <a:xfrm rot="0">
            <a:off x="7200900" y="4351020"/>
            <a:ext cx="9916668" cy="723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0"/>
              </a:lnSpc>
            </a:pPr>
            <a:r>
              <a:rPr lang="en-US" sz="2025">
                <a:solidFill>
                  <a:srgbClr val="1A2540"/>
                </a:solidFill>
                <a:latin typeface="Calibri (MS)"/>
                <a:ea typeface="Calibri (MS)"/>
                <a:cs typeface="Calibri (MS)"/>
                <a:sym typeface="Calibri (MS)"/>
              </a:rPr>
              <a:t>Retorno específico de cada iniciativa e de cada orientação estratégica</a:t>
            </a:r>
          </a:p>
        </p:txBody>
      </p:sp>
      <p:grpSp>
        <p:nvGrpSpPr>
          <p:cNvPr name="Group 31" id="31"/>
          <p:cNvGrpSpPr/>
          <p:nvPr/>
        </p:nvGrpSpPr>
        <p:grpSpPr>
          <a:xfrm rot="0">
            <a:off x="6858000" y="5349240"/>
            <a:ext cx="10602468" cy="1303020"/>
            <a:chOff x="0" y="0"/>
            <a:chExt cx="14136624" cy="173736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14136624" cy="1737360"/>
            </a:xfrm>
            <a:custGeom>
              <a:avLst/>
              <a:gdLst/>
              <a:ahLst/>
              <a:cxnLst/>
              <a:rect r="r" b="b" t="t" l="l"/>
              <a:pathLst>
                <a:path h="1737360" w="14136624">
                  <a:moveTo>
                    <a:pt x="0" y="0"/>
                  </a:moveTo>
                  <a:lnTo>
                    <a:pt x="14136624" y="0"/>
                  </a:lnTo>
                  <a:lnTo>
                    <a:pt x="14136624" y="1737360"/>
                  </a:lnTo>
                  <a:lnTo>
                    <a:pt x="0" y="1737360"/>
                  </a:lnTo>
                  <a:close/>
                </a:path>
              </a:pathLst>
            </a:custGeom>
            <a:solidFill>
              <a:srgbClr val="F2F2F0"/>
            </a:solidFill>
          </p:spPr>
        </p:sp>
      </p:grpSp>
      <p:grpSp>
        <p:nvGrpSpPr>
          <p:cNvPr name="Group 33" id="33"/>
          <p:cNvGrpSpPr/>
          <p:nvPr/>
        </p:nvGrpSpPr>
        <p:grpSpPr>
          <a:xfrm rot="0">
            <a:off x="7200900" y="5486400"/>
            <a:ext cx="9916668" cy="438912"/>
            <a:chOff x="0" y="0"/>
            <a:chExt cx="13222224" cy="585216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13222224" cy="585216"/>
            </a:xfrm>
            <a:custGeom>
              <a:avLst/>
              <a:gdLst/>
              <a:ahLst/>
              <a:cxnLst/>
              <a:rect r="r" b="b" t="t" l="l"/>
              <a:pathLst>
                <a:path h="585216" w="13222224">
                  <a:moveTo>
                    <a:pt x="0" y="0"/>
                  </a:moveTo>
                  <a:lnTo>
                    <a:pt x="13222224" y="0"/>
                  </a:lnTo>
                  <a:lnTo>
                    <a:pt x="13222224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90240" r="0" b="-390240"/>
              </a:stretch>
            </a:blipFill>
          </p:spPr>
        </p:sp>
        <p:sp>
          <p:nvSpPr>
            <p:cNvPr name="TextBox 35" id="35"/>
            <p:cNvSpPr txBox="true"/>
            <p:nvPr/>
          </p:nvSpPr>
          <p:spPr>
            <a:xfrm>
              <a:off x="0" y="-38100"/>
              <a:ext cx="13222224" cy="6233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70"/>
                </a:lnSpc>
              </a:pPr>
              <a:r>
                <a:rPr lang="en-US" b="true" sz="1725">
                  <a:solidFill>
                    <a:srgbClr val="C87D0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PRÓXIMO PASSO</a:t>
              </a:r>
            </a:p>
          </p:txBody>
        </p:sp>
      </p:grpSp>
      <p:sp>
        <p:nvSpPr>
          <p:cNvPr name="TextBox 36" id="36"/>
          <p:cNvSpPr txBox="true"/>
          <p:nvPr/>
        </p:nvSpPr>
        <p:spPr>
          <a:xfrm rot="0">
            <a:off x="7200900" y="5859780"/>
            <a:ext cx="9916668" cy="723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0"/>
              </a:lnSpc>
            </a:pPr>
            <a:r>
              <a:rPr lang="en-US" sz="2025">
                <a:solidFill>
                  <a:srgbClr val="1A2540"/>
                </a:solidFill>
                <a:latin typeface="Calibri (MS)"/>
                <a:ea typeface="Calibri (MS)"/>
                <a:cs typeface="Calibri (MS)"/>
                <a:sym typeface="Calibri (MS)"/>
              </a:rPr>
              <a:t>Criar novas orientações estratégicas para guiar o próximo ciclo</a:t>
            </a:r>
          </a:p>
        </p:txBody>
      </p:sp>
      <p:grpSp>
        <p:nvGrpSpPr>
          <p:cNvPr name="Group 37" id="37"/>
          <p:cNvGrpSpPr/>
          <p:nvPr/>
        </p:nvGrpSpPr>
        <p:grpSpPr>
          <a:xfrm rot="0">
            <a:off x="6858000" y="6995160"/>
            <a:ext cx="10602468" cy="754380"/>
            <a:chOff x="0" y="0"/>
            <a:chExt cx="14136624" cy="1005840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14136624" cy="1005840"/>
            </a:xfrm>
            <a:custGeom>
              <a:avLst/>
              <a:gdLst/>
              <a:ahLst/>
              <a:cxnLst/>
              <a:rect r="r" b="b" t="t" l="l"/>
              <a:pathLst>
                <a:path h="1005840" w="14136624">
                  <a:moveTo>
                    <a:pt x="0" y="0"/>
                  </a:moveTo>
                  <a:lnTo>
                    <a:pt x="14136624" y="0"/>
                  </a:lnTo>
                  <a:lnTo>
                    <a:pt x="14136624" y="1005840"/>
                  </a:lnTo>
                  <a:lnTo>
                    <a:pt x="0" y="1005840"/>
                  </a:lnTo>
                  <a:close/>
                </a:path>
              </a:pathLst>
            </a:custGeom>
            <a:solidFill>
              <a:srgbClr val="1A2540"/>
            </a:solidFill>
          </p:spPr>
        </p:sp>
      </p:grpSp>
      <p:grpSp>
        <p:nvGrpSpPr>
          <p:cNvPr name="Group 39" id="39"/>
          <p:cNvGrpSpPr/>
          <p:nvPr/>
        </p:nvGrpSpPr>
        <p:grpSpPr>
          <a:xfrm rot="0">
            <a:off x="7132320" y="6995160"/>
            <a:ext cx="10053828" cy="754380"/>
            <a:chOff x="0" y="0"/>
            <a:chExt cx="13405104" cy="1005840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13405104" cy="1005840"/>
            </a:xfrm>
            <a:custGeom>
              <a:avLst/>
              <a:gdLst/>
              <a:ahLst/>
              <a:cxnLst/>
              <a:rect r="r" b="b" t="t" l="l"/>
              <a:pathLst>
                <a:path h="1005840" w="13405104">
                  <a:moveTo>
                    <a:pt x="0" y="0"/>
                  </a:moveTo>
                  <a:lnTo>
                    <a:pt x="13405104" y="0"/>
                  </a:lnTo>
                  <a:lnTo>
                    <a:pt x="13405104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09682" r="0" b="-209682"/>
              </a:stretch>
            </a:blipFill>
          </p:spPr>
        </p:sp>
        <p:sp>
          <p:nvSpPr>
            <p:cNvPr name="TextBox 41" id="41"/>
            <p:cNvSpPr txBox="true"/>
            <p:nvPr/>
          </p:nvSpPr>
          <p:spPr>
            <a:xfrm>
              <a:off x="0" y="-9525"/>
              <a:ext cx="13405104" cy="10153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E8B15C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GET /dashboard/summary · /roi-by-project · /roi-by-strategy</a:t>
              </a:r>
            </a:p>
          </p:txBody>
        </p:sp>
      </p:grpSp>
      <p:grpSp>
        <p:nvGrpSpPr>
          <p:cNvPr name="Group 42" id="42"/>
          <p:cNvGrpSpPr/>
          <p:nvPr/>
        </p:nvGrpSpPr>
        <p:grpSpPr>
          <a:xfrm rot="0">
            <a:off x="17323308" y="9669780"/>
            <a:ext cx="685800" cy="411480"/>
            <a:chOff x="0" y="0"/>
            <a:chExt cx="914400" cy="548640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914400" cy="548640"/>
            </a:xfrm>
            <a:custGeom>
              <a:avLst/>
              <a:gdLst/>
              <a:ahLst/>
              <a:cxnLst/>
              <a:rect r="r" b="b" t="t" l="l"/>
              <a:pathLst>
                <a:path h="54864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26982" t="0" r="-26982" b="0"/>
              </a:stretch>
            </a:blipFill>
          </p:spPr>
        </p:sp>
        <p:sp>
          <p:nvSpPr>
            <p:cNvPr name="TextBox 44" id="44"/>
            <p:cNvSpPr txBox="true"/>
            <p:nvPr/>
          </p:nvSpPr>
          <p:spPr>
            <a:xfrm>
              <a:off x="0" y="-38100"/>
              <a:ext cx="91440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800"/>
                </a:lnSpc>
              </a:pPr>
              <a:r>
                <a:rPr lang="en-US" sz="1500">
                  <a:solidFill>
                    <a:srgbClr val="5B6472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09</a:t>
              </a:r>
            </a:p>
          </p:txBody>
        </p:sp>
      </p:grp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A25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234440" y="3154680"/>
            <a:ext cx="10972800" cy="548640"/>
            <a:chOff x="0" y="0"/>
            <a:chExt cx="14630400" cy="73152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4630400" cy="731520"/>
            </a:xfrm>
            <a:custGeom>
              <a:avLst/>
              <a:gdLst/>
              <a:ahLst/>
              <a:cxnLst/>
              <a:rect r="r" b="b" t="t" l="l"/>
              <a:pathLst>
                <a:path h="731520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39700" r="0" b="-339700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14630400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b="true" sz="1950">
                  <a:solidFill>
                    <a:srgbClr val="E8B15C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POR TRÁS DA CENA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165860" y="3771900"/>
            <a:ext cx="14401800" cy="2606040"/>
            <a:chOff x="0" y="0"/>
            <a:chExt cx="19202400" cy="347472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9202400" cy="3474720"/>
            </a:xfrm>
            <a:custGeom>
              <a:avLst/>
              <a:gdLst/>
              <a:ahLst/>
              <a:cxnLst/>
              <a:rect r="r" b="b" t="t" l="l"/>
              <a:pathLst>
                <a:path h="3474720" w="19202400">
                  <a:moveTo>
                    <a:pt x="0" y="0"/>
                  </a:moveTo>
                  <a:lnTo>
                    <a:pt x="19202400" y="0"/>
                  </a:lnTo>
                  <a:lnTo>
                    <a:pt x="19202400" y="3474720"/>
                  </a:lnTo>
                  <a:lnTo>
                    <a:pt x="0" y="34747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57680" r="0" b="-57680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19050"/>
              <a:ext cx="19202400" cy="34937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7920"/>
                </a:lnSpc>
              </a:pPr>
              <a:r>
                <a:rPr lang="en-US" b="true" sz="6600">
                  <a:solidFill>
                    <a:srgbClr val="FFFFF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Como isso tudo</a:t>
              </a:r>
            </a:p>
            <a:p>
              <a:pPr algn="l">
                <a:lnSpc>
                  <a:spcPts val="7920"/>
                </a:lnSpc>
              </a:pPr>
              <a:r>
                <a:rPr lang="en-US" b="true" sz="6600">
                  <a:solidFill>
                    <a:srgbClr val="FFFFF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funciona de verdade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234440" y="6172200"/>
            <a:ext cx="12344400" cy="822960"/>
            <a:chOff x="0" y="0"/>
            <a:chExt cx="16459200" cy="109728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6459200" cy="1097280"/>
            </a:xfrm>
            <a:custGeom>
              <a:avLst/>
              <a:gdLst/>
              <a:ahLst/>
              <a:cxnLst/>
              <a:rect r="r" b="b" t="t" l="l"/>
              <a:pathLst>
                <a:path h="1097280" w="16459200">
                  <a:moveTo>
                    <a:pt x="0" y="0"/>
                  </a:moveTo>
                  <a:lnTo>
                    <a:pt x="16459200" y="0"/>
                  </a:lnTo>
                  <a:lnTo>
                    <a:pt x="1645920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42275" r="0" b="-242275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57150"/>
              <a:ext cx="16459200" cy="11544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00"/>
                </a:lnSpc>
              </a:pPr>
              <a:r>
                <a:rPr lang="en-US" sz="2250">
                  <a:solidFill>
                    <a:srgbClr val="C7CED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Arquitetura, segurança, IA e a especificação técnica que sustenta a jornada que você acabou de ver.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7323308" y="9669780"/>
            <a:ext cx="685800" cy="411480"/>
            <a:chOff x="0" y="0"/>
            <a:chExt cx="914400" cy="54864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914400" cy="548640"/>
            </a:xfrm>
            <a:custGeom>
              <a:avLst/>
              <a:gdLst/>
              <a:ahLst/>
              <a:cxnLst/>
              <a:rect r="r" b="b" t="t" l="l"/>
              <a:pathLst>
                <a:path h="54864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26982" t="0" r="-26982" b="0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91440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800"/>
                </a:lnSpc>
              </a:pPr>
              <a:r>
                <a:rPr lang="en-US" sz="1500">
                  <a:solidFill>
                    <a:srgbClr val="5B6472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10</a:t>
              </a:r>
            </a:p>
          </p:txBody>
        </p:sp>
      </p:grp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234440" y="685800"/>
            <a:ext cx="10972800" cy="480060"/>
            <a:chOff x="0" y="0"/>
            <a:chExt cx="14630400" cy="64008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4630400" cy="640080"/>
            </a:xfrm>
            <a:custGeom>
              <a:avLst/>
              <a:gdLst/>
              <a:ahLst/>
              <a:cxnLst/>
              <a:rect r="r" b="b" t="t" l="l"/>
              <a:pathLst>
                <a:path h="640080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95372" r="0" b="-395372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14630400" cy="6877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b="true" sz="1950">
                  <a:solidFill>
                    <a:srgbClr val="C87D0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ARQUITETURA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234440" y="1165860"/>
            <a:ext cx="15087600" cy="822960"/>
            <a:chOff x="0" y="0"/>
            <a:chExt cx="20116800" cy="109728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0116800" cy="1097280"/>
            </a:xfrm>
            <a:custGeom>
              <a:avLst/>
              <a:gdLst/>
              <a:ahLst/>
              <a:cxnLst/>
              <a:rect r="r" b="b" t="t" l="l"/>
              <a:pathLst>
                <a:path h="1097280" w="20116800">
                  <a:moveTo>
                    <a:pt x="0" y="0"/>
                  </a:moveTo>
                  <a:lnTo>
                    <a:pt x="20116800" y="0"/>
                  </a:lnTo>
                  <a:lnTo>
                    <a:pt x="2011680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07225" r="0" b="-307225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19050"/>
              <a:ext cx="20116800" cy="11163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400"/>
                </a:lnSpc>
              </a:pPr>
              <a:r>
                <a:rPr lang="en-US" b="true" sz="4500">
                  <a:solidFill>
                    <a:srgbClr val="1A2540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Arquitetura do backend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234440" y="2400300"/>
            <a:ext cx="9875520" cy="1028700"/>
            <a:chOff x="0" y="0"/>
            <a:chExt cx="13167360" cy="13716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3167361" cy="1371600"/>
            </a:xfrm>
            <a:custGeom>
              <a:avLst/>
              <a:gdLst/>
              <a:ahLst/>
              <a:cxnLst/>
              <a:rect r="r" b="b" t="t" l="l"/>
              <a:pathLst>
                <a:path h="1371600" w="13167361">
                  <a:moveTo>
                    <a:pt x="0" y="0"/>
                  </a:moveTo>
                  <a:lnTo>
                    <a:pt x="13167361" y="0"/>
                  </a:lnTo>
                  <a:lnTo>
                    <a:pt x="13167361" y="1371600"/>
                  </a:lnTo>
                  <a:lnTo>
                    <a:pt x="0" y="1371600"/>
                  </a:lnTo>
                  <a:close/>
                </a:path>
              </a:pathLst>
            </a:custGeom>
            <a:solidFill>
              <a:srgbClr val="1A2540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577340" y="2510028"/>
            <a:ext cx="9189720" cy="411480"/>
            <a:chOff x="0" y="0"/>
            <a:chExt cx="12252960" cy="54864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2252960" cy="548640"/>
            </a:xfrm>
            <a:custGeom>
              <a:avLst/>
              <a:gdLst/>
              <a:ahLst/>
              <a:cxnLst/>
              <a:rect r="r" b="b" t="t" l="l"/>
              <a:pathLst>
                <a:path h="548640" w="12252960">
                  <a:moveTo>
                    <a:pt x="0" y="0"/>
                  </a:moveTo>
                  <a:lnTo>
                    <a:pt x="12252960" y="0"/>
                  </a:lnTo>
                  <a:lnTo>
                    <a:pt x="1225296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85165" r="0" b="-385165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38100"/>
              <a:ext cx="1225296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50"/>
                </a:lnSpc>
              </a:pPr>
              <a:r>
                <a:rPr lang="en-US" b="true" sz="1875">
                  <a:solidFill>
                    <a:srgbClr val="E8B15C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APP ANDROID</a:t>
              </a:r>
            </a:p>
          </p:txBody>
        </p:sp>
      </p:grpSp>
      <p:sp>
        <p:nvSpPr>
          <p:cNvPr name="TextBox 13" id="13"/>
          <p:cNvSpPr txBox="true"/>
          <p:nvPr/>
        </p:nvSpPr>
        <p:spPr>
          <a:xfrm rot="0">
            <a:off x="1577340" y="2851785"/>
            <a:ext cx="9189720" cy="5086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0"/>
              </a:lnSpc>
            </a:pPr>
            <a:r>
              <a:rPr lang="en-US" sz="1650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Kotlin + Jetpack Compose · MVVM · Retrofit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1234440" y="3609137"/>
            <a:ext cx="9875701" cy="1097099"/>
            <a:chOff x="0" y="0"/>
            <a:chExt cx="13167601" cy="1462799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3167613" cy="1462786"/>
            </a:xfrm>
            <a:custGeom>
              <a:avLst/>
              <a:gdLst/>
              <a:ahLst/>
              <a:cxnLst/>
              <a:rect r="r" b="b" t="t" l="l"/>
              <a:pathLst>
                <a:path h="1462786" w="13167613">
                  <a:moveTo>
                    <a:pt x="0" y="0"/>
                  </a:moveTo>
                  <a:lnTo>
                    <a:pt x="13167613" y="0"/>
                  </a:lnTo>
                  <a:lnTo>
                    <a:pt x="13167613" y="1462786"/>
                  </a:lnTo>
                  <a:lnTo>
                    <a:pt x="0" y="1462786"/>
                  </a:lnTo>
                  <a:close/>
                </a:path>
              </a:pathLst>
            </a:custGeom>
            <a:solidFill>
              <a:srgbClr val="F2F2F0"/>
            </a:solid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1577264" y="3698234"/>
            <a:ext cx="9189901" cy="411299"/>
            <a:chOff x="0" y="0"/>
            <a:chExt cx="12253201" cy="548399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2253200" cy="548400"/>
            </a:xfrm>
            <a:custGeom>
              <a:avLst/>
              <a:gdLst/>
              <a:ahLst/>
              <a:cxnLst/>
              <a:rect r="r" b="b" t="t" l="l"/>
              <a:pathLst>
                <a:path h="548400" w="12253200">
                  <a:moveTo>
                    <a:pt x="0" y="0"/>
                  </a:moveTo>
                  <a:lnTo>
                    <a:pt x="12253200" y="0"/>
                  </a:lnTo>
                  <a:lnTo>
                    <a:pt x="12253200" y="548400"/>
                  </a:lnTo>
                  <a:lnTo>
                    <a:pt x="0" y="5484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85364" r="0" b="-385364"/>
              </a:stretch>
            </a:blip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38100"/>
              <a:ext cx="12253201" cy="58649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50"/>
                </a:lnSpc>
              </a:pPr>
              <a:r>
                <a:rPr lang="en-US" b="true" sz="1875">
                  <a:solidFill>
                    <a:srgbClr val="C87D0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CONTROLLER</a:t>
              </a:r>
            </a:p>
          </p:txBody>
        </p:sp>
      </p:grpSp>
      <p:sp>
        <p:nvSpPr>
          <p:cNvPr name="TextBox 19" id="19"/>
          <p:cNvSpPr txBox="true"/>
          <p:nvPr/>
        </p:nvSpPr>
        <p:spPr>
          <a:xfrm rot="0">
            <a:off x="1577264" y="4039991"/>
            <a:ext cx="9189901" cy="5771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0"/>
              </a:lnSpc>
            </a:pPr>
            <a:r>
              <a:rPr lang="en-US" sz="1650">
                <a:solidFill>
                  <a:srgbClr val="1A2540"/>
                </a:solidFill>
                <a:latin typeface="Calibri (MS)"/>
                <a:ea typeface="Calibri (MS)"/>
                <a:cs typeface="Calibri (MS)"/>
                <a:sym typeface="Calibri (MS)"/>
              </a:rPr>
              <a:t>REST endpoints — Auth, Ideas, Projects, Orientations, Notifications, Users, Dashboard</a:t>
            </a:r>
          </a:p>
        </p:txBody>
      </p:sp>
      <p:grpSp>
        <p:nvGrpSpPr>
          <p:cNvPr name="Group 20" id="20"/>
          <p:cNvGrpSpPr/>
          <p:nvPr/>
        </p:nvGrpSpPr>
        <p:grpSpPr>
          <a:xfrm rot="0">
            <a:off x="1234440" y="4856321"/>
            <a:ext cx="9875701" cy="1097099"/>
            <a:chOff x="0" y="0"/>
            <a:chExt cx="13167601" cy="1462799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3167613" cy="1462786"/>
            </a:xfrm>
            <a:custGeom>
              <a:avLst/>
              <a:gdLst/>
              <a:ahLst/>
              <a:cxnLst/>
              <a:rect r="r" b="b" t="t" l="l"/>
              <a:pathLst>
                <a:path h="1462786" w="13167613">
                  <a:moveTo>
                    <a:pt x="0" y="0"/>
                  </a:moveTo>
                  <a:lnTo>
                    <a:pt x="13167613" y="0"/>
                  </a:lnTo>
                  <a:lnTo>
                    <a:pt x="13167613" y="1462786"/>
                  </a:lnTo>
                  <a:lnTo>
                    <a:pt x="0" y="1462786"/>
                  </a:lnTo>
                  <a:close/>
                </a:path>
              </a:pathLst>
            </a:custGeom>
            <a:solidFill>
              <a:srgbClr val="F2F2F0"/>
            </a:solidFill>
          </p:spPr>
        </p:sp>
      </p:grpSp>
      <p:grpSp>
        <p:nvGrpSpPr>
          <p:cNvPr name="Group 22" id="22"/>
          <p:cNvGrpSpPr/>
          <p:nvPr/>
        </p:nvGrpSpPr>
        <p:grpSpPr>
          <a:xfrm rot="0">
            <a:off x="1577340" y="4966049"/>
            <a:ext cx="9189901" cy="411299"/>
            <a:chOff x="0" y="0"/>
            <a:chExt cx="12253201" cy="548399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12253200" cy="548400"/>
            </a:xfrm>
            <a:custGeom>
              <a:avLst/>
              <a:gdLst/>
              <a:ahLst/>
              <a:cxnLst/>
              <a:rect r="r" b="b" t="t" l="l"/>
              <a:pathLst>
                <a:path h="548400" w="12253200">
                  <a:moveTo>
                    <a:pt x="0" y="0"/>
                  </a:moveTo>
                  <a:lnTo>
                    <a:pt x="12253200" y="0"/>
                  </a:lnTo>
                  <a:lnTo>
                    <a:pt x="12253200" y="548400"/>
                  </a:lnTo>
                  <a:lnTo>
                    <a:pt x="0" y="5484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85364" r="0" b="-385364"/>
              </a:stretch>
            </a:blip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38100"/>
              <a:ext cx="12253201" cy="58649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50"/>
                </a:lnSpc>
              </a:pPr>
              <a:r>
                <a:rPr lang="en-US" b="true" sz="1875">
                  <a:solidFill>
                    <a:srgbClr val="C87D0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SECURITY</a:t>
              </a:r>
            </a:p>
          </p:txBody>
        </p:sp>
      </p:grpSp>
      <p:sp>
        <p:nvSpPr>
          <p:cNvPr name="TextBox 25" id="25"/>
          <p:cNvSpPr txBox="true"/>
          <p:nvPr/>
        </p:nvSpPr>
        <p:spPr>
          <a:xfrm rot="0">
            <a:off x="1577340" y="5307806"/>
            <a:ext cx="9189901" cy="5771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0"/>
              </a:lnSpc>
            </a:pPr>
            <a:r>
              <a:rPr lang="en-US" sz="1650">
                <a:solidFill>
                  <a:srgbClr val="1A2540"/>
                </a:solidFill>
                <a:latin typeface="Calibri (MS)"/>
                <a:ea typeface="Calibri (MS)"/>
                <a:cs typeface="Calibri (MS)"/>
                <a:sym typeface="Calibri (MS)"/>
              </a:rPr>
              <a:t>Spring Security · Filtro JWT · @PreAuthorize por role (OPERADOR / GESTOR / LIDER)</a:t>
            </a:r>
          </a:p>
        </p:txBody>
      </p:sp>
      <p:grpSp>
        <p:nvGrpSpPr>
          <p:cNvPr name="Group 26" id="26"/>
          <p:cNvGrpSpPr/>
          <p:nvPr/>
        </p:nvGrpSpPr>
        <p:grpSpPr>
          <a:xfrm rot="0">
            <a:off x="1234364" y="6097095"/>
            <a:ext cx="9875701" cy="1097099"/>
            <a:chOff x="0" y="0"/>
            <a:chExt cx="13167601" cy="1462799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13167613" cy="1462786"/>
            </a:xfrm>
            <a:custGeom>
              <a:avLst/>
              <a:gdLst/>
              <a:ahLst/>
              <a:cxnLst/>
              <a:rect r="r" b="b" t="t" l="l"/>
              <a:pathLst>
                <a:path h="1462786" w="13167613">
                  <a:moveTo>
                    <a:pt x="0" y="0"/>
                  </a:moveTo>
                  <a:lnTo>
                    <a:pt x="13167613" y="0"/>
                  </a:lnTo>
                  <a:lnTo>
                    <a:pt x="13167613" y="1462786"/>
                  </a:lnTo>
                  <a:lnTo>
                    <a:pt x="0" y="1462786"/>
                  </a:lnTo>
                  <a:close/>
                </a:path>
              </a:pathLst>
            </a:custGeom>
            <a:solidFill>
              <a:srgbClr val="F2F2F0"/>
            </a:solidFill>
          </p:spPr>
        </p:sp>
      </p:grpSp>
      <p:grpSp>
        <p:nvGrpSpPr>
          <p:cNvPr name="Group 28" id="28"/>
          <p:cNvGrpSpPr/>
          <p:nvPr/>
        </p:nvGrpSpPr>
        <p:grpSpPr>
          <a:xfrm rot="0">
            <a:off x="1577264" y="6206823"/>
            <a:ext cx="9189901" cy="411299"/>
            <a:chOff x="0" y="0"/>
            <a:chExt cx="12253201" cy="548399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12253200" cy="548400"/>
            </a:xfrm>
            <a:custGeom>
              <a:avLst/>
              <a:gdLst/>
              <a:ahLst/>
              <a:cxnLst/>
              <a:rect r="r" b="b" t="t" l="l"/>
              <a:pathLst>
                <a:path h="548400" w="12253200">
                  <a:moveTo>
                    <a:pt x="0" y="0"/>
                  </a:moveTo>
                  <a:lnTo>
                    <a:pt x="12253200" y="0"/>
                  </a:lnTo>
                  <a:lnTo>
                    <a:pt x="12253200" y="548400"/>
                  </a:lnTo>
                  <a:lnTo>
                    <a:pt x="0" y="5484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85364" r="0" b="-385364"/>
              </a:stretch>
            </a:blipFill>
          </p:spPr>
        </p:sp>
        <p:sp>
          <p:nvSpPr>
            <p:cNvPr name="TextBox 30" id="30"/>
            <p:cNvSpPr txBox="true"/>
            <p:nvPr/>
          </p:nvSpPr>
          <p:spPr>
            <a:xfrm>
              <a:off x="0" y="-38100"/>
              <a:ext cx="12253201" cy="58649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50"/>
                </a:lnSpc>
              </a:pPr>
              <a:r>
                <a:rPr lang="en-US" b="true" sz="1875">
                  <a:solidFill>
                    <a:srgbClr val="C87D0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SERVICE</a:t>
              </a:r>
            </a:p>
          </p:txBody>
        </p:sp>
      </p:grpSp>
      <p:sp>
        <p:nvSpPr>
          <p:cNvPr name="TextBox 31" id="31"/>
          <p:cNvSpPr txBox="true"/>
          <p:nvPr/>
        </p:nvSpPr>
        <p:spPr>
          <a:xfrm rot="0">
            <a:off x="1577264" y="6548580"/>
            <a:ext cx="9189901" cy="5771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0"/>
              </a:lnSpc>
            </a:pPr>
            <a:r>
              <a:rPr lang="en-US" sz="1650">
                <a:solidFill>
                  <a:srgbClr val="1A2540"/>
                </a:solidFill>
                <a:latin typeface="Calibri (MS)"/>
                <a:ea typeface="Calibri (MS)"/>
                <a:cs typeface="Calibri (MS)"/>
                <a:sym typeface="Calibri (MS)"/>
              </a:rPr>
              <a:t>Regras de negócio · Gamificação · Enriquecimento de orientações</a:t>
            </a:r>
          </a:p>
        </p:txBody>
      </p:sp>
      <p:grpSp>
        <p:nvGrpSpPr>
          <p:cNvPr name="Group 32" id="32"/>
          <p:cNvGrpSpPr/>
          <p:nvPr/>
        </p:nvGrpSpPr>
        <p:grpSpPr>
          <a:xfrm rot="0">
            <a:off x="1234440" y="7334631"/>
            <a:ext cx="9875701" cy="1028700"/>
            <a:chOff x="0" y="0"/>
            <a:chExt cx="13167601" cy="137160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13167613" cy="1371600"/>
            </a:xfrm>
            <a:custGeom>
              <a:avLst/>
              <a:gdLst/>
              <a:ahLst/>
              <a:cxnLst/>
              <a:rect r="r" b="b" t="t" l="l"/>
              <a:pathLst>
                <a:path h="1371600" w="13167613">
                  <a:moveTo>
                    <a:pt x="0" y="0"/>
                  </a:moveTo>
                  <a:lnTo>
                    <a:pt x="13167613" y="0"/>
                  </a:lnTo>
                  <a:lnTo>
                    <a:pt x="13167613" y="1371600"/>
                  </a:lnTo>
                  <a:lnTo>
                    <a:pt x="0" y="1371600"/>
                  </a:lnTo>
                  <a:close/>
                </a:path>
              </a:pathLst>
            </a:custGeom>
            <a:solidFill>
              <a:srgbClr val="F2F2F0"/>
            </a:solidFill>
          </p:spPr>
        </p:sp>
      </p:grpSp>
      <p:grpSp>
        <p:nvGrpSpPr>
          <p:cNvPr name="Group 34" id="34"/>
          <p:cNvGrpSpPr/>
          <p:nvPr/>
        </p:nvGrpSpPr>
        <p:grpSpPr>
          <a:xfrm rot="0">
            <a:off x="1577340" y="7444359"/>
            <a:ext cx="9189901" cy="411299"/>
            <a:chOff x="0" y="0"/>
            <a:chExt cx="12253201" cy="548399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12253200" cy="548400"/>
            </a:xfrm>
            <a:custGeom>
              <a:avLst/>
              <a:gdLst/>
              <a:ahLst/>
              <a:cxnLst/>
              <a:rect r="r" b="b" t="t" l="l"/>
              <a:pathLst>
                <a:path h="548400" w="12253200">
                  <a:moveTo>
                    <a:pt x="0" y="0"/>
                  </a:moveTo>
                  <a:lnTo>
                    <a:pt x="12253200" y="0"/>
                  </a:lnTo>
                  <a:lnTo>
                    <a:pt x="12253200" y="548400"/>
                  </a:lnTo>
                  <a:lnTo>
                    <a:pt x="0" y="5484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85364" r="0" b="-385364"/>
              </a:stretch>
            </a:blipFill>
          </p:spPr>
        </p:sp>
        <p:sp>
          <p:nvSpPr>
            <p:cNvPr name="TextBox 36" id="36"/>
            <p:cNvSpPr txBox="true"/>
            <p:nvPr/>
          </p:nvSpPr>
          <p:spPr>
            <a:xfrm>
              <a:off x="0" y="-38100"/>
              <a:ext cx="12253201" cy="58649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50"/>
                </a:lnSpc>
              </a:pPr>
              <a:r>
                <a:rPr lang="en-US" b="true" sz="1875">
                  <a:solidFill>
                    <a:srgbClr val="C87D0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REPOSITORY</a:t>
              </a:r>
            </a:p>
          </p:txBody>
        </p:sp>
      </p:grpSp>
      <p:sp>
        <p:nvSpPr>
          <p:cNvPr name="TextBox 37" id="37"/>
          <p:cNvSpPr txBox="true"/>
          <p:nvPr/>
        </p:nvSpPr>
        <p:spPr>
          <a:xfrm rot="0">
            <a:off x="1577340" y="7786116"/>
            <a:ext cx="9189901" cy="5087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0"/>
              </a:lnSpc>
            </a:pPr>
            <a:r>
              <a:rPr lang="en-US" sz="1650">
                <a:solidFill>
                  <a:srgbClr val="1A2540"/>
                </a:solidFill>
                <a:latin typeface="Calibri (MS)"/>
                <a:ea typeface="Calibri (MS)"/>
                <a:cs typeface="Calibri (MS)"/>
                <a:sym typeface="Calibri (MS)"/>
              </a:rPr>
              <a:t>Spring Data MongoDB</a:t>
            </a:r>
          </a:p>
        </p:txBody>
      </p:sp>
      <p:grpSp>
        <p:nvGrpSpPr>
          <p:cNvPr name="Group 38" id="38"/>
          <p:cNvGrpSpPr/>
          <p:nvPr/>
        </p:nvGrpSpPr>
        <p:grpSpPr>
          <a:xfrm rot="0">
            <a:off x="1234440" y="8503758"/>
            <a:ext cx="9875701" cy="1028700"/>
            <a:chOff x="0" y="0"/>
            <a:chExt cx="13167601" cy="1371600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13167613" cy="1371600"/>
            </a:xfrm>
            <a:custGeom>
              <a:avLst/>
              <a:gdLst/>
              <a:ahLst/>
              <a:cxnLst/>
              <a:rect r="r" b="b" t="t" l="l"/>
              <a:pathLst>
                <a:path h="1371600" w="13167613">
                  <a:moveTo>
                    <a:pt x="0" y="0"/>
                  </a:moveTo>
                  <a:lnTo>
                    <a:pt x="13167613" y="0"/>
                  </a:lnTo>
                  <a:lnTo>
                    <a:pt x="13167613" y="1371600"/>
                  </a:lnTo>
                  <a:lnTo>
                    <a:pt x="0" y="1371600"/>
                  </a:lnTo>
                  <a:close/>
                </a:path>
              </a:pathLst>
            </a:custGeom>
            <a:solidFill>
              <a:srgbClr val="1A2540"/>
            </a:solidFill>
          </p:spPr>
        </p:sp>
      </p:grpSp>
      <p:grpSp>
        <p:nvGrpSpPr>
          <p:cNvPr name="Group 40" id="40"/>
          <p:cNvGrpSpPr/>
          <p:nvPr/>
        </p:nvGrpSpPr>
        <p:grpSpPr>
          <a:xfrm rot="0">
            <a:off x="1577340" y="8613486"/>
            <a:ext cx="9189901" cy="411299"/>
            <a:chOff x="0" y="0"/>
            <a:chExt cx="12253201" cy="548399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12253200" cy="548400"/>
            </a:xfrm>
            <a:custGeom>
              <a:avLst/>
              <a:gdLst/>
              <a:ahLst/>
              <a:cxnLst/>
              <a:rect r="r" b="b" t="t" l="l"/>
              <a:pathLst>
                <a:path h="548400" w="12253200">
                  <a:moveTo>
                    <a:pt x="0" y="0"/>
                  </a:moveTo>
                  <a:lnTo>
                    <a:pt x="12253200" y="0"/>
                  </a:lnTo>
                  <a:lnTo>
                    <a:pt x="12253200" y="548400"/>
                  </a:lnTo>
                  <a:lnTo>
                    <a:pt x="0" y="5484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85364" r="0" b="-385364"/>
              </a:stretch>
            </a:blipFill>
          </p:spPr>
        </p:sp>
        <p:sp>
          <p:nvSpPr>
            <p:cNvPr name="TextBox 42" id="42"/>
            <p:cNvSpPr txBox="true"/>
            <p:nvPr/>
          </p:nvSpPr>
          <p:spPr>
            <a:xfrm>
              <a:off x="0" y="-38100"/>
              <a:ext cx="12253201" cy="58649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50"/>
                </a:lnSpc>
              </a:pPr>
              <a:r>
                <a:rPr lang="en-US" b="true" sz="1875">
                  <a:solidFill>
                    <a:srgbClr val="E8B15C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MONGODB ATLAS</a:t>
              </a:r>
            </a:p>
          </p:txBody>
        </p:sp>
      </p:grpSp>
      <p:sp>
        <p:nvSpPr>
          <p:cNvPr name="TextBox 43" id="43"/>
          <p:cNvSpPr txBox="true"/>
          <p:nvPr/>
        </p:nvSpPr>
        <p:spPr>
          <a:xfrm rot="0">
            <a:off x="1577340" y="8955243"/>
            <a:ext cx="9189901" cy="5087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0"/>
              </a:lnSpc>
            </a:pPr>
            <a:r>
              <a:rPr lang="en-US" sz="1650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Banco na nuvem — coleções: users, ideas, projects, orientations, notifications</a:t>
            </a:r>
          </a:p>
        </p:txBody>
      </p:sp>
      <p:sp>
        <p:nvSpPr>
          <p:cNvPr name="AutoShape 44" id="44"/>
          <p:cNvSpPr/>
          <p:nvPr/>
        </p:nvSpPr>
        <p:spPr>
          <a:xfrm flipH="true">
            <a:off x="6172214" y="3360420"/>
            <a:ext cx="57291" cy="337814"/>
          </a:xfrm>
          <a:prstGeom prst="line">
            <a:avLst/>
          </a:prstGeom>
          <a:ln cap="rnd" w="19050">
            <a:solidFill>
              <a:srgbClr val="5B6472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AutoShape 45" id="45"/>
          <p:cNvSpPr/>
          <p:nvPr/>
        </p:nvSpPr>
        <p:spPr>
          <a:xfrm flipH="true">
            <a:off x="6172290" y="4598058"/>
            <a:ext cx="50286" cy="367991"/>
          </a:xfrm>
          <a:prstGeom prst="line">
            <a:avLst/>
          </a:prstGeom>
          <a:ln cap="rnd" w="19050">
            <a:solidFill>
              <a:srgbClr val="5B6472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AutoShape 46" id="46"/>
          <p:cNvSpPr/>
          <p:nvPr/>
        </p:nvSpPr>
        <p:spPr>
          <a:xfrm flipH="true">
            <a:off x="6172214" y="5865877"/>
            <a:ext cx="76" cy="340947"/>
          </a:xfrm>
          <a:prstGeom prst="line">
            <a:avLst/>
          </a:prstGeom>
          <a:ln cap="rnd" w="19050">
            <a:solidFill>
              <a:srgbClr val="5B6472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AutoShape 47" id="47"/>
          <p:cNvSpPr/>
          <p:nvPr/>
        </p:nvSpPr>
        <p:spPr>
          <a:xfrm flipH="true">
            <a:off x="6172290" y="7106655"/>
            <a:ext cx="29467" cy="337704"/>
          </a:xfrm>
          <a:prstGeom prst="line">
            <a:avLst/>
          </a:prstGeom>
          <a:ln cap="rnd" w="19050">
            <a:solidFill>
              <a:srgbClr val="5B6472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AutoShape 48" id="48"/>
          <p:cNvSpPr/>
          <p:nvPr/>
        </p:nvSpPr>
        <p:spPr>
          <a:xfrm flipH="true">
            <a:off x="6172290" y="8294837"/>
            <a:ext cx="36484" cy="318649"/>
          </a:xfrm>
          <a:prstGeom prst="line">
            <a:avLst/>
          </a:prstGeom>
          <a:ln cap="rnd" w="19050">
            <a:solidFill>
              <a:srgbClr val="5B6472"/>
            </a:solidFill>
            <a:prstDash val="solid"/>
            <a:headEnd type="none" len="sm" w="sm"/>
            <a:tailEnd type="triangle" len="med" w="lg"/>
          </a:ln>
        </p:spPr>
      </p:sp>
      <p:grpSp>
        <p:nvGrpSpPr>
          <p:cNvPr name="Group 49" id="49"/>
          <p:cNvGrpSpPr/>
          <p:nvPr/>
        </p:nvGrpSpPr>
        <p:grpSpPr>
          <a:xfrm rot="0">
            <a:off x="11795779" y="2400300"/>
            <a:ext cx="5801849" cy="2456097"/>
            <a:chOff x="0" y="0"/>
            <a:chExt cx="7735799" cy="3274797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7735824" cy="3274822"/>
            </a:xfrm>
            <a:custGeom>
              <a:avLst/>
              <a:gdLst/>
              <a:ahLst/>
              <a:cxnLst/>
              <a:rect r="r" b="b" t="t" l="l"/>
              <a:pathLst>
                <a:path h="3274822" w="7735824">
                  <a:moveTo>
                    <a:pt x="0" y="0"/>
                  </a:moveTo>
                  <a:lnTo>
                    <a:pt x="7735824" y="0"/>
                  </a:lnTo>
                  <a:lnTo>
                    <a:pt x="7735824" y="3274822"/>
                  </a:lnTo>
                  <a:lnTo>
                    <a:pt x="0" y="3274822"/>
                  </a:lnTo>
                  <a:close/>
                </a:path>
              </a:pathLst>
            </a:custGeom>
            <a:solidFill>
              <a:srgbClr val="C87D0E"/>
            </a:solidFill>
          </p:spPr>
        </p:sp>
      </p:grpSp>
      <p:grpSp>
        <p:nvGrpSpPr>
          <p:cNvPr name="Group 51" id="51"/>
          <p:cNvGrpSpPr/>
          <p:nvPr/>
        </p:nvGrpSpPr>
        <p:grpSpPr>
          <a:xfrm rot="0">
            <a:off x="12097512" y="2674620"/>
            <a:ext cx="5198364" cy="480060"/>
            <a:chOff x="0" y="0"/>
            <a:chExt cx="6931152" cy="640080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6931152" cy="640080"/>
            </a:xfrm>
            <a:custGeom>
              <a:avLst/>
              <a:gdLst/>
              <a:ahLst/>
              <a:cxnLst/>
              <a:rect r="r" b="b" t="t" l="l"/>
              <a:pathLst>
                <a:path h="640080" w="6931152">
                  <a:moveTo>
                    <a:pt x="0" y="0"/>
                  </a:moveTo>
                  <a:lnTo>
                    <a:pt x="6931152" y="0"/>
                  </a:lnTo>
                  <a:lnTo>
                    <a:pt x="6931152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60995" r="0" b="-160995"/>
              </a:stretch>
            </a:blipFill>
          </p:spPr>
        </p:sp>
        <p:sp>
          <p:nvSpPr>
            <p:cNvPr name="TextBox 53" id="53"/>
            <p:cNvSpPr txBox="true"/>
            <p:nvPr/>
          </p:nvSpPr>
          <p:spPr>
            <a:xfrm>
              <a:off x="0" y="-38100"/>
              <a:ext cx="6931152" cy="6781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70"/>
                </a:lnSpc>
              </a:pPr>
              <a:r>
                <a:rPr lang="en-US" b="true" sz="1725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HOSPEDADO NO RENDER</a:t>
              </a:r>
            </a:p>
          </p:txBody>
        </p:sp>
      </p:grpSp>
      <p:sp>
        <p:nvSpPr>
          <p:cNvPr name="TextBox 54" id="54"/>
          <p:cNvSpPr txBox="true"/>
          <p:nvPr/>
        </p:nvSpPr>
        <p:spPr>
          <a:xfrm rot="0">
            <a:off x="12097512" y="3185160"/>
            <a:ext cx="5198364" cy="18211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70"/>
              </a:lnSpc>
            </a:pPr>
            <a:r>
              <a:rPr lang="en-US" sz="1725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Deploy via Docker, direto do GitHub. HTTPS gratuito, sem depender de máquina local.</a:t>
            </a:r>
          </a:p>
        </p:txBody>
      </p:sp>
      <p:grpSp>
        <p:nvGrpSpPr>
          <p:cNvPr name="Group 55" id="55"/>
          <p:cNvGrpSpPr/>
          <p:nvPr/>
        </p:nvGrpSpPr>
        <p:grpSpPr>
          <a:xfrm rot="0">
            <a:off x="11775215" y="5239826"/>
            <a:ext cx="5801849" cy="2811599"/>
            <a:chOff x="0" y="0"/>
            <a:chExt cx="7735799" cy="3748799"/>
          </a:xfrm>
        </p:grpSpPr>
        <p:sp>
          <p:nvSpPr>
            <p:cNvPr name="Freeform 56" id="56"/>
            <p:cNvSpPr/>
            <p:nvPr/>
          </p:nvSpPr>
          <p:spPr>
            <a:xfrm flipH="false" flipV="false" rot="0">
              <a:off x="0" y="0"/>
              <a:ext cx="7735824" cy="3748786"/>
            </a:xfrm>
            <a:custGeom>
              <a:avLst/>
              <a:gdLst/>
              <a:ahLst/>
              <a:cxnLst/>
              <a:rect r="r" b="b" t="t" l="l"/>
              <a:pathLst>
                <a:path h="3748786" w="7735824">
                  <a:moveTo>
                    <a:pt x="0" y="0"/>
                  </a:moveTo>
                  <a:lnTo>
                    <a:pt x="7735824" y="0"/>
                  </a:lnTo>
                  <a:lnTo>
                    <a:pt x="7735824" y="3748786"/>
                  </a:lnTo>
                  <a:lnTo>
                    <a:pt x="0" y="3748786"/>
                  </a:lnTo>
                  <a:close/>
                </a:path>
              </a:pathLst>
            </a:custGeom>
            <a:solidFill>
              <a:srgbClr val="273657"/>
            </a:solidFill>
          </p:spPr>
        </p:sp>
      </p:grpSp>
      <p:grpSp>
        <p:nvGrpSpPr>
          <p:cNvPr name="Group 57" id="57"/>
          <p:cNvGrpSpPr/>
          <p:nvPr/>
        </p:nvGrpSpPr>
        <p:grpSpPr>
          <a:xfrm rot="0">
            <a:off x="12076967" y="5514146"/>
            <a:ext cx="5198402" cy="480146"/>
            <a:chOff x="0" y="0"/>
            <a:chExt cx="6931203" cy="640194"/>
          </a:xfrm>
        </p:grpSpPr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6931200" cy="640200"/>
            </a:xfrm>
            <a:custGeom>
              <a:avLst/>
              <a:gdLst/>
              <a:ahLst/>
              <a:cxnLst/>
              <a:rect r="r" b="b" t="t" l="l"/>
              <a:pathLst>
                <a:path h="640200" w="6931200">
                  <a:moveTo>
                    <a:pt x="0" y="0"/>
                  </a:moveTo>
                  <a:lnTo>
                    <a:pt x="6931200" y="0"/>
                  </a:lnTo>
                  <a:lnTo>
                    <a:pt x="6931200" y="640200"/>
                  </a:lnTo>
                  <a:lnTo>
                    <a:pt x="0" y="6402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60957" r="0" b="-160956"/>
              </a:stretch>
            </a:blipFill>
          </p:spPr>
        </p:sp>
        <p:sp>
          <p:nvSpPr>
            <p:cNvPr name="TextBox 59" id="59"/>
            <p:cNvSpPr txBox="true"/>
            <p:nvPr/>
          </p:nvSpPr>
          <p:spPr>
            <a:xfrm>
              <a:off x="0" y="-38100"/>
              <a:ext cx="6931203" cy="67829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70"/>
                </a:lnSpc>
              </a:pPr>
              <a:r>
                <a:rPr lang="en-US" b="true" sz="1725">
                  <a:solidFill>
                    <a:srgbClr val="E8B15C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GOOGLE GEMINI API</a:t>
              </a:r>
            </a:p>
          </p:txBody>
        </p:sp>
      </p:grpSp>
      <p:sp>
        <p:nvSpPr>
          <p:cNvPr name="TextBox 60" id="60"/>
          <p:cNvSpPr txBox="true"/>
          <p:nvPr/>
        </p:nvSpPr>
        <p:spPr>
          <a:xfrm rot="0">
            <a:off x="12076967" y="6024686"/>
            <a:ext cx="5198402" cy="18209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70"/>
              </a:lnSpc>
            </a:pPr>
            <a:r>
              <a:rPr lang="en-US" sz="1725">
                <a:solidFill>
                  <a:srgbClr val="E3E7F2"/>
                </a:solidFill>
                <a:latin typeface="Calibri (MS)"/>
                <a:ea typeface="Calibri (MS)"/>
                <a:cs typeface="Calibri (MS)"/>
                <a:sym typeface="Calibri (MS)"/>
              </a:rPr>
              <a:t>Chamado pelo Service ao pontuar uma ideia — serviço externo de IA generativa.</a:t>
            </a:r>
          </a:p>
        </p:txBody>
      </p:sp>
      <p:sp>
        <p:nvSpPr>
          <p:cNvPr name="AutoShape 61" id="61"/>
          <p:cNvSpPr/>
          <p:nvPr/>
        </p:nvSpPr>
        <p:spPr>
          <a:xfrm flipV="true">
            <a:off x="11110065" y="6618122"/>
            <a:ext cx="685714" cy="27522"/>
          </a:xfrm>
          <a:prstGeom prst="line">
            <a:avLst/>
          </a:prstGeom>
          <a:ln cap="rnd" w="19050">
            <a:solidFill>
              <a:srgbClr val="5B6472"/>
            </a:solidFill>
            <a:prstDash val="solid"/>
            <a:headEnd type="none" len="sm" w="sm"/>
            <a:tailEnd type="triangle" len="med" w="lg"/>
          </a:ln>
        </p:spPr>
      </p:sp>
      <p:grpSp>
        <p:nvGrpSpPr>
          <p:cNvPr name="Group 62" id="62"/>
          <p:cNvGrpSpPr/>
          <p:nvPr/>
        </p:nvGrpSpPr>
        <p:grpSpPr>
          <a:xfrm rot="0">
            <a:off x="17323308" y="9669780"/>
            <a:ext cx="685800" cy="411480"/>
            <a:chOff x="0" y="0"/>
            <a:chExt cx="914400" cy="548640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914400" cy="548640"/>
            </a:xfrm>
            <a:custGeom>
              <a:avLst/>
              <a:gdLst/>
              <a:ahLst/>
              <a:cxnLst/>
              <a:rect r="r" b="b" t="t" l="l"/>
              <a:pathLst>
                <a:path h="54864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26982" t="0" r="-26982" b="0"/>
              </a:stretch>
            </a:blipFill>
          </p:spPr>
        </p:sp>
        <p:sp>
          <p:nvSpPr>
            <p:cNvPr name="TextBox 64" id="64"/>
            <p:cNvSpPr txBox="true"/>
            <p:nvPr/>
          </p:nvSpPr>
          <p:spPr>
            <a:xfrm>
              <a:off x="0" y="-38100"/>
              <a:ext cx="91440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800"/>
                </a:lnSpc>
              </a:pPr>
              <a:r>
                <a:rPr lang="en-US" sz="1500">
                  <a:solidFill>
                    <a:srgbClr val="5B6472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11</a:t>
              </a:r>
            </a:p>
          </p:txBody>
        </p:sp>
      </p:grp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234440" y="685800"/>
            <a:ext cx="10972800" cy="480060"/>
            <a:chOff x="0" y="0"/>
            <a:chExt cx="14630400" cy="64008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4630400" cy="640080"/>
            </a:xfrm>
            <a:custGeom>
              <a:avLst/>
              <a:gdLst/>
              <a:ahLst/>
              <a:cxnLst/>
              <a:rect r="r" b="b" t="t" l="l"/>
              <a:pathLst>
                <a:path h="640080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95372" r="0" b="-395372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14630400" cy="6877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b="true" sz="1950">
                  <a:solidFill>
                    <a:srgbClr val="C87D0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SEGURANÇA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234440" y="1165860"/>
            <a:ext cx="15087600" cy="822960"/>
            <a:chOff x="0" y="0"/>
            <a:chExt cx="20116800" cy="109728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0116800" cy="1097280"/>
            </a:xfrm>
            <a:custGeom>
              <a:avLst/>
              <a:gdLst/>
              <a:ahLst/>
              <a:cxnLst/>
              <a:rect r="r" b="b" t="t" l="l"/>
              <a:pathLst>
                <a:path h="1097280" w="20116800">
                  <a:moveTo>
                    <a:pt x="0" y="0"/>
                  </a:moveTo>
                  <a:lnTo>
                    <a:pt x="20116800" y="0"/>
                  </a:lnTo>
                  <a:lnTo>
                    <a:pt x="2011680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07225" r="0" b="-307225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19050"/>
              <a:ext cx="20116800" cy="11163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400"/>
                </a:lnSpc>
              </a:pPr>
              <a:r>
                <a:rPr lang="en-US" b="true" sz="4500">
                  <a:solidFill>
                    <a:srgbClr val="1A2540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Autenticação e permissões por perfil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234440" y="2057400"/>
            <a:ext cx="15087600" cy="685800"/>
            <a:chOff x="0" y="0"/>
            <a:chExt cx="20116800" cy="9144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0116800" cy="914400"/>
            </a:xfrm>
            <a:custGeom>
              <a:avLst/>
              <a:gdLst/>
              <a:ahLst/>
              <a:cxnLst/>
              <a:rect r="r" b="b" t="t" l="l"/>
              <a:pathLst>
                <a:path h="914400" w="20116800">
                  <a:moveTo>
                    <a:pt x="0" y="0"/>
                  </a:moveTo>
                  <a:lnTo>
                    <a:pt x="20116800" y="0"/>
                  </a:lnTo>
                  <a:lnTo>
                    <a:pt x="2011680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78670" r="0" b="-378670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47625"/>
              <a:ext cx="20116800" cy="9620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5B6472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JWT assinado pelo backend, expira em 24h. Cada endpoint valida o role via Spring Security antes de executar.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234440" y="3429000"/>
            <a:ext cx="4997196" cy="1165860"/>
            <a:chOff x="0" y="0"/>
            <a:chExt cx="6662928" cy="155448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6662928" cy="1554480"/>
            </a:xfrm>
            <a:custGeom>
              <a:avLst/>
              <a:gdLst/>
              <a:ahLst/>
              <a:cxnLst/>
              <a:rect r="r" b="b" t="t" l="l"/>
              <a:pathLst>
                <a:path h="1554480" w="6662928">
                  <a:moveTo>
                    <a:pt x="0" y="0"/>
                  </a:moveTo>
                  <a:lnTo>
                    <a:pt x="6662928" y="0"/>
                  </a:lnTo>
                  <a:lnTo>
                    <a:pt x="6662928" y="1554480"/>
                  </a:lnTo>
                  <a:lnTo>
                    <a:pt x="0" y="1554480"/>
                  </a:lnTo>
                  <a:close/>
                </a:path>
              </a:pathLst>
            </a:custGeom>
            <a:solidFill>
              <a:srgbClr val="1A2540"/>
            </a:solid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1234440" y="3429000"/>
            <a:ext cx="4997196" cy="1165860"/>
            <a:chOff x="0" y="0"/>
            <a:chExt cx="6662928" cy="155448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6662928" cy="1554480"/>
            </a:xfrm>
            <a:custGeom>
              <a:avLst/>
              <a:gdLst/>
              <a:ahLst/>
              <a:cxnLst/>
              <a:rect r="r" b="b" t="t" l="l"/>
              <a:pathLst>
                <a:path h="1554480" w="6662928">
                  <a:moveTo>
                    <a:pt x="0" y="0"/>
                  </a:moveTo>
                  <a:lnTo>
                    <a:pt x="6662928" y="0"/>
                  </a:lnTo>
                  <a:lnTo>
                    <a:pt x="6662928" y="1554480"/>
                  </a:lnTo>
                  <a:lnTo>
                    <a:pt x="0" y="15544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3518" r="0" b="-33518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19050"/>
              <a:ext cx="6662928" cy="15735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600"/>
                </a:lnSpc>
              </a:pPr>
              <a:r>
                <a:rPr lang="en-US" b="true" sz="3000">
                  <a:solidFill>
                    <a:srgbClr val="FFFFF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OPERADOR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1234440" y="4732020"/>
            <a:ext cx="4997196" cy="4869180"/>
            <a:chOff x="0" y="0"/>
            <a:chExt cx="6662928" cy="649224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6662928" cy="6492240"/>
            </a:xfrm>
            <a:custGeom>
              <a:avLst/>
              <a:gdLst/>
              <a:ahLst/>
              <a:cxnLst/>
              <a:rect r="r" b="b" t="t" l="l"/>
              <a:pathLst>
                <a:path h="6492240" w="6662928">
                  <a:moveTo>
                    <a:pt x="0" y="0"/>
                  </a:moveTo>
                  <a:lnTo>
                    <a:pt x="6662928" y="0"/>
                  </a:lnTo>
                  <a:lnTo>
                    <a:pt x="6662928" y="6492240"/>
                  </a:lnTo>
                  <a:lnTo>
                    <a:pt x="0" y="6492240"/>
                  </a:lnTo>
                  <a:close/>
                </a:path>
              </a:pathLst>
            </a:custGeom>
            <a:solidFill>
              <a:srgbClr val="F2F2F0"/>
            </a:solid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1645920" y="5157216"/>
            <a:ext cx="137160" cy="137160"/>
            <a:chOff x="0" y="0"/>
            <a:chExt cx="182880" cy="18288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82880" cy="182880"/>
            </a:xfrm>
            <a:custGeom>
              <a:avLst/>
              <a:gdLst/>
              <a:ahLst/>
              <a:cxnLst/>
              <a:rect r="r" b="b" t="t" l="l"/>
              <a:pathLst>
                <a:path h="182880" w="182880">
                  <a:moveTo>
                    <a:pt x="0" y="91440"/>
                  </a:moveTo>
                  <a:cubicBezTo>
                    <a:pt x="0" y="40894"/>
                    <a:pt x="40894" y="0"/>
                    <a:pt x="91440" y="0"/>
                  </a:cubicBezTo>
                  <a:cubicBezTo>
                    <a:pt x="141986" y="0"/>
                    <a:pt x="182880" y="40894"/>
                    <a:pt x="182880" y="91440"/>
                  </a:cubicBezTo>
                  <a:cubicBezTo>
                    <a:pt x="182880" y="141986"/>
                    <a:pt x="141986" y="182880"/>
                    <a:pt x="91440" y="182880"/>
                  </a:cubicBezTo>
                  <a:cubicBezTo>
                    <a:pt x="40894" y="182880"/>
                    <a:pt x="0" y="141986"/>
                    <a:pt x="0" y="91440"/>
                  </a:cubicBezTo>
                  <a:close/>
                </a:path>
              </a:pathLst>
            </a:custGeom>
            <a:solidFill>
              <a:srgbClr val="1A2540"/>
            </a:solidFill>
          </p:spPr>
        </p:sp>
      </p:grpSp>
      <p:sp>
        <p:nvSpPr>
          <p:cNvPr name="TextBox 20" id="20"/>
          <p:cNvSpPr txBox="true"/>
          <p:nvPr/>
        </p:nvSpPr>
        <p:spPr>
          <a:xfrm rot="0">
            <a:off x="1963503" y="5028428"/>
            <a:ext cx="3831298" cy="4493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50"/>
              </a:lnSpc>
            </a:pPr>
            <a:r>
              <a:rPr lang="en-US" sz="1875">
                <a:solidFill>
                  <a:srgbClr val="1A2540"/>
                </a:solidFill>
                <a:latin typeface="Calibri (MS)"/>
                <a:ea typeface="Calibri (MS)"/>
                <a:cs typeface="Calibri (MS)"/>
                <a:sym typeface="Calibri (MS)"/>
              </a:rPr>
              <a:t>CRUD completo das próprias ideias</a:t>
            </a:r>
          </a:p>
        </p:txBody>
      </p:sp>
      <p:grpSp>
        <p:nvGrpSpPr>
          <p:cNvPr name="Group 21" id="21"/>
          <p:cNvGrpSpPr/>
          <p:nvPr/>
        </p:nvGrpSpPr>
        <p:grpSpPr>
          <a:xfrm rot="0">
            <a:off x="1645920" y="6460236"/>
            <a:ext cx="137160" cy="137160"/>
            <a:chOff x="0" y="0"/>
            <a:chExt cx="182880" cy="18288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182880" cy="182880"/>
            </a:xfrm>
            <a:custGeom>
              <a:avLst/>
              <a:gdLst/>
              <a:ahLst/>
              <a:cxnLst/>
              <a:rect r="r" b="b" t="t" l="l"/>
              <a:pathLst>
                <a:path h="182880" w="182880">
                  <a:moveTo>
                    <a:pt x="0" y="91440"/>
                  </a:moveTo>
                  <a:cubicBezTo>
                    <a:pt x="0" y="40894"/>
                    <a:pt x="40894" y="0"/>
                    <a:pt x="91440" y="0"/>
                  </a:cubicBezTo>
                  <a:cubicBezTo>
                    <a:pt x="141986" y="0"/>
                    <a:pt x="182880" y="40894"/>
                    <a:pt x="182880" y="91440"/>
                  </a:cubicBezTo>
                  <a:cubicBezTo>
                    <a:pt x="182880" y="141986"/>
                    <a:pt x="141986" y="182880"/>
                    <a:pt x="91440" y="182880"/>
                  </a:cubicBezTo>
                  <a:cubicBezTo>
                    <a:pt x="40894" y="182880"/>
                    <a:pt x="0" y="141986"/>
                    <a:pt x="0" y="91440"/>
                  </a:cubicBezTo>
                  <a:close/>
                </a:path>
              </a:pathLst>
            </a:custGeom>
            <a:solidFill>
              <a:srgbClr val="1A2540"/>
            </a:solidFill>
          </p:spPr>
        </p:sp>
      </p:grpSp>
      <p:sp>
        <p:nvSpPr>
          <p:cNvPr name="TextBox 23" id="23"/>
          <p:cNvSpPr txBox="true"/>
          <p:nvPr/>
        </p:nvSpPr>
        <p:spPr>
          <a:xfrm rot="0">
            <a:off x="1988810" y="6331458"/>
            <a:ext cx="3831298" cy="3675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50"/>
              </a:lnSpc>
            </a:pPr>
            <a:r>
              <a:rPr lang="en-US" sz="1875">
                <a:solidFill>
                  <a:srgbClr val="1A2540"/>
                </a:solidFill>
                <a:latin typeface="Calibri (MS)"/>
                <a:ea typeface="Calibri (MS)"/>
                <a:cs typeface="Calibri (MS)"/>
                <a:sym typeface="Calibri (MS)"/>
              </a:rPr>
              <a:t>Consulta projetos e orientações</a:t>
            </a:r>
          </a:p>
        </p:txBody>
      </p:sp>
      <p:grpSp>
        <p:nvGrpSpPr>
          <p:cNvPr name="Group 24" id="24"/>
          <p:cNvGrpSpPr/>
          <p:nvPr/>
        </p:nvGrpSpPr>
        <p:grpSpPr>
          <a:xfrm rot="0">
            <a:off x="6643116" y="3429000"/>
            <a:ext cx="4997196" cy="1165860"/>
            <a:chOff x="0" y="0"/>
            <a:chExt cx="6662928" cy="155448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6662928" cy="1554480"/>
            </a:xfrm>
            <a:custGeom>
              <a:avLst/>
              <a:gdLst/>
              <a:ahLst/>
              <a:cxnLst/>
              <a:rect r="r" b="b" t="t" l="l"/>
              <a:pathLst>
                <a:path h="1554480" w="6662928">
                  <a:moveTo>
                    <a:pt x="0" y="0"/>
                  </a:moveTo>
                  <a:lnTo>
                    <a:pt x="6662928" y="0"/>
                  </a:lnTo>
                  <a:lnTo>
                    <a:pt x="6662928" y="1554480"/>
                  </a:lnTo>
                  <a:lnTo>
                    <a:pt x="0" y="1554480"/>
                  </a:lnTo>
                  <a:close/>
                </a:path>
              </a:pathLst>
            </a:custGeom>
            <a:solidFill>
              <a:srgbClr val="C87D0E"/>
            </a:solid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6643116" y="3429000"/>
            <a:ext cx="4997196" cy="1165860"/>
            <a:chOff x="0" y="0"/>
            <a:chExt cx="6662928" cy="155448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6662928" cy="1554480"/>
            </a:xfrm>
            <a:custGeom>
              <a:avLst/>
              <a:gdLst/>
              <a:ahLst/>
              <a:cxnLst/>
              <a:rect r="r" b="b" t="t" l="l"/>
              <a:pathLst>
                <a:path h="1554480" w="6662928">
                  <a:moveTo>
                    <a:pt x="0" y="0"/>
                  </a:moveTo>
                  <a:lnTo>
                    <a:pt x="6662928" y="0"/>
                  </a:lnTo>
                  <a:lnTo>
                    <a:pt x="6662928" y="1554480"/>
                  </a:lnTo>
                  <a:lnTo>
                    <a:pt x="0" y="15544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3518" r="0" b="-33518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19050"/>
              <a:ext cx="6662928" cy="15735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600"/>
                </a:lnSpc>
              </a:pPr>
              <a:r>
                <a:rPr lang="en-US" b="true" sz="3000">
                  <a:solidFill>
                    <a:srgbClr val="FFFFF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GESTOR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6643116" y="4732020"/>
            <a:ext cx="4997196" cy="4869180"/>
            <a:chOff x="0" y="0"/>
            <a:chExt cx="6662928" cy="649224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6662928" cy="6492240"/>
            </a:xfrm>
            <a:custGeom>
              <a:avLst/>
              <a:gdLst/>
              <a:ahLst/>
              <a:cxnLst/>
              <a:rect r="r" b="b" t="t" l="l"/>
              <a:pathLst>
                <a:path h="6492240" w="6662928">
                  <a:moveTo>
                    <a:pt x="0" y="0"/>
                  </a:moveTo>
                  <a:lnTo>
                    <a:pt x="6662928" y="0"/>
                  </a:lnTo>
                  <a:lnTo>
                    <a:pt x="6662928" y="6492240"/>
                  </a:lnTo>
                  <a:lnTo>
                    <a:pt x="0" y="6492240"/>
                  </a:lnTo>
                  <a:close/>
                </a:path>
              </a:pathLst>
            </a:custGeom>
            <a:solidFill>
              <a:srgbClr val="F2F2F0"/>
            </a:solidFill>
          </p:spPr>
        </p:sp>
      </p:grpSp>
      <p:grpSp>
        <p:nvGrpSpPr>
          <p:cNvPr name="Group 31" id="31"/>
          <p:cNvGrpSpPr/>
          <p:nvPr/>
        </p:nvGrpSpPr>
        <p:grpSpPr>
          <a:xfrm rot="0">
            <a:off x="7054596" y="5157216"/>
            <a:ext cx="137160" cy="137160"/>
            <a:chOff x="0" y="0"/>
            <a:chExt cx="182880" cy="18288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182880" cy="182880"/>
            </a:xfrm>
            <a:custGeom>
              <a:avLst/>
              <a:gdLst/>
              <a:ahLst/>
              <a:cxnLst/>
              <a:rect r="r" b="b" t="t" l="l"/>
              <a:pathLst>
                <a:path h="182880" w="182880">
                  <a:moveTo>
                    <a:pt x="0" y="91440"/>
                  </a:moveTo>
                  <a:cubicBezTo>
                    <a:pt x="0" y="40894"/>
                    <a:pt x="40894" y="0"/>
                    <a:pt x="91440" y="0"/>
                  </a:cubicBezTo>
                  <a:cubicBezTo>
                    <a:pt x="141986" y="0"/>
                    <a:pt x="182880" y="40894"/>
                    <a:pt x="182880" y="91440"/>
                  </a:cubicBezTo>
                  <a:cubicBezTo>
                    <a:pt x="182880" y="141986"/>
                    <a:pt x="141986" y="182880"/>
                    <a:pt x="91440" y="182880"/>
                  </a:cubicBezTo>
                  <a:cubicBezTo>
                    <a:pt x="40894" y="182880"/>
                    <a:pt x="0" y="141986"/>
                    <a:pt x="0" y="91440"/>
                  </a:cubicBezTo>
                  <a:close/>
                </a:path>
              </a:pathLst>
            </a:custGeom>
            <a:solidFill>
              <a:srgbClr val="C87D0E"/>
            </a:solidFill>
          </p:spPr>
        </p:sp>
      </p:grpSp>
      <p:sp>
        <p:nvSpPr>
          <p:cNvPr name="TextBox 33" id="33"/>
          <p:cNvSpPr txBox="true"/>
          <p:nvPr/>
        </p:nvSpPr>
        <p:spPr>
          <a:xfrm rot="0">
            <a:off x="7397496" y="4927092"/>
            <a:ext cx="3831336" cy="1066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50"/>
              </a:lnSpc>
            </a:pPr>
            <a:r>
              <a:rPr lang="en-US" sz="1875">
                <a:solidFill>
                  <a:srgbClr val="1A2540"/>
                </a:solidFill>
                <a:latin typeface="Calibri (MS)"/>
                <a:ea typeface="Calibri (MS)"/>
                <a:cs typeface="Calibri (MS)"/>
                <a:sym typeface="Calibri (MS)"/>
              </a:rPr>
              <a:t>Analisa, aprova, rejeita e pontua ideias via IA</a:t>
            </a:r>
          </a:p>
        </p:txBody>
      </p:sp>
      <p:grpSp>
        <p:nvGrpSpPr>
          <p:cNvPr name="Group 34" id="34"/>
          <p:cNvGrpSpPr/>
          <p:nvPr/>
        </p:nvGrpSpPr>
        <p:grpSpPr>
          <a:xfrm rot="0">
            <a:off x="7054596" y="6460236"/>
            <a:ext cx="137160" cy="137160"/>
            <a:chOff x="0" y="0"/>
            <a:chExt cx="182880" cy="18288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182880" cy="182880"/>
            </a:xfrm>
            <a:custGeom>
              <a:avLst/>
              <a:gdLst/>
              <a:ahLst/>
              <a:cxnLst/>
              <a:rect r="r" b="b" t="t" l="l"/>
              <a:pathLst>
                <a:path h="182880" w="182880">
                  <a:moveTo>
                    <a:pt x="0" y="91440"/>
                  </a:moveTo>
                  <a:cubicBezTo>
                    <a:pt x="0" y="40894"/>
                    <a:pt x="40894" y="0"/>
                    <a:pt x="91440" y="0"/>
                  </a:cubicBezTo>
                  <a:cubicBezTo>
                    <a:pt x="141986" y="0"/>
                    <a:pt x="182880" y="40894"/>
                    <a:pt x="182880" y="91440"/>
                  </a:cubicBezTo>
                  <a:cubicBezTo>
                    <a:pt x="182880" y="141986"/>
                    <a:pt x="141986" y="182880"/>
                    <a:pt x="91440" y="182880"/>
                  </a:cubicBezTo>
                  <a:cubicBezTo>
                    <a:pt x="40894" y="182880"/>
                    <a:pt x="0" y="141986"/>
                    <a:pt x="0" y="91440"/>
                  </a:cubicBezTo>
                  <a:close/>
                </a:path>
              </a:pathLst>
            </a:custGeom>
            <a:solidFill>
              <a:srgbClr val="C87D0E"/>
            </a:solidFill>
          </p:spPr>
        </p:sp>
      </p:grpSp>
      <p:sp>
        <p:nvSpPr>
          <p:cNvPr name="TextBox 36" id="36"/>
          <p:cNvSpPr txBox="true"/>
          <p:nvPr/>
        </p:nvSpPr>
        <p:spPr>
          <a:xfrm rot="0">
            <a:off x="7397496" y="6318790"/>
            <a:ext cx="3831298" cy="1066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50"/>
              </a:lnSpc>
            </a:pPr>
            <a:r>
              <a:rPr lang="en-US" sz="1875">
                <a:solidFill>
                  <a:srgbClr val="1A2540"/>
                </a:solidFill>
                <a:latin typeface="Calibri (MS)"/>
                <a:ea typeface="Calibri (MS)"/>
                <a:cs typeface="Calibri (MS)"/>
                <a:sym typeface="Calibri (MS)"/>
              </a:rPr>
              <a:t>CRUD completo de projetos</a:t>
            </a:r>
          </a:p>
        </p:txBody>
      </p:sp>
      <p:grpSp>
        <p:nvGrpSpPr>
          <p:cNvPr name="Group 37" id="37"/>
          <p:cNvGrpSpPr/>
          <p:nvPr/>
        </p:nvGrpSpPr>
        <p:grpSpPr>
          <a:xfrm rot="0">
            <a:off x="7054596" y="7763256"/>
            <a:ext cx="137160" cy="137160"/>
            <a:chOff x="0" y="0"/>
            <a:chExt cx="182880" cy="182880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182880" cy="182880"/>
            </a:xfrm>
            <a:custGeom>
              <a:avLst/>
              <a:gdLst/>
              <a:ahLst/>
              <a:cxnLst/>
              <a:rect r="r" b="b" t="t" l="l"/>
              <a:pathLst>
                <a:path h="182880" w="182880">
                  <a:moveTo>
                    <a:pt x="0" y="91440"/>
                  </a:moveTo>
                  <a:cubicBezTo>
                    <a:pt x="0" y="40894"/>
                    <a:pt x="40894" y="0"/>
                    <a:pt x="91440" y="0"/>
                  </a:cubicBezTo>
                  <a:cubicBezTo>
                    <a:pt x="141986" y="0"/>
                    <a:pt x="182880" y="40894"/>
                    <a:pt x="182880" y="91440"/>
                  </a:cubicBezTo>
                  <a:cubicBezTo>
                    <a:pt x="182880" y="141986"/>
                    <a:pt x="141986" y="182880"/>
                    <a:pt x="91440" y="182880"/>
                  </a:cubicBezTo>
                  <a:cubicBezTo>
                    <a:pt x="40894" y="182880"/>
                    <a:pt x="0" y="141986"/>
                    <a:pt x="0" y="91440"/>
                  </a:cubicBezTo>
                  <a:close/>
                </a:path>
              </a:pathLst>
            </a:custGeom>
            <a:solidFill>
              <a:srgbClr val="C87D0E"/>
            </a:solidFill>
          </p:spPr>
        </p:sp>
      </p:grpSp>
      <p:sp>
        <p:nvSpPr>
          <p:cNvPr name="TextBox 39" id="39"/>
          <p:cNvSpPr txBox="true"/>
          <p:nvPr/>
        </p:nvSpPr>
        <p:spPr>
          <a:xfrm rot="0">
            <a:off x="7397496" y="7621810"/>
            <a:ext cx="3831298" cy="1066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50"/>
              </a:lnSpc>
            </a:pPr>
            <a:r>
              <a:rPr lang="en-US" sz="1875">
                <a:solidFill>
                  <a:srgbClr val="1A2540"/>
                </a:solidFill>
                <a:latin typeface="Calibri (MS)"/>
                <a:ea typeface="Calibri (MS)"/>
                <a:cs typeface="Calibri (MS)"/>
                <a:sym typeface="Calibri (MS)"/>
              </a:rPr>
              <a:t>Consulta orientações</a:t>
            </a:r>
          </a:p>
        </p:txBody>
      </p:sp>
      <p:grpSp>
        <p:nvGrpSpPr>
          <p:cNvPr name="Group 40" id="40"/>
          <p:cNvGrpSpPr/>
          <p:nvPr/>
        </p:nvGrpSpPr>
        <p:grpSpPr>
          <a:xfrm rot="0">
            <a:off x="12051792" y="3429000"/>
            <a:ext cx="4997196" cy="1165860"/>
            <a:chOff x="0" y="0"/>
            <a:chExt cx="6662928" cy="1554480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6662928" cy="1554480"/>
            </a:xfrm>
            <a:custGeom>
              <a:avLst/>
              <a:gdLst/>
              <a:ahLst/>
              <a:cxnLst/>
              <a:rect r="r" b="b" t="t" l="l"/>
              <a:pathLst>
                <a:path h="1554480" w="6662928">
                  <a:moveTo>
                    <a:pt x="0" y="0"/>
                  </a:moveTo>
                  <a:lnTo>
                    <a:pt x="6662928" y="0"/>
                  </a:lnTo>
                  <a:lnTo>
                    <a:pt x="6662928" y="1554480"/>
                  </a:lnTo>
                  <a:lnTo>
                    <a:pt x="0" y="1554480"/>
                  </a:lnTo>
                  <a:close/>
                </a:path>
              </a:pathLst>
            </a:custGeom>
            <a:solidFill>
              <a:srgbClr val="3E5C8A"/>
            </a:solidFill>
          </p:spPr>
        </p:sp>
      </p:grpSp>
      <p:grpSp>
        <p:nvGrpSpPr>
          <p:cNvPr name="Group 42" id="42"/>
          <p:cNvGrpSpPr/>
          <p:nvPr/>
        </p:nvGrpSpPr>
        <p:grpSpPr>
          <a:xfrm rot="0">
            <a:off x="12051792" y="3429000"/>
            <a:ext cx="4997196" cy="1165860"/>
            <a:chOff x="0" y="0"/>
            <a:chExt cx="6662928" cy="1554480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6662928" cy="1554480"/>
            </a:xfrm>
            <a:custGeom>
              <a:avLst/>
              <a:gdLst/>
              <a:ahLst/>
              <a:cxnLst/>
              <a:rect r="r" b="b" t="t" l="l"/>
              <a:pathLst>
                <a:path h="1554480" w="6662928">
                  <a:moveTo>
                    <a:pt x="0" y="0"/>
                  </a:moveTo>
                  <a:lnTo>
                    <a:pt x="6662928" y="0"/>
                  </a:lnTo>
                  <a:lnTo>
                    <a:pt x="6662928" y="1554480"/>
                  </a:lnTo>
                  <a:lnTo>
                    <a:pt x="0" y="15544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3518" r="0" b="-33518"/>
              </a:stretch>
            </a:blipFill>
          </p:spPr>
        </p:sp>
        <p:sp>
          <p:nvSpPr>
            <p:cNvPr name="TextBox 44" id="44"/>
            <p:cNvSpPr txBox="true"/>
            <p:nvPr/>
          </p:nvSpPr>
          <p:spPr>
            <a:xfrm>
              <a:off x="0" y="-19050"/>
              <a:ext cx="6662928" cy="15735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600"/>
                </a:lnSpc>
              </a:pPr>
              <a:r>
                <a:rPr lang="en-US" b="true" sz="3000">
                  <a:solidFill>
                    <a:srgbClr val="FFFFF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LIDER</a:t>
              </a:r>
            </a:p>
          </p:txBody>
        </p:sp>
      </p:grpSp>
      <p:grpSp>
        <p:nvGrpSpPr>
          <p:cNvPr name="Group 45" id="45"/>
          <p:cNvGrpSpPr/>
          <p:nvPr/>
        </p:nvGrpSpPr>
        <p:grpSpPr>
          <a:xfrm rot="0">
            <a:off x="12051792" y="4732020"/>
            <a:ext cx="4997196" cy="4869180"/>
            <a:chOff x="0" y="0"/>
            <a:chExt cx="6662928" cy="6492240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6662928" cy="6492240"/>
            </a:xfrm>
            <a:custGeom>
              <a:avLst/>
              <a:gdLst/>
              <a:ahLst/>
              <a:cxnLst/>
              <a:rect r="r" b="b" t="t" l="l"/>
              <a:pathLst>
                <a:path h="6492240" w="6662928">
                  <a:moveTo>
                    <a:pt x="0" y="0"/>
                  </a:moveTo>
                  <a:lnTo>
                    <a:pt x="6662928" y="0"/>
                  </a:lnTo>
                  <a:lnTo>
                    <a:pt x="6662928" y="6492240"/>
                  </a:lnTo>
                  <a:lnTo>
                    <a:pt x="0" y="6492240"/>
                  </a:lnTo>
                  <a:close/>
                </a:path>
              </a:pathLst>
            </a:custGeom>
            <a:solidFill>
              <a:srgbClr val="F2F2F0"/>
            </a:solidFill>
          </p:spPr>
        </p:sp>
      </p:grpSp>
      <p:grpSp>
        <p:nvGrpSpPr>
          <p:cNvPr name="Group 47" id="47"/>
          <p:cNvGrpSpPr/>
          <p:nvPr/>
        </p:nvGrpSpPr>
        <p:grpSpPr>
          <a:xfrm rot="0">
            <a:off x="12463272" y="5157216"/>
            <a:ext cx="137160" cy="137160"/>
            <a:chOff x="0" y="0"/>
            <a:chExt cx="182880" cy="182880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182880" cy="182880"/>
            </a:xfrm>
            <a:custGeom>
              <a:avLst/>
              <a:gdLst/>
              <a:ahLst/>
              <a:cxnLst/>
              <a:rect r="r" b="b" t="t" l="l"/>
              <a:pathLst>
                <a:path h="182880" w="182880">
                  <a:moveTo>
                    <a:pt x="0" y="91440"/>
                  </a:moveTo>
                  <a:cubicBezTo>
                    <a:pt x="0" y="40894"/>
                    <a:pt x="40894" y="0"/>
                    <a:pt x="91440" y="0"/>
                  </a:cubicBezTo>
                  <a:cubicBezTo>
                    <a:pt x="141986" y="0"/>
                    <a:pt x="182880" y="40894"/>
                    <a:pt x="182880" y="91440"/>
                  </a:cubicBezTo>
                  <a:cubicBezTo>
                    <a:pt x="182880" y="141986"/>
                    <a:pt x="141986" y="182880"/>
                    <a:pt x="91440" y="182880"/>
                  </a:cubicBezTo>
                  <a:cubicBezTo>
                    <a:pt x="40894" y="182880"/>
                    <a:pt x="0" y="141986"/>
                    <a:pt x="0" y="91440"/>
                  </a:cubicBezTo>
                  <a:close/>
                </a:path>
              </a:pathLst>
            </a:custGeom>
            <a:solidFill>
              <a:srgbClr val="3E5C8A"/>
            </a:solidFill>
          </p:spPr>
        </p:sp>
      </p:grpSp>
      <p:sp>
        <p:nvSpPr>
          <p:cNvPr name="TextBox 49" id="49"/>
          <p:cNvSpPr txBox="true"/>
          <p:nvPr/>
        </p:nvSpPr>
        <p:spPr>
          <a:xfrm rot="0">
            <a:off x="12806172" y="5003102"/>
            <a:ext cx="3831298" cy="1066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50"/>
              </a:lnSpc>
            </a:pPr>
            <a:r>
              <a:rPr lang="en-US" sz="1875">
                <a:solidFill>
                  <a:srgbClr val="1A2540"/>
                </a:solidFill>
                <a:latin typeface="Calibri (MS)"/>
                <a:ea typeface="Calibri (MS)"/>
                <a:cs typeface="Calibri (MS)"/>
                <a:sym typeface="Calibri (MS)"/>
              </a:rPr>
              <a:t>CRUD de orientações estratégicas</a:t>
            </a:r>
          </a:p>
        </p:txBody>
      </p:sp>
      <p:grpSp>
        <p:nvGrpSpPr>
          <p:cNvPr name="Group 50" id="50"/>
          <p:cNvGrpSpPr/>
          <p:nvPr/>
        </p:nvGrpSpPr>
        <p:grpSpPr>
          <a:xfrm rot="0">
            <a:off x="12463272" y="6460236"/>
            <a:ext cx="137160" cy="137160"/>
            <a:chOff x="0" y="0"/>
            <a:chExt cx="182880" cy="182880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182880" cy="182880"/>
            </a:xfrm>
            <a:custGeom>
              <a:avLst/>
              <a:gdLst/>
              <a:ahLst/>
              <a:cxnLst/>
              <a:rect r="r" b="b" t="t" l="l"/>
              <a:pathLst>
                <a:path h="182880" w="182880">
                  <a:moveTo>
                    <a:pt x="0" y="91440"/>
                  </a:moveTo>
                  <a:cubicBezTo>
                    <a:pt x="0" y="40894"/>
                    <a:pt x="40894" y="0"/>
                    <a:pt x="91440" y="0"/>
                  </a:cubicBezTo>
                  <a:cubicBezTo>
                    <a:pt x="141986" y="0"/>
                    <a:pt x="182880" y="40894"/>
                    <a:pt x="182880" y="91440"/>
                  </a:cubicBezTo>
                  <a:cubicBezTo>
                    <a:pt x="182880" y="141986"/>
                    <a:pt x="141986" y="182880"/>
                    <a:pt x="91440" y="182880"/>
                  </a:cubicBezTo>
                  <a:cubicBezTo>
                    <a:pt x="40894" y="182880"/>
                    <a:pt x="0" y="141986"/>
                    <a:pt x="0" y="91440"/>
                  </a:cubicBezTo>
                  <a:close/>
                </a:path>
              </a:pathLst>
            </a:custGeom>
            <a:solidFill>
              <a:srgbClr val="3E5C8A"/>
            </a:solidFill>
          </p:spPr>
        </p:sp>
      </p:grpSp>
      <p:sp>
        <p:nvSpPr>
          <p:cNvPr name="TextBox 52" id="52"/>
          <p:cNvSpPr txBox="true"/>
          <p:nvPr/>
        </p:nvSpPr>
        <p:spPr>
          <a:xfrm rot="0">
            <a:off x="12806172" y="6306121"/>
            <a:ext cx="3831298" cy="1066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50"/>
              </a:lnSpc>
            </a:pPr>
            <a:r>
              <a:rPr lang="en-US" sz="1875">
                <a:solidFill>
                  <a:srgbClr val="1A2540"/>
                </a:solidFill>
                <a:latin typeface="Calibri (MS)"/>
                <a:ea typeface="Calibri (MS)"/>
                <a:cs typeface="Calibri (MS)"/>
                <a:sym typeface="Calibri (MS)"/>
              </a:rPr>
              <a:t>Consulta ideias e projetos (sem editar)</a:t>
            </a:r>
          </a:p>
        </p:txBody>
      </p:sp>
      <p:grpSp>
        <p:nvGrpSpPr>
          <p:cNvPr name="Group 53" id="53"/>
          <p:cNvGrpSpPr/>
          <p:nvPr/>
        </p:nvGrpSpPr>
        <p:grpSpPr>
          <a:xfrm rot="0">
            <a:off x="12463272" y="7763256"/>
            <a:ext cx="137160" cy="137160"/>
            <a:chOff x="0" y="0"/>
            <a:chExt cx="182880" cy="182880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182880" cy="182880"/>
            </a:xfrm>
            <a:custGeom>
              <a:avLst/>
              <a:gdLst/>
              <a:ahLst/>
              <a:cxnLst/>
              <a:rect r="r" b="b" t="t" l="l"/>
              <a:pathLst>
                <a:path h="182880" w="182880">
                  <a:moveTo>
                    <a:pt x="0" y="91440"/>
                  </a:moveTo>
                  <a:cubicBezTo>
                    <a:pt x="0" y="40894"/>
                    <a:pt x="40894" y="0"/>
                    <a:pt x="91440" y="0"/>
                  </a:cubicBezTo>
                  <a:cubicBezTo>
                    <a:pt x="141986" y="0"/>
                    <a:pt x="182880" y="40894"/>
                    <a:pt x="182880" y="91440"/>
                  </a:cubicBezTo>
                  <a:cubicBezTo>
                    <a:pt x="182880" y="141986"/>
                    <a:pt x="141986" y="182880"/>
                    <a:pt x="91440" y="182880"/>
                  </a:cubicBezTo>
                  <a:cubicBezTo>
                    <a:pt x="40894" y="182880"/>
                    <a:pt x="0" y="141986"/>
                    <a:pt x="0" y="91440"/>
                  </a:cubicBezTo>
                  <a:close/>
                </a:path>
              </a:pathLst>
            </a:custGeom>
            <a:solidFill>
              <a:srgbClr val="3E5C8A"/>
            </a:solidFill>
          </p:spPr>
        </p:sp>
      </p:grpSp>
      <p:sp>
        <p:nvSpPr>
          <p:cNvPr name="TextBox 55" id="55"/>
          <p:cNvSpPr txBox="true"/>
          <p:nvPr/>
        </p:nvSpPr>
        <p:spPr>
          <a:xfrm rot="0">
            <a:off x="12806172" y="7621810"/>
            <a:ext cx="3831298" cy="1066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50"/>
              </a:lnSpc>
            </a:pPr>
            <a:r>
              <a:rPr lang="en-US" sz="1875">
                <a:solidFill>
                  <a:srgbClr val="1A2540"/>
                </a:solidFill>
                <a:latin typeface="Calibri (MS)"/>
                <a:ea typeface="Calibri (MS)"/>
                <a:cs typeface="Calibri (MS)"/>
                <a:sym typeface="Calibri (MS)"/>
              </a:rPr>
              <a:t>Único perfil com acesso ao dashboard</a:t>
            </a:r>
          </a:p>
        </p:txBody>
      </p:sp>
      <p:grpSp>
        <p:nvGrpSpPr>
          <p:cNvPr name="Group 56" id="56"/>
          <p:cNvGrpSpPr/>
          <p:nvPr/>
        </p:nvGrpSpPr>
        <p:grpSpPr>
          <a:xfrm rot="0">
            <a:off x="17323308" y="9669780"/>
            <a:ext cx="685800" cy="411480"/>
            <a:chOff x="0" y="0"/>
            <a:chExt cx="914400" cy="548640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914400" cy="548640"/>
            </a:xfrm>
            <a:custGeom>
              <a:avLst/>
              <a:gdLst/>
              <a:ahLst/>
              <a:cxnLst/>
              <a:rect r="r" b="b" t="t" l="l"/>
              <a:pathLst>
                <a:path h="54864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26982" t="0" r="-26982" b="0"/>
              </a:stretch>
            </a:blipFill>
          </p:spPr>
        </p:sp>
        <p:sp>
          <p:nvSpPr>
            <p:cNvPr name="TextBox 58" id="58"/>
            <p:cNvSpPr txBox="true"/>
            <p:nvPr/>
          </p:nvSpPr>
          <p:spPr>
            <a:xfrm>
              <a:off x="0" y="-38100"/>
              <a:ext cx="91440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800"/>
                </a:lnSpc>
              </a:pPr>
              <a:r>
                <a:rPr lang="en-US" sz="1500">
                  <a:solidFill>
                    <a:srgbClr val="5B6472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12</a:t>
              </a:r>
            </a:p>
          </p:txBody>
        </p:sp>
      </p:grp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6309360" cy="10287000"/>
            <a:chOff x="0" y="0"/>
            <a:chExt cx="841248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41248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8412480">
                  <a:moveTo>
                    <a:pt x="0" y="0"/>
                  </a:moveTo>
                  <a:lnTo>
                    <a:pt x="8412480" y="0"/>
                  </a:lnTo>
                  <a:lnTo>
                    <a:pt x="841248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1A2540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960120" y="960120"/>
            <a:ext cx="4663440" cy="480060"/>
            <a:chOff x="0" y="0"/>
            <a:chExt cx="6217920" cy="64008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6217920" cy="640080"/>
            </a:xfrm>
            <a:custGeom>
              <a:avLst/>
              <a:gdLst/>
              <a:ahLst/>
              <a:cxnLst/>
              <a:rect r="r" b="b" t="t" l="l"/>
              <a:pathLst>
                <a:path h="640080" w="6217920">
                  <a:moveTo>
                    <a:pt x="0" y="0"/>
                  </a:moveTo>
                  <a:lnTo>
                    <a:pt x="6217920" y="0"/>
                  </a:lnTo>
                  <a:lnTo>
                    <a:pt x="621792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39283" r="0" b="-139283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6217920" cy="6781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b="true" sz="1800">
                  <a:solidFill>
                    <a:srgbClr val="E8B15C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DIFERENCIAL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960120" y="1440180"/>
            <a:ext cx="4937760" cy="2194560"/>
            <a:chOff x="0" y="0"/>
            <a:chExt cx="6583680" cy="292608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6583680" cy="2926080"/>
            </a:xfrm>
            <a:custGeom>
              <a:avLst/>
              <a:gdLst/>
              <a:ahLst/>
              <a:cxnLst/>
              <a:rect r="r" b="b" t="t" l="l"/>
              <a:pathLst>
                <a:path h="2926080" w="6583680">
                  <a:moveTo>
                    <a:pt x="0" y="0"/>
                  </a:moveTo>
                  <a:lnTo>
                    <a:pt x="6583680" y="0"/>
                  </a:lnTo>
                  <a:lnTo>
                    <a:pt x="6583680" y="2926080"/>
                  </a:lnTo>
                  <a:lnTo>
                    <a:pt x="0" y="29260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023" t="0" r="-7023" b="0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19050"/>
              <a:ext cx="6583680" cy="29451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400"/>
                </a:lnSpc>
              </a:pPr>
              <a:r>
                <a:rPr lang="en-US" b="true" sz="4500">
                  <a:solidFill>
                    <a:srgbClr val="FFFFF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Inteligência</a:t>
              </a:r>
            </a:p>
            <a:p>
              <a:pPr algn="l">
                <a:lnSpc>
                  <a:spcPts val="5400"/>
                </a:lnSpc>
              </a:pPr>
              <a:r>
                <a:rPr lang="en-US" b="true" sz="4500">
                  <a:solidFill>
                    <a:srgbClr val="FFFFF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Artificial real</a:t>
              </a:r>
            </a:p>
          </p:txBody>
        </p:sp>
      </p:grpSp>
      <p:sp>
        <p:nvSpPr>
          <p:cNvPr name="TextBox 10" id="10"/>
          <p:cNvSpPr txBox="true"/>
          <p:nvPr/>
        </p:nvSpPr>
        <p:spPr>
          <a:xfrm rot="0">
            <a:off x="960120" y="3724275"/>
            <a:ext cx="4800600" cy="30651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0"/>
              </a:lnSpc>
            </a:pPr>
            <a:r>
              <a:rPr lang="en-US" sz="1950">
                <a:solidFill>
                  <a:srgbClr val="C7CEDD"/>
                </a:solidFill>
                <a:latin typeface="Calibri (MS)"/>
                <a:ea typeface="Calibri (MS)"/>
                <a:cs typeface="Calibri (MS)"/>
                <a:sym typeface="Calibri (MS)"/>
              </a:rPr>
              <a:t>Das três opções de IA sugeridas no desafio, escolhemos pontuação e priorização automática de ideias — porque é onde a IA mais alivia o trabalho manual do gestor, todos os dias.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960120" y="7543800"/>
            <a:ext cx="4663440" cy="1234440"/>
            <a:chOff x="0" y="0"/>
            <a:chExt cx="6217920" cy="164592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6217920" cy="1645920"/>
            </a:xfrm>
            <a:custGeom>
              <a:avLst/>
              <a:gdLst/>
              <a:ahLst/>
              <a:cxnLst/>
              <a:rect r="r" b="b" t="t" l="l"/>
              <a:pathLst>
                <a:path h="1645920" w="6217920">
                  <a:moveTo>
                    <a:pt x="0" y="0"/>
                  </a:moveTo>
                  <a:lnTo>
                    <a:pt x="6217920" y="0"/>
                  </a:lnTo>
                  <a:lnTo>
                    <a:pt x="6217920" y="1645920"/>
                  </a:lnTo>
                  <a:lnTo>
                    <a:pt x="0" y="1645920"/>
                  </a:lnTo>
                  <a:close/>
                </a:path>
              </a:pathLst>
            </a:custGeom>
            <a:solidFill>
              <a:srgbClr val="273657"/>
            </a:solid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1234440" y="7708392"/>
            <a:ext cx="4114800" cy="411480"/>
            <a:chOff x="0" y="0"/>
            <a:chExt cx="5486400" cy="54864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5486400" cy="548640"/>
            </a:xfrm>
            <a:custGeom>
              <a:avLst/>
              <a:gdLst/>
              <a:ahLst/>
              <a:cxnLst/>
              <a:rect r="r" b="b" t="t" l="l"/>
              <a:pathLst>
                <a:path h="548640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44850" r="0" b="-144850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38100"/>
              <a:ext cx="548640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50"/>
                </a:lnSpc>
              </a:pPr>
              <a:r>
                <a:rPr lang="en-US" b="true" sz="1875">
                  <a:solidFill>
                    <a:srgbClr val="E8B15C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Google Gemini API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1234440" y="8119872"/>
            <a:ext cx="4114800" cy="480060"/>
            <a:chOff x="0" y="0"/>
            <a:chExt cx="5486400" cy="64008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5486400" cy="640080"/>
            </a:xfrm>
            <a:custGeom>
              <a:avLst/>
              <a:gdLst/>
              <a:ahLst/>
              <a:cxnLst/>
              <a:rect r="r" b="b" t="t" l="l"/>
              <a:pathLst>
                <a:path h="640080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17014" r="0" b="-117014"/>
              </a:stretch>
            </a:blip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9525"/>
              <a:ext cx="5486400" cy="6496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sz="1650">
                  <a:solidFill>
                    <a:srgbClr val="FFFFFF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modelo gemini-3.6-flash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6858000" y="891540"/>
            <a:ext cx="10602468" cy="822960"/>
            <a:chOff x="0" y="0"/>
            <a:chExt cx="14136624" cy="109728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4136624" cy="1097280"/>
            </a:xfrm>
            <a:custGeom>
              <a:avLst/>
              <a:gdLst/>
              <a:ahLst/>
              <a:cxnLst/>
              <a:rect r="r" b="b" t="t" l="l"/>
              <a:pathLst>
                <a:path h="1097280" w="14136624">
                  <a:moveTo>
                    <a:pt x="0" y="0"/>
                  </a:moveTo>
                  <a:lnTo>
                    <a:pt x="14136624" y="0"/>
                  </a:lnTo>
                  <a:lnTo>
                    <a:pt x="14136624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01032" r="0" b="-201032"/>
              </a:stretch>
            </a:blip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9525"/>
              <a:ext cx="14136624" cy="11068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960"/>
                </a:lnSpc>
              </a:pPr>
              <a:r>
                <a:rPr lang="en-US" b="true" sz="3300">
                  <a:solidFill>
                    <a:srgbClr val="1A2540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Como funciona, na prática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6858000" y="2125980"/>
            <a:ext cx="685800" cy="685800"/>
            <a:chOff x="0" y="0"/>
            <a:chExt cx="914400" cy="91440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914400" cy="914400"/>
            </a:xfrm>
            <a:custGeom>
              <a:avLst/>
              <a:gdLst/>
              <a:ahLst/>
              <a:cxnLst/>
              <a:rect r="r" b="b" t="t" l="l"/>
              <a:pathLst>
                <a:path h="914400" w="914400">
                  <a:moveTo>
                    <a:pt x="0" y="457200"/>
                  </a:moveTo>
                  <a:cubicBezTo>
                    <a:pt x="0" y="204724"/>
                    <a:pt x="204724" y="0"/>
                    <a:pt x="457200" y="0"/>
                  </a:cubicBezTo>
                  <a:cubicBezTo>
                    <a:pt x="709676" y="0"/>
                    <a:pt x="914400" y="204724"/>
                    <a:pt x="914400" y="457200"/>
                  </a:cubicBezTo>
                  <a:cubicBezTo>
                    <a:pt x="914400" y="709676"/>
                    <a:pt x="709676" y="914400"/>
                    <a:pt x="457200" y="914400"/>
                  </a:cubicBezTo>
                  <a:cubicBezTo>
                    <a:pt x="204724" y="914400"/>
                    <a:pt x="0" y="709676"/>
                    <a:pt x="0" y="457200"/>
                  </a:cubicBezTo>
                  <a:close/>
                </a:path>
              </a:pathLst>
            </a:custGeom>
            <a:solidFill>
              <a:srgbClr val="C87D0E"/>
            </a:solidFill>
          </p:spPr>
        </p:sp>
      </p:grpSp>
      <p:grpSp>
        <p:nvGrpSpPr>
          <p:cNvPr name="Group 24" id="24"/>
          <p:cNvGrpSpPr/>
          <p:nvPr/>
        </p:nvGrpSpPr>
        <p:grpSpPr>
          <a:xfrm rot="0">
            <a:off x="6858000" y="2125980"/>
            <a:ext cx="685800" cy="685800"/>
            <a:chOff x="0" y="0"/>
            <a:chExt cx="914400" cy="91440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914400" cy="914400"/>
            </a:xfrm>
            <a:custGeom>
              <a:avLst/>
              <a:gdLst/>
              <a:ahLst/>
              <a:cxnLst/>
              <a:rect r="r" b="b" t="t" l="l"/>
              <a:pathLst>
                <a:path h="91440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26" id="26"/>
            <p:cNvSpPr txBox="true"/>
            <p:nvPr/>
          </p:nvSpPr>
          <p:spPr>
            <a:xfrm>
              <a:off x="0" y="-9525"/>
              <a:ext cx="914400" cy="9239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060"/>
                </a:lnSpc>
              </a:pPr>
              <a:r>
                <a:rPr lang="en-US" b="true" sz="2550">
                  <a:solidFill>
                    <a:srgbClr val="FFFFF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1</a:t>
              </a: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7818120" y="2084832"/>
            <a:ext cx="9642348" cy="480060"/>
            <a:chOff x="0" y="0"/>
            <a:chExt cx="12856464" cy="64008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12856464" cy="640080"/>
            </a:xfrm>
            <a:custGeom>
              <a:avLst/>
              <a:gdLst/>
              <a:ahLst/>
              <a:cxnLst/>
              <a:rect r="r" b="b" t="t" l="l"/>
              <a:pathLst>
                <a:path h="640080" w="12856464">
                  <a:moveTo>
                    <a:pt x="0" y="0"/>
                  </a:moveTo>
                  <a:lnTo>
                    <a:pt x="12856464" y="0"/>
                  </a:lnTo>
                  <a:lnTo>
                    <a:pt x="12856464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41370" r="0" b="-341370"/>
              </a:stretch>
            </a:blipFill>
          </p:spPr>
        </p:sp>
        <p:sp>
          <p:nvSpPr>
            <p:cNvPr name="TextBox 29" id="29"/>
            <p:cNvSpPr txBox="true"/>
            <p:nvPr/>
          </p:nvSpPr>
          <p:spPr>
            <a:xfrm>
              <a:off x="0" y="-47625"/>
              <a:ext cx="12856464" cy="6877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b="true" sz="1950">
                  <a:solidFill>
                    <a:srgbClr val="1A254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GESTOR SOLICITA</a:t>
              </a:r>
            </a:p>
          </p:txBody>
        </p:sp>
      </p:grpSp>
      <p:sp>
        <p:nvSpPr>
          <p:cNvPr name="TextBox 30" id="30"/>
          <p:cNvSpPr txBox="true"/>
          <p:nvPr/>
        </p:nvSpPr>
        <p:spPr>
          <a:xfrm rot="0">
            <a:off x="7818120" y="2526792"/>
            <a:ext cx="9642348" cy="8610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5B6472"/>
                </a:solidFill>
                <a:latin typeface="Calibri (MS)"/>
                <a:ea typeface="Calibri (MS)"/>
                <a:cs typeface="Calibri (MS)"/>
                <a:sym typeface="Calibri (MS)"/>
              </a:rPr>
              <a:t>Toca em "Pontuar com IA" na tela de análise de uma ideia pendente.</a:t>
            </a:r>
          </a:p>
        </p:txBody>
      </p:sp>
      <p:grpSp>
        <p:nvGrpSpPr>
          <p:cNvPr name="Group 31" id="31"/>
          <p:cNvGrpSpPr/>
          <p:nvPr/>
        </p:nvGrpSpPr>
        <p:grpSpPr>
          <a:xfrm rot="0">
            <a:off x="6858000" y="3881628"/>
            <a:ext cx="685800" cy="685800"/>
            <a:chOff x="0" y="0"/>
            <a:chExt cx="914400" cy="91440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914400" cy="914400"/>
            </a:xfrm>
            <a:custGeom>
              <a:avLst/>
              <a:gdLst/>
              <a:ahLst/>
              <a:cxnLst/>
              <a:rect r="r" b="b" t="t" l="l"/>
              <a:pathLst>
                <a:path h="914400" w="914400">
                  <a:moveTo>
                    <a:pt x="0" y="457200"/>
                  </a:moveTo>
                  <a:cubicBezTo>
                    <a:pt x="0" y="204724"/>
                    <a:pt x="204724" y="0"/>
                    <a:pt x="457200" y="0"/>
                  </a:cubicBezTo>
                  <a:cubicBezTo>
                    <a:pt x="709676" y="0"/>
                    <a:pt x="914400" y="204724"/>
                    <a:pt x="914400" y="457200"/>
                  </a:cubicBezTo>
                  <a:cubicBezTo>
                    <a:pt x="914400" y="709676"/>
                    <a:pt x="709676" y="914400"/>
                    <a:pt x="457200" y="914400"/>
                  </a:cubicBezTo>
                  <a:cubicBezTo>
                    <a:pt x="204724" y="914400"/>
                    <a:pt x="0" y="709676"/>
                    <a:pt x="0" y="457200"/>
                  </a:cubicBezTo>
                  <a:close/>
                </a:path>
              </a:pathLst>
            </a:custGeom>
            <a:solidFill>
              <a:srgbClr val="C87D0E"/>
            </a:solidFill>
          </p:spPr>
        </p:sp>
      </p:grpSp>
      <p:grpSp>
        <p:nvGrpSpPr>
          <p:cNvPr name="Group 33" id="33"/>
          <p:cNvGrpSpPr/>
          <p:nvPr/>
        </p:nvGrpSpPr>
        <p:grpSpPr>
          <a:xfrm rot="0">
            <a:off x="6858000" y="3881628"/>
            <a:ext cx="685800" cy="685800"/>
            <a:chOff x="0" y="0"/>
            <a:chExt cx="914400" cy="914400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914400" cy="914400"/>
            </a:xfrm>
            <a:custGeom>
              <a:avLst/>
              <a:gdLst/>
              <a:ahLst/>
              <a:cxnLst/>
              <a:rect r="r" b="b" t="t" l="l"/>
              <a:pathLst>
                <a:path h="91440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35" id="35"/>
            <p:cNvSpPr txBox="true"/>
            <p:nvPr/>
          </p:nvSpPr>
          <p:spPr>
            <a:xfrm>
              <a:off x="0" y="-9525"/>
              <a:ext cx="914400" cy="9239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060"/>
                </a:lnSpc>
              </a:pPr>
              <a:r>
                <a:rPr lang="en-US" b="true" sz="2550">
                  <a:solidFill>
                    <a:srgbClr val="FFFFF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2</a:t>
              </a:r>
            </a:p>
          </p:txBody>
        </p:sp>
      </p:grpSp>
      <p:grpSp>
        <p:nvGrpSpPr>
          <p:cNvPr name="Group 36" id="36"/>
          <p:cNvGrpSpPr/>
          <p:nvPr/>
        </p:nvGrpSpPr>
        <p:grpSpPr>
          <a:xfrm rot="0">
            <a:off x="7818120" y="3840480"/>
            <a:ext cx="9642348" cy="480060"/>
            <a:chOff x="0" y="0"/>
            <a:chExt cx="12856464" cy="640080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12856464" cy="640080"/>
            </a:xfrm>
            <a:custGeom>
              <a:avLst/>
              <a:gdLst/>
              <a:ahLst/>
              <a:cxnLst/>
              <a:rect r="r" b="b" t="t" l="l"/>
              <a:pathLst>
                <a:path h="640080" w="12856464">
                  <a:moveTo>
                    <a:pt x="0" y="0"/>
                  </a:moveTo>
                  <a:lnTo>
                    <a:pt x="12856464" y="0"/>
                  </a:lnTo>
                  <a:lnTo>
                    <a:pt x="12856464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41370" r="0" b="-341370"/>
              </a:stretch>
            </a:blipFill>
          </p:spPr>
        </p:sp>
        <p:sp>
          <p:nvSpPr>
            <p:cNvPr name="TextBox 38" id="38"/>
            <p:cNvSpPr txBox="true"/>
            <p:nvPr/>
          </p:nvSpPr>
          <p:spPr>
            <a:xfrm>
              <a:off x="0" y="-47625"/>
              <a:ext cx="12856464" cy="6877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b="true" sz="1950">
                  <a:solidFill>
                    <a:srgbClr val="1A254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IA ANALISA O CONTEXTO COMPLETO</a:t>
              </a:r>
            </a:p>
          </p:txBody>
        </p:sp>
      </p:grpSp>
      <p:sp>
        <p:nvSpPr>
          <p:cNvPr name="TextBox 39" id="39"/>
          <p:cNvSpPr txBox="true"/>
          <p:nvPr/>
        </p:nvSpPr>
        <p:spPr>
          <a:xfrm rot="0">
            <a:off x="7818120" y="4282440"/>
            <a:ext cx="9642348" cy="8610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5B6472"/>
                </a:solidFill>
                <a:latin typeface="Calibri (MS)"/>
                <a:ea typeface="Calibri (MS)"/>
                <a:cs typeface="Calibri (MS)"/>
                <a:sym typeface="Calibri (MS)"/>
              </a:rPr>
              <a:t>Título, categoria, descrição, problema, benefícios e recursos necessários — não só um resumo.</a:t>
            </a:r>
          </a:p>
        </p:txBody>
      </p:sp>
      <p:grpSp>
        <p:nvGrpSpPr>
          <p:cNvPr name="Group 40" id="40"/>
          <p:cNvGrpSpPr/>
          <p:nvPr/>
        </p:nvGrpSpPr>
        <p:grpSpPr>
          <a:xfrm rot="0">
            <a:off x="6858000" y="5637276"/>
            <a:ext cx="685800" cy="685800"/>
            <a:chOff x="0" y="0"/>
            <a:chExt cx="914400" cy="914400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914400" cy="914400"/>
            </a:xfrm>
            <a:custGeom>
              <a:avLst/>
              <a:gdLst/>
              <a:ahLst/>
              <a:cxnLst/>
              <a:rect r="r" b="b" t="t" l="l"/>
              <a:pathLst>
                <a:path h="914400" w="914400">
                  <a:moveTo>
                    <a:pt x="0" y="457200"/>
                  </a:moveTo>
                  <a:cubicBezTo>
                    <a:pt x="0" y="204724"/>
                    <a:pt x="204724" y="0"/>
                    <a:pt x="457200" y="0"/>
                  </a:cubicBezTo>
                  <a:cubicBezTo>
                    <a:pt x="709676" y="0"/>
                    <a:pt x="914400" y="204724"/>
                    <a:pt x="914400" y="457200"/>
                  </a:cubicBezTo>
                  <a:cubicBezTo>
                    <a:pt x="914400" y="709676"/>
                    <a:pt x="709676" y="914400"/>
                    <a:pt x="457200" y="914400"/>
                  </a:cubicBezTo>
                  <a:cubicBezTo>
                    <a:pt x="204724" y="914400"/>
                    <a:pt x="0" y="709676"/>
                    <a:pt x="0" y="457200"/>
                  </a:cubicBezTo>
                  <a:close/>
                </a:path>
              </a:pathLst>
            </a:custGeom>
            <a:solidFill>
              <a:srgbClr val="C87D0E"/>
            </a:solidFill>
          </p:spPr>
        </p:sp>
      </p:grpSp>
      <p:grpSp>
        <p:nvGrpSpPr>
          <p:cNvPr name="Group 42" id="42"/>
          <p:cNvGrpSpPr/>
          <p:nvPr/>
        </p:nvGrpSpPr>
        <p:grpSpPr>
          <a:xfrm rot="0">
            <a:off x="6858000" y="5637276"/>
            <a:ext cx="685800" cy="685800"/>
            <a:chOff x="0" y="0"/>
            <a:chExt cx="914400" cy="914400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914400" cy="914400"/>
            </a:xfrm>
            <a:custGeom>
              <a:avLst/>
              <a:gdLst/>
              <a:ahLst/>
              <a:cxnLst/>
              <a:rect r="r" b="b" t="t" l="l"/>
              <a:pathLst>
                <a:path h="91440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44" id="44"/>
            <p:cNvSpPr txBox="true"/>
            <p:nvPr/>
          </p:nvSpPr>
          <p:spPr>
            <a:xfrm>
              <a:off x="0" y="-9525"/>
              <a:ext cx="914400" cy="9239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060"/>
                </a:lnSpc>
              </a:pPr>
              <a:r>
                <a:rPr lang="en-US" b="true" sz="2550">
                  <a:solidFill>
                    <a:srgbClr val="FFFFF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3</a:t>
              </a:r>
            </a:p>
          </p:txBody>
        </p:sp>
      </p:grpSp>
      <p:grpSp>
        <p:nvGrpSpPr>
          <p:cNvPr name="Group 45" id="45"/>
          <p:cNvGrpSpPr/>
          <p:nvPr/>
        </p:nvGrpSpPr>
        <p:grpSpPr>
          <a:xfrm rot="0">
            <a:off x="7818120" y="5596128"/>
            <a:ext cx="9642348" cy="480060"/>
            <a:chOff x="0" y="0"/>
            <a:chExt cx="12856464" cy="640080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12856464" cy="640080"/>
            </a:xfrm>
            <a:custGeom>
              <a:avLst/>
              <a:gdLst/>
              <a:ahLst/>
              <a:cxnLst/>
              <a:rect r="r" b="b" t="t" l="l"/>
              <a:pathLst>
                <a:path h="640080" w="12856464">
                  <a:moveTo>
                    <a:pt x="0" y="0"/>
                  </a:moveTo>
                  <a:lnTo>
                    <a:pt x="12856464" y="0"/>
                  </a:lnTo>
                  <a:lnTo>
                    <a:pt x="12856464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41370" r="0" b="-341370"/>
              </a:stretch>
            </a:blipFill>
          </p:spPr>
        </p:sp>
        <p:sp>
          <p:nvSpPr>
            <p:cNvPr name="TextBox 47" id="47"/>
            <p:cNvSpPr txBox="true"/>
            <p:nvPr/>
          </p:nvSpPr>
          <p:spPr>
            <a:xfrm>
              <a:off x="0" y="-47625"/>
              <a:ext cx="12856464" cy="6877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b="true" sz="1950">
                  <a:solidFill>
                    <a:srgbClr val="1A254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RETORNA NOTA + JUSTIFICATIVA</a:t>
              </a:r>
            </a:p>
          </p:txBody>
        </p:sp>
      </p:grpSp>
      <p:sp>
        <p:nvSpPr>
          <p:cNvPr name="TextBox 48" id="48"/>
          <p:cNvSpPr txBox="true"/>
          <p:nvPr/>
        </p:nvSpPr>
        <p:spPr>
          <a:xfrm rot="0">
            <a:off x="7818120" y="6038088"/>
            <a:ext cx="9642348" cy="8610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5B6472"/>
                </a:solidFill>
                <a:latin typeface="Calibri (MS)"/>
                <a:ea typeface="Calibri (MS)"/>
                <a:cs typeface="Calibri (MS)"/>
                <a:sym typeface="Calibri (MS)"/>
              </a:rPr>
              <a:t>aiScore (0-100) e aiJustification, salvos na ideia, visíveis a qualquer momento.</a:t>
            </a:r>
          </a:p>
        </p:txBody>
      </p:sp>
      <p:grpSp>
        <p:nvGrpSpPr>
          <p:cNvPr name="Group 49" id="49"/>
          <p:cNvGrpSpPr/>
          <p:nvPr/>
        </p:nvGrpSpPr>
        <p:grpSpPr>
          <a:xfrm rot="0">
            <a:off x="6858000" y="7392924"/>
            <a:ext cx="685800" cy="685800"/>
            <a:chOff x="0" y="0"/>
            <a:chExt cx="914400" cy="914400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914400" cy="914400"/>
            </a:xfrm>
            <a:custGeom>
              <a:avLst/>
              <a:gdLst/>
              <a:ahLst/>
              <a:cxnLst/>
              <a:rect r="r" b="b" t="t" l="l"/>
              <a:pathLst>
                <a:path h="914400" w="914400">
                  <a:moveTo>
                    <a:pt x="0" y="457200"/>
                  </a:moveTo>
                  <a:cubicBezTo>
                    <a:pt x="0" y="204724"/>
                    <a:pt x="204724" y="0"/>
                    <a:pt x="457200" y="0"/>
                  </a:cubicBezTo>
                  <a:cubicBezTo>
                    <a:pt x="709676" y="0"/>
                    <a:pt x="914400" y="204724"/>
                    <a:pt x="914400" y="457200"/>
                  </a:cubicBezTo>
                  <a:cubicBezTo>
                    <a:pt x="914400" y="709676"/>
                    <a:pt x="709676" y="914400"/>
                    <a:pt x="457200" y="914400"/>
                  </a:cubicBezTo>
                  <a:cubicBezTo>
                    <a:pt x="204724" y="914400"/>
                    <a:pt x="0" y="709676"/>
                    <a:pt x="0" y="457200"/>
                  </a:cubicBezTo>
                  <a:close/>
                </a:path>
              </a:pathLst>
            </a:custGeom>
            <a:solidFill>
              <a:srgbClr val="C87D0E"/>
            </a:solidFill>
          </p:spPr>
        </p:sp>
      </p:grpSp>
      <p:grpSp>
        <p:nvGrpSpPr>
          <p:cNvPr name="Group 51" id="51"/>
          <p:cNvGrpSpPr/>
          <p:nvPr/>
        </p:nvGrpSpPr>
        <p:grpSpPr>
          <a:xfrm rot="0">
            <a:off x="6858000" y="7392924"/>
            <a:ext cx="685800" cy="685800"/>
            <a:chOff x="0" y="0"/>
            <a:chExt cx="914400" cy="914400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914400" cy="914400"/>
            </a:xfrm>
            <a:custGeom>
              <a:avLst/>
              <a:gdLst/>
              <a:ahLst/>
              <a:cxnLst/>
              <a:rect r="r" b="b" t="t" l="l"/>
              <a:pathLst>
                <a:path h="91440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53" id="53"/>
            <p:cNvSpPr txBox="true"/>
            <p:nvPr/>
          </p:nvSpPr>
          <p:spPr>
            <a:xfrm>
              <a:off x="0" y="-9525"/>
              <a:ext cx="914400" cy="9239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060"/>
                </a:lnSpc>
              </a:pPr>
              <a:r>
                <a:rPr lang="en-US" b="true" sz="2550">
                  <a:solidFill>
                    <a:srgbClr val="FFFFF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4</a:t>
              </a:r>
            </a:p>
          </p:txBody>
        </p:sp>
      </p:grpSp>
      <p:grpSp>
        <p:nvGrpSpPr>
          <p:cNvPr name="Group 54" id="54"/>
          <p:cNvGrpSpPr/>
          <p:nvPr/>
        </p:nvGrpSpPr>
        <p:grpSpPr>
          <a:xfrm rot="0">
            <a:off x="7818120" y="7351776"/>
            <a:ext cx="9642348" cy="480060"/>
            <a:chOff x="0" y="0"/>
            <a:chExt cx="12856464" cy="640080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12856464" cy="640080"/>
            </a:xfrm>
            <a:custGeom>
              <a:avLst/>
              <a:gdLst/>
              <a:ahLst/>
              <a:cxnLst/>
              <a:rect r="r" b="b" t="t" l="l"/>
              <a:pathLst>
                <a:path h="640080" w="12856464">
                  <a:moveTo>
                    <a:pt x="0" y="0"/>
                  </a:moveTo>
                  <a:lnTo>
                    <a:pt x="12856464" y="0"/>
                  </a:lnTo>
                  <a:lnTo>
                    <a:pt x="12856464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41370" r="0" b="-341370"/>
              </a:stretch>
            </a:blipFill>
          </p:spPr>
        </p:sp>
        <p:sp>
          <p:nvSpPr>
            <p:cNvPr name="TextBox 56" id="56"/>
            <p:cNvSpPr txBox="true"/>
            <p:nvPr/>
          </p:nvSpPr>
          <p:spPr>
            <a:xfrm>
              <a:off x="0" y="-47625"/>
              <a:ext cx="12856464" cy="6877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b="true" sz="1950">
                  <a:solidFill>
                    <a:srgbClr val="1A254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GESTOR MANTÉM A DECISÃO FINAL</a:t>
              </a:r>
            </a:p>
          </p:txBody>
        </p:sp>
      </p:grpSp>
      <p:sp>
        <p:nvSpPr>
          <p:cNvPr name="TextBox 57" id="57"/>
          <p:cNvSpPr txBox="true"/>
          <p:nvPr/>
        </p:nvSpPr>
        <p:spPr>
          <a:xfrm rot="0">
            <a:off x="7818120" y="7793736"/>
            <a:ext cx="9642348" cy="8610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5B6472"/>
                </a:solidFill>
                <a:latin typeface="Calibri (MS)"/>
                <a:ea typeface="Calibri (MS)"/>
                <a:cs typeface="Calibri (MS)"/>
                <a:sym typeface="Calibri (MS)"/>
              </a:rPr>
              <a:t>A IA prioriza e recomenda — aprovar ou rejeitar continua sendo humano.</a:t>
            </a:r>
          </a:p>
        </p:txBody>
      </p:sp>
      <p:grpSp>
        <p:nvGrpSpPr>
          <p:cNvPr name="Group 58" id="58"/>
          <p:cNvGrpSpPr/>
          <p:nvPr/>
        </p:nvGrpSpPr>
        <p:grpSpPr>
          <a:xfrm rot="0">
            <a:off x="17323308" y="9669780"/>
            <a:ext cx="685800" cy="411480"/>
            <a:chOff x="0" y="0"/>
            <a:chExt cx="914400" cy="548640"/>
          </a:xfrm>
        </p:grpSpPr>
        <p:sp>
          <p:nvSpPr>
            <p:cNvPr name="Freeform 59" id="59"/>
            <p:cNvSpPr/>
            <p:nvPr/>
          </p:nvSpPr>
          <p:spPr>
            <a:xfrm flipH="false" flipV="false" rot="0">
              <a:off x="0" y="0"/>
              <a:ext cx="914400" cy="548640"/>
            </a:xfrm>
            <a:custGeom>
              <a:avLst/>
              <a:gdLst/>
              <a:ahLst/>
              <a:cxnLst/>
              <a:rect r="r" b="b" t="t" l="l"/>
              <a:pathLst>
                <a:path h="54864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26982" t="0" r="-26982" b="0"/>
              </a:stretch>
            </a:blipFill>
          </p:spPr>
        </p:sp>
        <p:sp>
          <p:nvSpPr>
            <p:cNvPr name="TextBox 60" id="60"/>
            <p:cNvSpPr txBox="true"/>
            <p:nvPr/>
          </p:nvSpPr>
          <p:spPr>
            <a:xfrm>
              <a:off x="0" y="-38100"/>
              <a:ext cx="91440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800"/>
                </a:lnSpc>
              </a:pPr>
              <a:r>
                <a:rPr lang="en-US" sz="1500">
                  <a:solidFill>
                    <a:srgbClr val="5B6472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13</a:t>
              </a:r>
            </a:p>
          </p:txBody>
        </p:sp>
      </p:grp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234440" y="617220"/>
            <a:ext cx="10972800" cy="480060"/>
            <a:chOff x="0" y="0"/>
            <a:chExt cx="14630400" cy="64008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4630400" cy="640080"/>
            </a:xfrm>
            <a:custGeom>
              <a:avLst/>
              <a:gdLst/>
              <a:ahLst/>
              <a:cxnLst/>
              <a:rect r="r" b="b" t="t" l="l"/>
              <a:pathLst>
                <a:path h="640080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95372" r="0" b="-395372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14630400" cy="6877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b="true" sz="1950">
                  <a:solidFill>
                    <a:srgbClr val="C87D0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ESPECIFICAÇÃO TÉCNICA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234440" y="1097280"/>
            <a:ext cx="15087600" cy="754380"/>
            <a:chOff x="0" y="0"/>
            <a:chExt cx="20116800" cy="100584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0116800" cy="1005840"/>
            </a:xfrm>
            <a:custGeom>
              <a:avLst/>
              <a:gdLst/>
              <a:ahLst/>
              <a:cxnLst/>
              <a:rect r="r" b="b" t="t" l="l"/>
              <a:pathLst>
                <a:path h="1005840" w="20116800">
                  <a:moveTo>
                    <a:pt x="0" y="0"/>
                  </a:moveTo>
                  <a:lnTo>
                    <a:pt x="20116800" y="0"/>
                  </a:lnTo>
                  <a:lnTo>
                    <a:pt x="20116800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39700" r="0" b="-339700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9525"/>
              <a:ext cx="20116800" cy="10153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860"/>
                </a:lnSpc>
              </a:pPr>
              <a:r>
                <a:rPr lang="en-US" b="true" sz="4050">
                  <a:solidFill>
                    <a:srgbClr val="1A2540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Endpoints — Auth, Ideias e Projetos</a:t>
              </a:r>
            </a:p>
          </p:txBody>
        </p:sp>
      </p:grpSp>
      <p:graphicFrame>
        <p:nvGraphicFramePr>
          <p:cNvPr name="Table 8" id="8"/>
          <p:cNvGraphicFramePr>
            <a:graphicFrameLocks noGrp="true"/>
          </p:cNvGraphicFramePr>
          <p:nvPr/>
        </p:nvGraphicFramePr>
        <p:xfrm>
          <a:off x="1234440" y="2125980"/>
          <a:ext cx="15773400" cy="6572250"/>
        </p:xfrm>
        <a:graphic>
          <a:graphicData uri="http://schemas.openxmlformats.org/drawingml/2006/table">
            <a:tbl>
              <a:tblPr/>
              <a:tblGrid>
                <a:gridCol w="2061921"/>
                <a:gridCol w="4502338"/>
                <a:gridCol w="1248436"/>
                <a:gridCol w="1790771"/>
                <a:gridCol w="6169934"/>
              </a:tblGrid>
              <a:tr h="48648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980"/>
                        </a:lnSpc>
                        <a:defRPr/>
                      </a:pPr>
                      <a:r>
                        <a:rPr lang="en-US" b="true" sz="1650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Recurso</a:t>
                      </a:r>
                      <a:endParaRPr lang="en-US" sz="1100"/>
                    </a:p>
                  </a:txBody>
                  <a:tcPr marL="73150" marR="73150" marT="73150" marB="73150" anchor="ctr">
                    <a:lnL cmpd="sng" algn="ctr" cap="flat" w="9525">
                      <a:solidFill>
                        <a:srgbClr val="E3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E3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E3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E3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540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980"/>
                        </a:lnSpc>
                        <a:defRPr/>
                      </a:pPr>
                      <a:r>
                        <a:rPr lang="en-US" b="true" sz="1650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Rota</a:t>
                      </a:r>
                      <a:endParaRPr lang="en-US" sz="1100"/>
                    </a:p>
                  </a:txBody>
                  <a:tcPr marL="73150" marR="73150" marT="73150" marB="73150" anchor="ctr">
                    <a:lnL cmpd="sng" algn="ctr" cap="flat" w="9525">
                      <a:solidFill>
                        <a:srgbClr val="E3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E3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E3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E3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540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980"/>
                        </a:lnSpc>
                        <a:defRPr/>
                      </a:pPr>
                      <a:r>
                        <a:rPr lang="en-US" b="true" sz="1650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Método</a:t>
                      </a:r>
                      <a:endParaRPr lang="en-US" sz="1100"/>
                    </a:p>
                  </a:txBody>
                  <a:tcPr marL="73150" marR="73150" marT="73150" marB="73150" anchor="ctr">
                    <a:lnL cmpd="sng" algn="ctr" cap="flat" w="9525">
                      <a:solidFill>
                        <a:srgbClr val="E3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E3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E3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E3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540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980"/>
                        </a:lnSpc>
                        <a:defRPr/>
                      </a:pPr>
                      <a:r>
                        <a:rPr lang="en-US" b="true" sz="1650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Perfil</a:t>
                      </a:r>
                      <a:endParaRPr lang="en-US" sz="1100"/>
                    </a:p>
                  </a:txBody>
                  <a:tcPr marL="73150" marR="73150" marT="73150" marB="73150" anchor="ctr">
                    <a:lnL cmpd="sng" algn="ctr" cap="flat" w="9525">
                      <a:solidFill>
                        <a:srgbClr val="E3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E3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E3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E3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540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980"/>
                        </a:lnSpc>
                        <a:defRPr/>
                      </a:pPr>
                      <a:r>
                        <a:rPr lang="en-US" b="true" sz="1650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Descrição</a:t>
                      </a:r>
                      <a:endParaRPr lang="en-US" sz="1100"/>
                    </a:p>
                  </a:txBody>
                  <a:tcPr marL="73150" marR="73150" marT="73150" marB="73150" anchor="ctr">
                    <a:lnL cmpd="sng" algn="ctr" cap="flat" w="9525">
                      <a:solidFill>
                        <a:srgbClr val="E3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E3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E3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E3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540"/>
                    </a:solidFill>
                  </a:tcPr>
                </a:tc>
              </a:tr>
              <a:tr h="581868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889"/>
                        </a:lnSpc>
                        <a:defRPr/>
                      </a:pPr>
                      <a:r>
                        <a:rPr lang="en-US" sz="1575">
                          <a:solidFill>
                            <a:srgbClr val="1A254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Auth</a:t>
                      </a:r>
                      <a:endParaRPr lang="en-US" sz="1100"/>
                    </a:p>
                  </a:txBody>
                  <a:tcPr marL="73150" marR="73150" marT="73150" marB="73150" anchor="ctr">
                    <a:lnL cmpd="sng" algn="ctr" cap="flat" w="9525">
                      <a:solidFill>
                        <a:srgbClr val="E3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E3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E3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E3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889"/>
                        </a:lnSpc>
                        <a:defRPr/>
                      </a:pPr>
                      <a:r>
                        <a:rPr lang="en-US" sz="1575">
                          <a:solidFill>
                            <a:srgbClr val="1A2540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/api/v1/auth/register</a:t>
                      </a:r>
                      <a:endParaRPr lang="en-US" sz="1100"/>
                    </a:p>
                  </a:txBody>
                  <a:tcPr marL="73150" marR="73150" marT="73150" marB="73150" anchor="ctr">
                    <a:lnL cmpd="sng" algn="ctr" cap="flat" w="9525">
                      <a:solidFill>
                        <a:srgbClr val="E3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E3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E3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E3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889"/>
                        </a:lnSpc>
                        <a:defRPr/>
                      </a:pPr>
                      <a:r>
                        <a:rPr lang="en-US" sz="1575">
                          <a:solidFill>
                            <a:srgbClr val="1A254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POST</a:t>
                      </a:r>
                      <a:endParaRPr lang="en-US" sz="1100"/>
                    </a:p>
                  </a:txBody>
                  <a:tcPr marL="73150" marR="73150" marT="73150" marB="73150" anchor="ctr">
                    <a:lnL cmpd="sng" algn="ctr" cap="flat" w="9525">
                      <a:solidFill>
                        <a:srgbClr val="E3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E3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E3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E3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889"/>
                        </a:lnSpc>
                        <a:defRPr/>
                      </a:pPr>
                      <a:r>
                        <a:rPr lang="en-US" sz="1575">
                          <a:solidFill>
                            <a:srgbClr val="1A254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Público</a:t>
                      </a:r>
                      <a:endParaRPr lang="en-US" sz="1100"/>
                    </a:p>
                  </a:txBody>
                  <a:tcPr marL="73150" marR="73150" marT="73150" marB="73150" anchor="ctr">
                    <a:lnL cmpd="sng" algn="ctr" cap="flat" w="9525">
                      <a:solidFill>
                        <a:srgbClr val="E3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E3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E3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E3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889"/>
                        </a:lnSpc>
                        <a:defRPr/>
                      </a:pPr>
                      <a:r>
                        <a:rPr lang="en-US" sz="1575">
                          <a:solidFill>
                            <a:srgbClr val="1A254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Cria conta → retorna accessToken + dados do usuário</a:t>
                      </a:r>
                      <a:endParaRPr lang="en-US" sz="1100"/>
                    </a:p>
                  </a:txBody>
                  <a:tcPr marL="73150" marR="73150" marT="73150" marB="73150" anchor="ctr">
                    <a:lnL cmpd="sng" algn="ctr" cap="flat" w="9525">
                      <a:solidFill>
                        <a:srgbClr val="E3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E3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E3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E3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81868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889"/>
                        </a:lnSpc>
                        <a:defRPr/>
                      </a:pPr>
                      <a:r>
                        <a:rPr lang="en-US" sz="1575">
                          <a:solidFill>
                            <a:srgbClr val="1A254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Auth</a:t>
                      </a:r>
                      <a:endParaRPr lang="en-US" sz="1100"/>
                    </a:p>
                  </a:txBody>
                  <a:tcPr marL="73150" marR="73150" marT="73150" marB="73150" anchor="ctr">
                    <a:lnL cmpd="sng" algn="ctr" cap="flat" w="9525">
                      <a:solidFill>
                        <a:srgbClr val="E3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E3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E3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E3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889"/>
                        </a:lnSpc>
                        <a:defRPr/>
                      </a:pPr>
                      <a:r>
                        <a:rPr lang="en-US" sz="1575">
                          <a:solidFill>
                            <a:srgbClr val="1A2540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/api/v1/auth/login</a:t>
                      </a:r>
                      <a:endParaRPr lang="en-US" sz="1100"/>
                    </a:p>
                  </a:txBody>
                  <a:tcPr marL="73150" marR="73150" marT="73150" marB="73150" anchor="ctr">
                    <a:lnL cmpd="sng" algn="ctr" cap="flat" w="9525">
                      <a:solidFill>
                        <a:srgbClr val="E3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E3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E3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E3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889"/>
                        </a:lnSpc>
                        <a:defRPr/>
                      </a:pPr>
                      <a:r>
                        <a:rPr lang="en-US" sz="1575">
                          <a:solidFill>
                            <a:srgbClr val="1A254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POST</a:t>
                      </a:r>
                      <a:endParaRPr lang="en-US" sz="1100"/>
                    </a:p>
                  </a:txBody>
                  <a:tcPr marL="73150" marR="73150" marT="73150" marB="73150" anchor="ctr">
                    <a:lnL cmpd="sng" algn="ctr" cap="flat" w="9525">
                      <a:solidFill>
                        <a:srgbClr val="E3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E3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E3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E3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889"/>
                        </a:lnSpc>
                        <a:defRPr/>
                      </a:pPr>
                      <a:r>
                        <a:rPr lang="en-US" sz="1575">
                          <a:solidFill>
                            <a:srgbClr val="1A254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Público</a:t>
                      </a:r>
                      <a:endParaRPr lang="en-US" sz="1100"/>
                    </a:p>
                  </a:txBody>
                  <a:tcPr marL="73150" marR="73150" marT="73150" marB="73150" anchor="ctr">
                    <a:lnL cmpd="sng" algn="ctr" cap="flat" w="9525">
                      <a:solidFill>
                        <a:srgbClr val="E3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E3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E3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E3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889"/>
                        </a:lnSpc>
                        <a:defRPr/>
                      </a:pPr>
                      <a:r>
                        <a:rPr lang="en-US" sz="1575">
                          <a:solidFill>
                            <a:srgbClr val="1A254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email + password → accessToken (JWT, 24h)</a:t>
                      </a:r>
                      <a:endParaRPr lang="en-US" sz="1100"/>
                    </a:p>
                  </a:txBody>
                  <a:tcPr marL="73150" marR="73150" marT="73150" marB="73150" anchor="ctr">
                    <a:lnL cmpd="sng" algn="ctr" cap="flat" w="9525">
                      <a:solidFill>
                        <a:srgbClr val="E3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E3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E3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E3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81868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889"/>
                        </a:lnSpc>
                        <a:defRPr/>
                      </a:pPr>
                      <a:r>
                        <a:rPr lang="en-US" sz="1575">
                          <a:solidFill>
                            <a:srgbClr val="1A254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Auth</a:t>
                      </a:r>
                      <a:endParaRPr lang="en-US" sz="1100"/>
                    </a:p>
                  </a:txBody>
                  <a:tcPr marL="73150" marR="73150" marT="73150" marB="73150" anchor="ctr">
                    <a:lnL cmpd="sng" algn="ctr" cap="flat" w="9525">
                      <a:solidFill>
                        <a:srgbClr val="E3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E3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E3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E3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889"/>
                        </a:lnSpc>
                        <a:defRPr/>
                      </a:pPr>
                      <a:r>
                        <a:rPr lang="en-US" sz="1575">
                          <a:solidFill>
                            <a:srgbClr val="1A2540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/api/v1/auth/recover-password</a:t>
                      </a:r>
                      <a:endParaRPr lang="en-US" sz="1100"/>
                    </a:p>
                  </a:txBody>
                  <a:tcPr marL="73150" marR="73150" marT="73150" marB="73150" anchor="ctr">
                    <a:lnL cmpd="sng" algn="ctr" cap="flat" w="9525">
                      <a:solidFill>
                        <a:srgbClr val="E3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E3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E3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E3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889"/>
                        </a:lnSpc>
                        <a:defRPr/>
                      </a:pPr>
                      <a:r>
                        <a:rPr lang="en-US" sz="1575">
                          <a:solidFill>
                            <a:srgbClr val="1A254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POST</a:t>
                      </a:r>
                      <a:endParaRPr lang="en-US" sz="1100"/>
                    </a:p>
                  </a:txBody>
                  <a:tcPr marL="73150" marR="73150" marT="73150" marB="73150" anchor="ctr">
                    <a:lnL cmpd="sng" algn="ctr" cap="flat" w="9525">
                      <a:solidFill>
                        <a:srgbClr val="E3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E3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E3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E3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889"/>
                        </a:lnSpc>
                        <a:defRPr/>
                      </a:pPr>
                      <a:r>
                        <a:rPr lang="en-US" sz="1575">
                          <a:solidFill>
                            <a:srgbClr val="1A254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Público</a:t>
                      </a:r>
                      <a:endParaRPr lang="en-US" sz="1100"/>
                    </a:p>
                  </a:txBody>
                  <a:tcPr marL="73150" marR="73150" marT="73150" marB="73150" anchor="ctr">
                    <a:lnL cmpd="sng" algn="ctr" cap="flat" w="9525">
                      <a:solidFill>
                        <a:srgbClr val="E3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E3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E3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E3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889"/>
                        </a:lnSpc>
                        <a:defRPr/>
                      </a:pPr>
                      <a:r>
                        <a:rPr lang="en-US" sz="1575">
                          <a:solidFill>
                            <a:srgbClr val="1A254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Gera senha temporária para o e-mail informado</a:t>
                      </a:r>
                      <a:endParaRPr lang="en-US" sz="1100"/>
                    </a:p>
                  </a:txBody>
                  <a:tcPr marL="73150" marR="73150" marT="73150" marB="73150" anchor="ctr">
                    <a:lnL cmpd="sng" algn="ctr" cap="flat" w="9525">
                      <a:solidFill>
                        <a:srgbClr val="E3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E3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E3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E3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81868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889"/>
                        </a:lnSpc>
                        <a:defRPr/>
                      </a:pPr>
                      <a:r>
                        <a:rPr lang="en-US" sz="1575">
                          <a:solidFill>
                            <a:srgbClr val="1A254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Ideas</a:t>
                      </a:r>
                      <a:endParaRPr lang="en-US" sz="1100"/>
                    </a:p>
                  </a:txBody>
                  <a:tcPr marL="73150" marR="73150" marT="73150" marB="73150" anchor="ctr">
                    <a:lnL cmpd="sng" algn="ctr" cap="flat" w="9525">
                      <a:solidFill>
                        <a:srgbClr val="E3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E3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E3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E3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889"/>
                        </a:lnSpc>
                        <a:defRPr/>
                      </a:pPr>
                      <a:r>
                        <a:rPr lang="en-US" sz="1575">
                          <a:solidFill>
                            <a:srgbClr val="1A2540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/api/v1/ideas</a:t>
                      </a:r>
                      <a:endParaRPr lang="en-US" sz="1100"/>
                    </a:p>
                  </a:txBody>
                  <a:tcPr marL="73150" marR="73150" marT="73150" marB="73150" anchor="ctr">
                    <a:lnL cmpd="sng" algn="ctr" cap="flat" w="9525">
                      <a:solidFill>
                        <a:srgbClr val="E3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E3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E3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E3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889"/>
                        </a:lnSpc>
                        <a:defRPr/>
                      </a:pPr>
                      <a:r>
                        <a:rPr lang="en-US" sz="1575">
                          <a:solidFill>
                            <a:srgbClr val="1A254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GET / POST</a:t>
                      </a:r>
                      <a:endParaRPr lang="en-US" sz="1100"/>
                    </a:p>
                  </a:txBody>
                  <a:tcPr marL="73150" marR="73150" marT="73150" marB="73150" anchor="ctr">
                    <a:lnL cmpd="sng" algn="ctr" cap="flat" w="9525">
                      <a:solidFill>
                        <a:srgbClr val="E3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E3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E3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E3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889"/>
                        </a:lnSpc>
                        <a:defRPr/>
                      </a:pPr>
                      <a:r>
                        <a:rPr lang="en-US" sz="1575">
                          <a:solidFill>
                            <a:srgbClr val="1A254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Todos / Operador</a:t>
                      </a:r>
                      <a:endParaRPr lang="en-US" sz="1100"/>
                    </a:p>
                  </a:txBody>
                  <a:tcPr marL="73150" marR="73150" marT="73150" marB="73150" anchor="ctr">
                    <a:lnL cmpd="sng" algn="ctr" cap="flat" w="9525">
                      <a:solidFill>
                        <a:srgbClr val="E3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E3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E3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E3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889"/>
                        </a:lnSpc>
                        <a:defRPr/>
                      </a:pPr>
                      <a:r>
                        <a:rPr lang="en-US" sz="1575">
                          <a:solidFill>
                            <a:srgbClr val="1A254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Lista (filtrada por role) / cria uma ideia</a:t>
                      </a:r>
                      <a:endParaRPr lang="en-US" sz="1100"/>
                    </a:p>
                  </a:txBody>
                  <a:tcPr marL="73150" marR="73150" marT="73150" marB="73150" anchor="ctr">
                    <a:lnL cmpd="sng" algn="ctr" cap="flat" w="9525">
                      <a:solidFill>
                        <a:srgbClr val="E3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E3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E3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E3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15412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889"/>
                        </a:lnSpc>
                        <a:defRPr/>
                      </a:pPr>
                      <a:r>
                        <a:rPr lang="en-US" sz="1575">
                          <a:solidFill>
                            <a:srgbClr val="1A254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Ideas</a:t>
                      </a:r>
                      <a:endParaRPr lang="en-US" sz="1100"/>
                    </a:p>
                  </a:txBody>
                  <a:tcPr marL="73150" marR="73150" marT="73150" marB="73150" anchor="ctr">
                    <a:lnL cmpd="sng" algn="ctr" cap="flat" w="9525">
                      <a:solidFill>
                        <a:srgbClr val="E3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E3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E3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E3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889"/>
                        </a:lnSpc>
                        <a:defRPr/>
                      </a:pPr>
                      <a:r>
                        <a:rPr lang="en-US" sz="1575">
                          <a:solidFill>
                            <a:srgbClr val="1A2540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/api/v1/ideas/{id}</a:t>
                      </a:r>
                      <a:endParaRPr lang="en-US" sz="1100"/>
                    </a:p>
                  </a:txBody>
                  <a:tcPr marL="73150" marR="73150" marT="73150" marB="73150" anchor="ctr">
                    <a:lnL cmpd="sng" algn="ctr" cap="flat" w="9525">
                      <a:solidFill>
                        <a:srgbClr val="E3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E3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E3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E3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889"/>
                        </a:lnSpc>
                        <a:defRPr/>
                      </a:pPr>
                      <a:r>
                        <a:rPr lang="en-US" sz="1575">
                          <a:solidFill>
                            <a:srgbClr val="1A254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GET / PUT / DELETE</a:t>
                      </a:r>
                      <a:endParaRPr lang="en-US" sz="1100"/>
                    </a:p>
                  </a:txBody>
                  <a:tcPr marL="73150" marR="73150" marT="73150" marB="73150" anchor="ctr">
                    <a:lnL cmpd="sng" algn="ctr" cap="flat" w="9525">
                      <a:solidFill>
                        <a:srgbClr val="E3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E3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E3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E3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889"/>
                        </a:lnSpc>
                        <a:defRPr/>
                      </a:pPr>
                      <a:r>
                        <a:rPr lang="en-US" sz="1575">
                          <a:solidFill>
                            <a:srgbClr val="1A254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Todos / Autor</a:t>
                      </a:r>
                      <a:endParaRPr lang="en-US" sz="1100"/>
                    </a:p>
                  </a:txBody>
                  <a:tcPr marL="73150" marR="73150" marT="73150" marB="73150" anchor="ctr">
                    <a:lnL cmpd="sng" algn="ctr" cap="flat" w="9525">
                      <a:solidFill>
                        <a:srgbClr val="E3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E3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E3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E3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889"/>
                        </a:lnSpc>
                        <a:defRPr/>
                      </a:pPr>
                      <a:r>
                        <a:rPr lang="en-US" sz="1575">
                          <a:solidFill>
                            <a:srgbClr val="1A254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Detalhe, edição e exclusão (só o autor)</a:t>
                      </a:r>
                      <a:endParaRPr lang="en-US" sz="1100"/>
                    </a:p>
                  </a:txBody>
                  <a:tcPr marL="73150" marR="73150" marT="73150" marB="73150" anchor="ctr">
                    <a:lnL cmpd="sng" algn="ctr" cap="flat" w="9525">
                      <a:solidFill>
                        <a:srgbClr val="E3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E3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E3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E3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81868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889"/>
                        </a:lnSpc>
                        <a:defRPr/>
                      </a:pPr>
                      <a:r>
                        <a:rPr lang="en-US" sz="1575">
                          <a:solidFill>
                            <a:srgbClr val="1A254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Ideas</a:t>
                      </a:r>
                      <a:endParaRPr lang="en-US" sz="1100"/>
                    </a:p>
                  </a:txBody>
                  <a:tcPr marL="73150" marR="73150" marT="73150" marB="73150" anchor="ctr">
                    <a:lnL cmpd="sng" algn="ctr" cap="flat" w="9525">
                      <a:solidFill>
                        <a:srgbClr val="E3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E3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E3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E3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889"/>
                        </a:lnSpc>
                        <a:defRPr/>
                      </a:pPr>
                      <a:r>
                        <a:rPr lang="en-US" sz="1575">
                          <a:solidFill>
                            <a:srgbClr val="1A2540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/api/v1/ideas/{id}/review</a:t>
                      </a:r>
                      <a:endParaRPr lang="en-US" sz="1100"/>
                    </a:p>
                  </a:txBody>
                  <a:tcPr marL="73150" marR="73150" marT="73150" marB="73150" anchor="ctr">
                    <a:lnL cmpd="sng" algn="ctr" cap="flat" w="9525">
                      <a:solidFill>
                        <a:srgbClr val="E3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E3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E3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E3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889"/>
                        </a:lnSpc>
                        <a:defRPr/>
                      </a:pPr>
                      <a:r>
                        <a:rPr lang="en-US" sz="1575">
                          <a:solidFill>
                            <a:srgbClr val="1A254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PATCH</a:t>
                      </a:r>
                      <a:endParaRPr lang="en-US" sz="1100"/>
                    </a:p>
                  </a:txBody>
                  <a:tcPr marL="73150" marR="73150" marT="73150" marB="73150" anchor="ctr">
                    <a:lnL cmpd="sng" algn="ctr" cap="flat" w="9525">
                      <a:solidFill>
                        <a:srgbClr val="E3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E3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E3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E3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889"/>
                        </a:lnSpc>
                        <a:defRPr/>
                      </a:pPr>
                      <a:r>
                        <a:rPr lang="en-US" sz="1575">
                          <a:solidFill>
                            <a:srgbClr val="1A254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Gestor</a:t>
                      </a:r>
                      <a:endParaRPr lang="en-US" sz="1100"/>
                    </a:p>
                  </a:txBody>
                  <a:tcPr marL="73150" marR="73150" marT="73150" marB="73150" anchor="ctr">
                    <a:lnL cmpd="sng" algn="ctr" cap="flat" w="9525">
                      <a:solidFill>
                        <a:srgbClr val="E3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E3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E3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E3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889"/>
                        </a:lnSpc>
                        <a:defRPr/>
                      </a:pPr>
                      <a:r>
                        <a:rPr lang="en-US" sz="1575">
                          <a:solidFill>
                            <a:srgbClr val="1A254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status + score + gestorFeedback</a:t>
                      </a:r>
                      <a:endParaRPr lang="en-US" sz="1100"/>
                    </a:p>
                  </a:txBody>
                  <a:tcPr marL="73150" marR="73150" marT="73150" marB="73150" anchor="ctr">
                    <a:lnL cmpd="sng" algn="ctr" cap="flat" w="9525">
                      <a:solidFill>
                        <a:srgbClr val="E3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E3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E3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E3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81868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889"/>
                        </a:lnSpc>
                        <a:defRPr/>
                      </a:pPr>
                      <a:r>
                        <a:rPr lang="en-US" sz="1575">
                          <a:solidFill>
                            <a:srgbClr val="1A254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Ideas</a:t>
                      </a:r>
                      <a:endParaRPr lang="en-US" sz="1100"/>
                    </a:p>
                  </a:txBody>
                  <a:tcPr marL="73150" marR="73150" marT="73150" marB="73150" anchor="ctr">
                    <a:lnL cmpd="sng" algn="ctr" cap="flat" w="9525">
                      <a:solidFill>
                        <a:srgbClr val="E3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E3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E3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E3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889"/>
                        </a:lnSpc>
                        <a:defRPr/>
                      </a:pPr>
                      <a:r>
                        <a:rPr lang="en-US" sz="1575">
                          <a:solidFill>
                            <a:srgbClr val="1A2540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/api/v1/ideas/{id}/ai-score</a:t>
                      </a:r>
                      <a:endParaRPr lang="en-US" sz="1100"/>
                    </a:p>
                  </a:txBody>
                  <a:tcPr marL="73150" marR="73150" marT="73150" marB="73150" anchor="ctr">
                    <a:lnL cmpd="sng" algn="ctr" cap="flat" w="9525">
                      <a:solidFill>
                        <a:srgbClr val="E3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E3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E3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E3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889"/>
                        </a:lnSpc>
                        <a:defRPr/>
                      </a:pPr>
                      <a:r>
                        <a:rPr lang="en-US" sz="1575">
                          <a:solidFill>
                            <a:srgbClr val="1A254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POST</a:t>
                      </a:r>
                      <a:endParaRPr lang="en-US" sz="1100"/>
                    </a:p>
                  </a:txBody>
                  <a:tcPr marL="73150" marR="73150" marT="73150" marB="73150" anchor="ctr">
                    <a:lnL cmpd="sng" algn="ctr" cap="flat" w="9525">
                      <a:solidFill>
                        <a:srgbClr val="E3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E3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E3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E3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889"/>
                        </a:lnSpc>
                        <a:defRPr/>
                      </a:pPr>
                      <a:r>
                        <a:rPr lang="en-US" sz="1575">
                          <a:solidFill>
                            <a:srgbClr val="1A254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Gestor</a:t>
                      </a:r>
                      <a:endParaRPr lang="en-US" sz="1100"/>
                    </a:p>
                  </a:txBody>
                  <a:tcPr marL="73150" marR="73150" marT="73150" marB="73150" anchor="ctr">
                    <a:lnL cmpd="sng" algn="ctr" cap="flat" w="9525">
                      <a:solidFill>
                        <a:srgbClr val="E3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E3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E3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E3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889"/>
                        </a:lnSpc>
                        <a:defRPr/>
                      </a:pPr>
                      <a:r>
                        <a:rPr lang="en-US" sz="1575">
                          <a:solidFill>
                            <a:srgbClr val="1A254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Aciona o Gemini → aiScore + aiJustification</a:t>
                      </a:r>
                      <a:endParaRPr lang="en-US" sz="1100"/>
                    </a:p>
                  </a:txBody>
                  <a:tcPr marL="73150" marR="73150" marT="73150" marB="73150" anchor="ctr">
                    <a:lnL cmpd="sng" algn="ctr" cap="flat" w="9525">
                      <a:solidFill>
                        <a:srgbClr val="E3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E3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E3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E3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81868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889"/>
                        </a:lnSpc>
                        <a:defRPr/>
                      </a:pPr>
                      <a:r>
                        <a:rPr lang="en-US" sz="1575">
                          <a:solidFill>
                            <a:srgbClr val="1A254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Projects</a:t>
                      </a:r>
                      <a:endParaRPr lang="en-US" sz="1100"/>
                    </a:p>
                  </a:txBody>
                  <a:tcPr marL="73150" marR="73150" marT="73150" marB="73150" anchor="ctr">
                    <a:lnL cmpd="sng" algn="ctr" cap="flat" w="9525">
                      <a:solidFill>
                        <a:srgbClr val="E3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E3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E3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E3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889"/>
                        </a:lnSpc>
                        <a:defRPr/>
                      </a:pPr>
                      <a:r>
                        <a:rPr lang="en-US" sz="1575">
                          <a:solidFill>
                            <a:srgbClr val="1A2540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/api/v1/projects</a:t>
                      </a:r>
                      <a:endParaRPr lang="en-US" sz="1100"/>
                    </a:p>
                  </a:txBody>
                  <a:tcPr marL="73150" marR="73150" marT="73150" marB="73150" anchor="ctr">
                    <a:lnL cmpd="sng" algn="ctr" cap="flat" w="9525">
                      <a:solidFill>
                        <a:srgbClr val="E3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E3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E3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E3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889"/>
                        </a:lnSpc>
                        <a:defRPr/>
                      </a:pPr>
                      <a:r>
                        <a:rPr lang="en-US" sz="1575">
                          <a:solidFill>
                            <a:srgbClr val="1A254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GET / POST</a:t>
                      </a:r>
                      <a:endParaRPr lang="en-US" sz="1100"/>
                    </a:p>
                  </a:txBody>
                  <a:tcPr marL="73150" marR="73150" marT="73150" marB="73150" anchor="ctr">
                    <a:lnL cmpd="sng" algn="ctr" cap="flat" w="9525">
                      <a:solidFill>
                        <a:srgbClr val="E3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E3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E3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E3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889"/>
                        </a:lnSpc>
                        <a:defRPr/>
                      </a:pPr>
                      <a:r>
                        <a:rPr lang="en-US" sz="1575">
                          <a:solidFill>
                            <a:srgbClr val="1A254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Todos / Gestor</a:t>
                      </a:r>
                      <a:endParaRPr lang="en-US" sz="1100"/>
                    </a:p>
                  </a:txBody>
                  <a:tcPr marL="73150" marR="73150" marT="73150" marB="73150" anchor="ctr">
                    <a:lnL cmpd="sng" algn="ctr" cap="flat" w="9525">
                      <a:solidFill>
                        <a:srgbClr val="E3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E3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E3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E3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889"/>
                        </a:lnSpc>
                        <a:defRPr/>
                      </a:pPr>
                      <a:r>
                        <a:rPr lang="en-US" sz="1575">
                          <a:solidFill>
                            <a:srgbClr val="1A254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Lista / cria projeto vinculado a uma ideia aprovada</a:t>
                      </a:r>
                      <a:endParaRPr lang="en-US" sz="1100"/>
                    </a:p>
                  </a:txBody>
                  <a:tcPr marL="73150" marR="73150" marT="73150" marB="73150" anchor="ctr">
                    <a:lnL cmpd="sng" algn="ctr" cap="flat" w="9525">
                      <a:solidFill>
                        <a:srgbClr val="E3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E3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E3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E3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15412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889"/>
                        </a:lnSpc>
                        <a:defRPr/>
                      </a:pPr>
                      <a:r>
                        <a:rPr lang="en-US" sz="1575">
                          <a:solidFill>
                            <a:srgbClr val="1A254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Projects</a:t>
                      </a:r>
                      <a:endParaRPr lang="en-US" sz="1100"/>
                    </a:p>
                  </a:txBody>
                  <a:tcPr marL="73150" marR="73150" marT="73150" marB="73150" anchor="ctr">
                    <a:lnL cmpd="sng" algn="ctr" cap="flat" w="9525">
                      <a:solidFill>
                        <a:srgbClr val="E3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E3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E3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E3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889"/>
                        </a:lnSpc>
                        <a:defRPr/>
                      </a:pPr>
                      <a:r>
                        <a:rPr lang="en-US" sz="1575">
                          <a:solidFill>
                            <a:srgbClr val="1A2540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/api/v1/projects/{id}</a:t>
                      </a:r>
                      <a:endParaRPr lang="en-US" sz="1100"/>
                    </a:p>
                  </a:txBody>
                  <a:tcPr marL="73150" marR="73150" marT="73150" marB="73150" anchor="ctr">
                    <a:lnL cmpd="sng" algn="ctr" cap="flat" w="9525">
                      <a:solidFill>
                        <a:srgbClr val="E3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E3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E3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E3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889"/>
                        </a:lnSpc>
                        <a:defRPr/>
                      </a:pPr>
                      <a:r>
                        <a:rPr lang="en-US" sz="1575">
                          <a:solidFill>
                            <a:srgbClr val="1A254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PUT / DELETE</a:t>
                      </a:r>
                      <a:endParaRPr lang="en-US" sz="1100"/>
                    </a:p>
                  </a:txBody>
                  <a:tcPr marL="73150" marR="73150" marT="73150" marB="73150" anchor="ctr">
                    <a:lnL cmpd="sng" algn="ctr" cap="flat" w="9525">
                      <a:solidFill>
                        <a:srgbClr val="E3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E3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E3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E3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889"/>
                        </a:lnSpc>
                        <a:defRPr/>
                      </a:pPr>
                      <a:r>
                        <a:rPr lang="en-US" sz="1575">
                          <a:solidFill>
                            <a:srgbClr val="1A254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Gestor</a:t>
                      </a:r>
                      <a:endParaRPr lang="en-US" sz="1100"/>
                    </a:p>
                  </a:txBody>
                  <a:tcPr marL="73150" marR="73150" marT="73150" marB="73150" anchor="ctr">
                    <a:lnL cmpd="sng" algn="ctr" cap="flat" w="9525">
                      <a:solidFill>
                        <a:srgbClr val="E3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E3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E3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E3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889"/>
                        </a:lnSpc>
                        <a:defRPr/>
                      </a:pPr>
                      <a:r>
                        <a:rPr lang="en-US" sz="1575">
                          <a:solidFill>
                            <a:srgbClr val="1A254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Edição de dados gerais e exclusão</a:t>
                      </a:r>
                      <a:endParaRPr lang="en-US" sz="1100"/>
                    </a:p>
                  </a:txBody>
                  <a:tcPr marL="73150" marR="73150" marT="73150" marB="73150" anchor="ctr">
                    <a:lnL cmpd="sng" algn="ctr" cap="flat" w="9525">
                      <a:solidFill>
                        <a:srgbClr val="E3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E3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E3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E3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81868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889"/>
                        </a:lnSpc>
                        <a:defRPr/>
                      </a:pPr>
                      <a:r>
                        <a:rPr lang="en-US" sz="1575">
                          <a:solidFill>
                            <a:srgbClr val="1A254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Projects</a:t>
                      </a:r>
                      <a:endParaRPr lang="en-US" sz="1100"/>
                    </a:p>
                  </a:txBody>
                  <a:tcPr marL="73150" marR="73150" marT="73150" marB="73150" anchor="ctr">
                    <a:lnL cmpd="sng" algn="ctr" cap="flat" w="9525">
                      <a:solidFill>
                        <a:srgbClr val="E3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E3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E3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E3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889"/>
                        </a:lnSpc>
                        <a:defRPr/>
                      </a:pPr>
                      <a:r>
                        <a:rPr lang="en-US" sz="1575">
                          <a:solidFill>
                            <a:srgbClr val="1A2540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/api/v1/projects/{id}/progress</a:t>
                      </a:r>
                      <a:endParaRPr lang="en-US" sz="1100"/>
                    </a:p>
                  </a:txBody>
                  <a:tcPr marL="73150" marR="73150" marT="73150" marB="73150" anchor="ctr">
                    <a:lnL cmpd="sng" algn="ctr" cap="flat" w="9525">
                      <a:solidFill>
                        <a:srgbClr val="E3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E3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E3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E3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889"/>
                        </a:lnSpc>
                        <a:defRPr/>
                      </a:pPr>
                      <a:r>
                        <a:rPr lang="en-US" sz="1575">
                          <a:solidFill>
                            <a:srgbClr val="1A254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PATCH</a:t>
                      </a:r>
                      <a:endParaRPr lang="en-US" sz="1100"/>
                    </a:p>
                  </a:txBody>
                  <a:tcPr marL="73150" marR="73150" marT="73150" marB="73150" anchor="ctr">
                    <a:lnL cmpd="sng" algn="ctr" cap="flat" w="9525">
                      <a:solidFill>
                        <a:srgbClr val="E3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E3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E3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E3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889"/>
                        </a:lnSpc>
                        <a:defRPr/>
                      </a:pPr>
                      <a:r>
                        <a:rPr lang="en-US" sz="1575">
                          <a:solidFill>
                            <a:srgbClr val="1A254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Gestor</a:t>
                      </a:r>
                      <a:endParaRPr lang="en-US" sz="1100"/>
                    </a:p>
                  </a:txBody>
                  <a:tcPr marL="73150" marR="73150" marT="73150" marB="73150" anchor="ctr">
                    <a:lnL cmpd="sng" algn="ctr" cap="flat" w="9525">
                      <a:solidFill>
                        <a:srgbClr val="E3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E3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E3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E3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889"/>
                        </a:lnSpc>
                        <a:defRPr/>
                      </a:pPr>
                      <a:r>
                        <a:rPr lang="en-US" sz="1575">
                          <a:solidFill>
                            <a:srgbClr val="1A254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status + progress + actualRoi</a:t>
                      </a:r>
                      <a:endParaRPr lang="en-US" sz="1100"/>
                    </a:p>
                  </a:txBody>
                  <a:tcPr marL="73150" marR="73150" marT="73150" marB="73150" anchor="ctr">
                    <a:lnL cmpd="sng" algn="ctr" cap="flat" w="9525">
                      <a:solidFill>
                        <a:srgbClr val="E3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E3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E3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E3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pSp>
        <p:nvGrpSpPr>
          <p:cNvPr name="Group 9" id="9"/>
          <p:cNvGrpSpPr/>
          <p:nvPr/>
        </p:nvGrpSpPr>
        <p:grpSpPr>
          <a:xfrm rot="0">
            <a:off x="17323308" y="9669780"/>
            <a:ext cx="685800" cy="411480"/>
            <a:chOff x="0" y="0"/>
            <a:chExt cx="914400" cy="54864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914400" cy="548640"/>
            </a:xfrm>
            <a:custGeom>
              <a:avLst/>
              <a:gdLst/>
              <a:ahLst/>
              <a:cxnLst/>
              <a:rect r="r" b="b" t="t" l="l"/>
              <a:pathLst>
                <a:path h="54864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26982" t="0" r="-26982" b="0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91440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800"/>
                </a:lnSpc>
              </a:pPr>
              <a:r>
                <a:rPr lang="en-US" sz="1500">
                  <a:solidFill>
                    <a:srgbClr val="5B6472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14</a:t>
              </a:r>
            </a:p>
          </p:txBody>
        </p:sp>
      </p:grp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234440" y="617220"/>
            <a:ext cx="10972800" cy="480060"/>
            <a:chOff x="0" y="0"/>
            <a:chExt cx="14630400" cy="64008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4630400" cy="640080"/>
            </a:xfrm>
            <a:custGeom>
              <a:avLst/>
              <a:gdLst/>
              <a:ahLst/>
              <a:cxnLst/>
              <a:rect r="r" b="b" t="t" l="l"/>
              <a:pathLst>
                <a:path h="640080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95372" r="0" b="-395372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14630400" cy="6877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b="true" sz="1950">
                  <a:solidFill>
                    <a:srgbClr val="C87D0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ESPECIFICAÇÃO TÉCNICA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234440" y="1097280"/>
            <a:ext cx="15087600" cy="754380"/>
            <a:chOff x="0" y="0"/>
            <a:chExt cx="20116800" cy="100584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0116800" cy="1005840"/>
            </a:xfrm>
            <a:custGeom>
              <a:avLst/>
              <a:gdLst/>
              <a:ahLst/>
              <a:cxnLst/>
              <a:rect r="r" b="b" t="t" l="l"/>
              <a:pathLst>
                <a:path h="1005840" w="20116800">
                  <a:moveTo>
                    <a:pt x="0" y="0"/>
                  </a:moveTo>
                  <a:lnTo>
                    <a:pt x="20116800" y="0"/>
                  </a:lnTo>
                  <a:lnTo>
                    <a:pt x="20116800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39700" r="0" b="-339700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9525"/>
              <a:ext cx="20116800" cy="10153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860"/>
                </a:lnSpc>
              </a:pPr>
              <a:r>
                <a:rPr lang="en-US" b="true" sz="4050">
                  <a:solidFill>
                    <a:srgbClr val="1A2540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Endpoints — Orientações, Usuários e Dashboard</a:t>
              </a:r>
            </a:p>
          </p:txBody>
        </p:sp>
      </p:grpSp>
      <p:graphicFrame>
        <p:nvGraphicFramePr>
          <p:cNvPr name="Table 8" id="8"/>
          <p:cNvGraphicFramePr>
            <a:graphicFrameLocks noGrp="true"/>
          </p:cNvGraphicFramePr>
          <p:nvPr/>
        </p:nvGraphicFramePr>
        <p:xfrm>
          <a:off x="1234440" y="2125980"/>
          <a:ext cx="15773400" cy="6438900"/>
        </p:xfrm>
        <a:graphic>
          <a:graphicData uri="http://schemas.openxmlformats.org/drawingml/2006/table">
            <a:tbl>
              <a:tblPr/>
              <a:tblGrid>
                <a:gridCol w="2061921"/>
                <a:gridCol w="4502338"/>
                <a:gridCol w="1248436"/>
                <a:gridCol w="1790771"/>
                <a:gridCol w="6169934"/>
              </a:tblGrid>
              <a:tr h="486495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980"/>
                        </a:lnSpc>
                        <a:defRPr/>
                      </a:pPr>
                      <a:r>
                        <a:rPr lang="en-US" b="true" sz="1650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Recurso</a:t>
                      </a:r>
                      <a:endParaRPr lang="en-US" sz="1100"/>
                    </a:p>
                  </a:txBody>
                  <a:tcPr marL="73150" marR="73150" marT="73150" marB="73150" anchor="ctr">
                    <a:lnL cmpd="sng" algn="ctr" cap="flat" w="9525">
                      <a:solidFill>
                        <a:srgbClr val="E3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E3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E3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E3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540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980"/>
                        </a:lnSpc>
                        <a:defRPr/>
                      </a:pPr>
                      <a:r>
                        <a:rPr lang="en-US" b="true" sz="1650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Rota</a:t>
                      </a:r>
                      <a:endParaRPr lang="en-US" sz="1100"/>
                    </a:p>
                  </a:txBody>
                  <a:tcPr marL="73150" marR="73150" marT="73150" marB="73150" anchor="ctr">
                    <a:lnL cmpd="sng" algn="ctr" cap="flat" w="9525">
                      <a:solidFill>
                        <a:srgbClr val="E3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E3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E3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E3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540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980"/>
                        </a:lnSpc>
                        <a:defRPr/>
                      </a:pPr>
                      <a:r>
                        <a:rPr lang="en-US" b="true" sz="1650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Método</a:t>
                      </a:r>
                      <a:endParaRPr lang="en-US" sz="1100"/>
                    </a:p>
                  </a:txBody>
                  <a:tcPr marL="73150" marR="73150" marT="73150" marB="73150" anchor="ctr">
                    <a:lnL cmpd="sng" algn="ctr" cap="flat" w="9525">
                      <a:solidFill>
                        <a:srgbClr val="E3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E3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E3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E3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540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980"/>
                        </a:lnSpc>
                        <a:defRPr/>
                      </a:pPr>
                      <a:r>
                        <a:rPr lang="en-US" b="true" sz="1650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Perfil</a:t>
                      </a:r>
                      <a:endParaRPr lang="en-US" sz="1100"/>
                    </a:p>
                  </a:txBody>
                  <a:tcPr marL="73150" marR="73150" marT="73150" marB="73150" anchor="ctr">
                    <a:lnL cmpd="sng" algn="ctr" cap="flat" w="9525">
                      <a:solidFill>
                        <a:srgbClr val="E3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E3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E3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E3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540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980"/>
                        </a:lnSpc>
                        <a:defRPr/>
                      </a:pPr>
                      <a:r>
                        <a:rPr lang="en-US" b="true" sz="1650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Descrição</a:t>
                      </a:r>
                      <a:endParaRPr lang="en-US" sz="1100"/>
                    </a:p>
                  </a:txBody>
                  <a:tcPr marL="73150" marR="73150" marT="73150" marB="73150" anchor="ctr">
                    <a:lnL cmpd="sng" algn="ctr" cap="flat" w="9525">
                      <a:solidFill>
                        <a:srgbClr val="E3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E3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E3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E3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540"/>
                    </a:solidFill>
                  </a:tcPr>
                </a:tc>
              </a:tr>
              <a:tr h="581886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889"/>
                        </a:lnSpc>
                        <a:defRPr/>
                      </a:pPr>
                      <a:r>
                        <a:rPr lang="en-US" sz="1575">
                          <a:solidFill>
                            <a:srgbClr val="1A254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Orientations</a:t>
                      </a:r>
                      <a:endParaRPr lang="en-US" sz="1100"/>
                    </a:p>
                  </a:txBody>
                  <a:tcPr marL="73150" marR="73150" marT="73150" marB="73150" anchor="ctr">
                    <a:lnL cmpd="sng" algn="ctr" cap="flat" w="9525">
                      <a:solidFill>
                        <a:srgbClr val="E3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E3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E3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E3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889"/>
                        </a:lnSpc>
                        <a:defRPr/>
                      </a:pPr>
                      <a:r>
                        <a:rPr lang="en-US" sz="1575">
                          <a:solidFill>
                            <a:srgbClr val="1A2540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/api/v1/orientations</a:t>
                      </a:r>
                      <a:endParaRPr lang="en-US" sz="1100"/>
                    </a:p>
                  </a:txBody>
                  <a:tcPr marL="73150" marR="73150" marT="73150" marB="73150" anchor="ctr">
                    <a:lnL cmpd="sng" algn="ctr" cap="flat" w="9525">
                      <a:solidFill>
                        <a:srgbClr val="E3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E3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E3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E3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889"/>
                        </a:lnSpc>
                        <a:defRPr/>
                      </a:pPr>
                      <a:r>
                        <a:rPr lang="en-US" sz="1575">
                          <a:solidFill>
                            <a:srgbClr val="1A254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GET / POST</a:t>
                      </a:r>
                      <a:endParaRPr lang="en-US" sz="1100"/>
                    </a:p>
                  </a:txBody>
                  <a:tcPr marL="73150" marR="73150" marT="73150" marB="73150" anchor="ctr">
                    <a:lnL cmpd="sng" algn="ctr" cap="flat" w="9525">
                      <a:solidFill>
                        <a:srgbClr val="E3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E3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E3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E3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889"/>
                        </a:lnSpc>
                        <a:defRPr/>
                      </a:pPr>
                      <a:r>
                        <a:rPr lang="en-US" sz="1575">
                          <a:solidFill>
                            <a:srgbClr val="1A254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Todos / Líder</a:t>
                      </a:r>
                      <a:endParaRPr lang="en-US" sz="1100"/>
                    </a:p>
                  </a:txBody>
                  <a:tcPr marL="73150" marR="73150" marT="73150" marB="73150" anchor="ctr">
                    <a:lnL cmpd="sng" algn="ctr" cap="flat" w="9525">
                      <a:solidFill>
                        <a:srgbClr val="E3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E3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E3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E3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889"/>
                        </a:lnSpc>
                        <a:defRPr/>
                      </a:pPr>
                      <a:r>
                        <a:rPr lang="en-US" sz="1575">
                          <a:solidFill>
                            <a:srgbClr val="1A254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Consulta / cria orientação estratégica</a:t>
                      </a:r>
                      <a:endParaRPr lang="en-US" sz="1100"/>
                    </a:p>
                  </a:txBody>
                  <a:tcPr marL="73150" marR="73150" marT="73150" marB="73150" anchor="ctr">
                    <a:lnL cmpd="sng" algn="ctr" cap="flat" w="9525">
                      <a:solidFill>
                        <a:srgbClr val="E3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E3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E3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E3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15433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889"/>
                        </a:lnSpc>
                        <a:defRPr/>
                      </a:pPr>
                      <a:r>
                        <a:rPr lang="en-US" sz="1575">
                          <a:solidFill>
                            <a:srgbClr val="1A254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Orientations</a:t>
                      </a:r>
                      <a:endParaRPr lang="en-US" sz="1100"/>
                    </a:p>
                  </a:txBody>
                  <a:tcPr marL="73150" marR="73150" marT="73150" marB="73150" anchor="ctr">
                    <a:lnL cmpd="sng" algn="ctr" cap="flat" w="9525">
                      <a:solidFill>
                        <a:srgbClr val="E3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E3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E3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E3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889"/>
                        </a:lnSpc>
                        <a:defRPr/>
                      </a:pPr>
                      <a:r>
                        <a:rPr lang="en-US" sz="1575">
                          <a:solidFill>
                            <a:srgbClr val="1A2540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/api/v1/orientations/{id}</a:t>
                      </a:r>
                      <a:endParaRPr lang="en-US" sz="1100"/>
                    </a:p>
                  </a:txBody>
                  <a:tcPr marL="73150" marR="73150" marT="73150" marB="73150" anchor="ctr">
                    <a:lnL cmpd="sng" algn="ctr" cap="flat" w="9525">
                      <a:solidFill>
                        <a:srgbClr val="E3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E3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E3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E3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889"/>
                        </a:lnSpc>
                        <a:defRPr/>
                      </a:pPr>
                      <a:r>
                        <a:rPr lang="en-US" sz="1575">
                          <a:solidFill>
                            <a:srgbClr val="1A254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GET / PUT / DELETE</a:t>
                      </a:r>
                      <a:endParaRPr lang="en-US" sz="1100"/>
                    </a:p>
                  </a:txBody>
                  <a:tcPr marL="73150" marR="73150" marT="73150" marB="73150" anchor="ctr">
                    <a:lnL cmpd="sng" algn="ctr" cap="flat" w="9525">
                      <a:solidFill>
                        <a:srgbClr val="E3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E3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E3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E3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889"/>
                        </a:lnSpc>
                        <a:defRPr/>
                      </a:pPr>
                      <a:r>
                        <a:rPr lang="en-US" sz="1575">
                          <a:solidFill>
                            <a:srgbClr val="1A254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Todos / Líder</a:t>
                      </a:r>
                      <a:endParaRPr lang="en-US" sz="1100"/>
                    </a:p>
                  </a:txBody>
                  <a:tcPr marL="73150" marR="73150" marT="73150" marB="73150" anchor="ctr">
                    <a:lnL cmpd="sng" algn="ctr" cap="flat" w="9525">
                      <a:solidFill>
                        <a:srgbClr val="E3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E3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E3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E3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889"/>
                        </a:lnSpc>
                        <a:defRPr/>
                      </a:pPr>
                      <a:r>
                        <a:rPr lang="en-US" sz="1575">
                          <a:solidFill>
                            <a:srgbClr val="1A254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Detalhe, edição e exclusão</a:t>
                      </a:r>
                      <a:endParaRPr lang="en-US" sz="1100"/>
                    </a:p>
                  </a:txBody>
                  <a:tcPr marL="73150" marR="73150" marT="73150" marB="73150" anchor="ctr">
                    <a:lnL cmpd="sng" algn="ctr" cap="flat" w="9525">
                      <a:solidFill>
                        <a:srgbClr val="E3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E3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E3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E3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81886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889"/>
                        </a:lnSpc>
                        <a:defRPr/>
                      </a:pPr>
                      <a:r>
                        <a:rPr lang="en-US" sz="1575">
                          <a:solidFill>
                            <a:srgbClr val="1A254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Notifications</a:t>
                      </a:r>
                      <a:endParaRPr lang="en-US" sz="1100"/>
                    </a:p>
                  </a:txBody>
                  <a:tcPr marL="73150" marR="73150" marT="73150" marB="73150" anchor="ctr">
                    <a:lnL cmpd="sng" algn="ctr" cap="flat" w="9525">
                      <a:solidFill>
                        <a:srgbClr val="E3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E3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E3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E3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889"/>
                        </a:lnSpc>
                        <a:defRPr/>
                      </a:pPr>
                      <a:r>
                        <a:rPr lang="en-US" sz="1575">
                          <a:solidFill>
                            <a:srgbClr val="1A2540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/api/v1/notifications</a:t>
                      </a:r>
                      <a:endParaRPr lang="en-US" sz="1100"/>
                    </a:p>
                  </a:txBody>
                  <a:tcPr marL="73150" marR="73150" marT="73150" marB="73150" anchor="ctr">
                    <a:lnL cmpd="sng" algn="ctr" cap="flat" w="9525">
                      <a:solidFill>
                        <a:srgbClr val="E3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E3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E3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E3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889"/>
                        </a:lnSpc>
                        <a:defRPr/>
                      </a:pPr>
                      <a:r>
                        <a:rPr lang="en-US" sz="1575">
                          <a:solidFill>
                            <a:srgbClr val="1A254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GET</a:t>
                      </a:r>
                      <a:endParaRPr lang="en-US" sz="1100"/>
                    </a:p>
                  </a:txBody>
                  <a:tcPr marL="73150" marR="73150" marT="73150" marB="73150" anchor="ctr">
                    <a:lnL cmpd="sng" algn="ctr" cap="flat" w="9525">
                      <a:solidFill>
                        <a:srgbClr val="E3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E3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E3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E3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889"/>
                        </a:lnSpc>
                        <a:defRPr/>
                      </a:pPr>
                      <a:r>
                        <a:rPr lang="en-US" sz="1575">
                          <a:solidFill>
                            <a:srgbClr val="1A254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Autenticado</a:t>
                      </a:r>
                      <a:endParaRPr lang="en-US" sz="1100"/>
                    </a:p>
                  </a:txBody>
                  <a:tcPr marL="73150" marR="73150" marT="73150" marB="73150" anchor="ctr">
                    <a:lnL cmpd="sng" algn="ctr" cap="flat" w="9525">
                      <a:solidFill>
                        <a:srgbClr val="E3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E3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E3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E3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889"/>
                        </a:lnSpc>
                        <a:defRPr/>
                      </a:pPr>
                      <a:r>
                        <a:rPr lang="en-US" sz="1575">
                          <a:solidFill>
                            <a:srgbClr val="1A254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Notificações do usuário logado</a:t>
                      </a:r>
                      <a:endParaRPr lang="en-US" sz="1100"/>
                    </a:p>
                  </a:txBody>
                  <a:tcPr marL="73150" marR="73150" marT="73150" marB="73150" anchor="ctr">
                    <a:lnL cmpd="sng" algn="ctr" cap="flat" w="9525">
                      <a:solidFill>
                        <a:srgbClr val="E3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E3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E3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E3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81886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889"/>
                        </a:lnSpc>
                        <a:defRPr/>
                      </a:pPr>
                      <a:r>
                        <a:rPr lang="en-US" sz="1575">
                          <a:solidFill>
                            <a:srgbClr val="1A254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Notifications</a:t>
                      </a:r>
                      <a:endParaRPr lang="en-US" sz="1100"/>
                    </a:p>
                  </a:txBody>
                  <a:tcPr marL="73150" marR="73150" marT="73150" marB="73150" anchor="ctr">
                    <a:lnL cmpd="sng" algn="ctr" cap="flat" w="9525">
                      <a:solidFill>
                        <a:srgbClr val="E3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E3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E3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E3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889"/>
                        </a:lnSpc>
                        <a:defRPr/>
                      </a:pPr>
                      <a:r>
                        <a:rPr lang="en-US" sz="1575">
                          <a:solidFill>
                            <a:srgbClr val="1A2540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/api/v1/notifications/{id}/read</a:t>
                      </a:r>
                      <a:endParaRPr lang="en-US" sz="1100"/>
                    </a:p>
                  </a:txBody>
                  <a:tcPr marL="73150" marR="73150" marT="73150" marB="73150" anchor="ctr">
                    <a:lnL cmpd="sng" algn="ctr" cap="flat" w="9525">
                      <a:solidFill>
                        <a:srgbClr val="E3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E3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E3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E3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889"/>
                        </a:lnSpc>
                        <a:defRPr/>
                      </a:pPr>
                      <a:r>
                        <a:rPr lang="en-US" sz="1575">
                          <a:solidFill>
                            <a:srgbClr val="1A254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PATCH</a:t>
                      </a:r>
                      <a:endParaRPr lang="en-US" sz="1100"/>
                    </a:p>
                  </a:txBody>
                  <a:tcPr marL="73150" marR="73150" marT="73150" marB="73150" anchor="ctr">
                    <a:lnL cmpd="sng" algn="ctr" cap="flat" w="9525">
                      <a:solidFill>
                        <a:srgbClr val="E3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E3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E3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E3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889"/>
                        </a:lnSpc>
                        <a:defRPr/>
                      </a:pPr>
                      <a:r>
                        <a:rPr lang="en-US" sz="1575">
                          <a:solidFill>
                            <a:srgbClr val="1A254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Autenticado</a:t>
                      </a:r>
                      <a:endParaRPr lang="en-US" sz="1100"/>
                    </a:p>
                  </a:txBody>
                  <a:tcPr marL="73150" marR="73150" marT="73150" marB="73150" anchor="ctr">
                    <a:lnL cmpd="sng" algn="ctr" cap="flat" w="9525">
                      <a:solidFill>
                        <a:srgbClr val="E3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E3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E3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E3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889"/>
                        </a:lnSpc>
                        <a:defRPr/>
                      </a:pPr>
                      <a:r>
                        <a:rPr lang="en-US" sz="1575">
                          <a:solidFill>
                            <a:srgbClr val="1A254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Marca uma notificação como lida</a:t>
                      </a:r>
                      <a:endParaRPr lang="en-US" sz="1100"/>
                    </a:p>
                  </a:txBody>
                  <a:tcPr marL="73150" marR="73150" marT="73150" marB="73150" anchor="ctr">
                    <a:lnL cmpd="sng" algn="ctr" cap="flat" w="9525">
                      <a:solidFill>
                        <a:srgbClr val="E3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E3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E3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E3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81886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889"/>
                        </a:lnSpc>
                        <a:defRPr/>
                      </a:pPr>
                      <a:r>
                        <a:rPr lang="en-US" sz="1575">
                          <a:solidFill>
                            <a:srgbClr val="1A254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Notifications</a:t>
                      </a:r>
                      <a:endParaRPr lang="en-US" sz="1100"/>
                    </a:p>
                  </a:txBody>
                  <a:tcPr marL="73150" marR="73150" marT="73150" marB="73150" anchor="ctr">
                    <a:lnL cmpd="sng" algn="ctr" cap="flat" w="9525">
                      <a:solidFill>
                        <a:srgbClr val="E3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E3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E3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E3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889"/>
                        </a:lnSpc>
                        <a:defRPr/>
                      </a:pPr>
                      <a:r>
                        <a:rPr lang="en-US" sz="1575">
                          <a:solidFill>
                            <a:srgbClr val="1A2540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/api/v1/notifications/read-all</a:t>
                      </a:r>
                      <a:endParaRPr lang="en-US" sz="1100"/>
                    </a:p>
                  </a:txBody>
                  <a:tcPr marL="73150" marR="73150" marT="73150" marB="73150" anchor="ctr">
                    <a:lnL cmpd="sng" algn="ctr" cap="flat" w="9525">
                      <a:solidFill>
                        <a:srgbClr val="E3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E3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E3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E3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889"/>
                        </a:lnSpc>
                        <a:defRPr/>
                      </a:pPr>
                      <a:r>
                        <a:rPr lang="en-US" sz="1575">
                          <a:solidFill>
                            <a:srgbClr val="1A254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PATCH</a:t>
                      </a:r>
                      <a:endParaRPr lang="en-US" sz="1100"/>
                    </a:p>
                  </a:txBody>
                  <a:tcPr marL="73150" marR="73150" marT="73150" marB="73150" anchor="ctr">
                    <a:lnL cmpd="sng" algn="ctr" cap="flat" w="9525">
                      <a:solidFill>
                        <a:srgbClr val="E3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E3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E3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E3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889"/>
                        </a:lnSpc>
                        <a:defRPr/>
                      </a:pPr>
                      <a:r>
                        <a:rPr lang="en-US" sz="1575">
                          <a:solidFill>
                            <a:srgbClr val="1A254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Autenticado</a:t>
                      </a:r>
                      <a:endParaRPr lang="en-US" sz="1100"/>
                    </a:p>
                  </a:txBody>
                  <a:tcPr marL="73150" marR="73150" marT="73150" marB="73150" anchor="ctr">
                    <a:lnL cmpd="sng" algn="ctr" cap="flat" w="9525">
                      <a:solidFill>
                        <a:srgbClr val="E3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E3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E3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E3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889"/>
                        </a:lnSpc>
                        <a:defRPr/>
                      </a:pPr>
                      <a:r>
                        <a:rPr lang="en-US" sz="1575">
                          <a:solidFill>
                            <a:srgbClr val="1A254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Marca todas como lidas</a:t>
                      </a:r>
                      <a:endParaRPr lang="en-US" sz="1100"/>
                    </a:p>
                  </a:txBody>
                  <a:tcPr marL="73150" marR="73150" marT="73150" marB="73150" anchor="ctr">
                    <a:lnL cmpd="sng" algn="ctr" cap="flat" w="9525">
                      <a:solidFill>
                        <a:srgbClr val="E3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E3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E3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E3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81886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889"/>
                        </a:lnSpc>
                        <a:defRPr/>
                      </a:pPr>
                      <a:r>
                        <a:rPr lang="en-US" sz="1575">
                          <a:solidFill>
                            <a:srgbClr val="1A254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Users</a:t>
                      </a:r>
                      <a:endParaRPr lang="en-US" sz="1100"/>
                    </a:p>
                  </a:txBody>
                  <a:tcPr marL="73150" marR="73150" marT="73150" marB="73150" anchor="ctr">
                    <a:lnL cmpd="sng" algn="ctr" cap="flat" w="9525">
                      <a:solidFill>
                        <a:srgbClr val="E3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E3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E3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E3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889"/>
                        </a:lnSpc>
                        <a:defRPr/>
                      </a:pPr>
                      <a:r>
                        <a:rPr lang="en-US" sz="1575">
                          <a:solidFill>
                            <a:srgbClr val="1A2540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/api/v1/users/me</a:t>
                      </a:r>
                      <a:endParaRPr lang="en-US" sz="1100"/>
                    </a:p>
                  </a:txBody>
                  <a:tcPr marL="73150" marR="73150" marT="73150" marB="73150" anchor="ctr">
                    <a:lnL cmpd="sng" algn="ctr" cap="flat" w="9525">
                      <a:solidFill>
                        <a:srgbClr val="E3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E3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E3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E3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889"/>
                        </a:lnSpc>
                        <a:defRPr/>
                      </a:pPr>
                      <a:r>
                        <a:rPr lang="en-US" sz="1575">
                          <a:solidFill>
                            <a:srgbClr val="1A254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GET</a:t>
                      </a:r>
                      <a:endParaRPr lang="en-US" sz="1100"/>
                    </a:p>
                  </a:txBody>
                  <a:tcPr marL="73150" marR="73150" marT="73150" marB="73150" anchor="ctr">
                    <a:lnL cmpd="sng" algn="ctr" cap="flat" w="9525">
                      <a:solidFill>
                        <a:srgbClr val="E3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E3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E3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E3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889"/>
                        </a:lnSpc>
                        <a:defRPr/>
                      </a:pPr>
                      <a:r>
                        <a:rPr lang="en-US" sz="1575">
                          <a:solidFill>
                            <a:srgbClr val="1A254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Autenticado</a:t>
                      </a:r>
                      <a:endParaRPr lang="en-US" sz="1100"/>
                    </a:p>
                  </a:txBody>
                  <a:tcPr marL="73150" marR="73150" marT="73150" marB="73150" anchor="ctr">
                    <a:lnL cmpd="sng" algn="ctr" cap="flat" w="9525">
                      <a:solidFill>
                        <a:srgbClr val="E3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E3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E3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E3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889"/>
                        </a:lnSpc>
                        <a:defRPr/>
                      </a:pPr>
                      <a:r>
                        <a:rPr lang="en-US" sz="1575">
                          <a:solidFill>
                            <a:srgbClr val="1A254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Perfil do usuário logado (pontos e badges reais)</a:t>
                      </a:r>
                      <a:endParaRPr lang="en-US" sz="1100"/>
                    </a:p>
                  </a:txBody>
                  <a:tcPr marL="73150" marR="73150" marT="73150" marB="73150" anchor="ctr">
                    <a:lnL cmpd="sng" algn="ctr" cap="flat" w="9525">
                      <a:solidFill>
                        <a:srgbClr val="E3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E3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E3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E3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81886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889"/>
                        </a:lnSpc>
                        <a:defRPr/>
                      </a:pPr>
                      <a:r>
                        <a:rPr lang="en-US" sz="1575">
                          <a:solidFill>
                            <a:srgbClr val="1A254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Users</a:t>
                      </a:r>
                      <a:endParaRPr lang="en-US" sz="1100"/>
                    </a:p>
                  </a:txBody>
                  <a:tcPr marL="73150" marR="73150" marT="73150" marB="73150" anchor="ctr">
                    <a:lnL cmpd="sng" algn="ctr" cap="flat" w="9525">
                      <a:solidFill>
                        <a:srgbClr val="E3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E3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E3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E3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889"/>
                        </a:lnSpc>
                        <a:defRPr/>
                      </a:pPr>
                      <a:r>
                        <a:rPr lang="en-US" sz="1575">
                          <a:solidFill>
                            <a:srgbClr val="1A2540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/api/v1/users</a:t>
                      </a:r>
                      <a:endParaRPr lang="en-US" sz="1100"/>
                    </a:p>
                  </a:txBody>
                  <a:tcPr marL="73150" marR="73150" marT="73150" marB="73150" anchor="ctr">
                    <a:lnL cmpd="sng" algn="ctr" cap="flat" w="9525">
                      <a:solidFill>
                        <a:srgbClr val="E3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E3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E3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E3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889"/>
                        </a:lnSpc>
                        <a:defRPr/>
                      </a:pPr>
                      <a:r>
                        <a:rPr lang="en-US" sz="1575">
                          <a:solidFill>
                            <a:srgbClr val="1A254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GET</a:t>
                      </a:r>
                      <a:endParaRPr lang="en-US" sz="1100"/>
                    </a:p>
                  </a:txBody>
                  <a:tcPr marL="73150" marR="73150" marT="73150" marB="73150" anchor="ctr">
                    <a:lnL cmpd="sng" algn="ctr" cap="flat" w="9525">
                      <a:solidFill>
                        <a:srgbClr val="E3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E3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E3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E3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889"/>
                        </a:lnSpc>
                        <a:defRPr/>
                      </a:pPr>
                      <a:r>
                        <a:rPr lang="en-US" sz="1575">
                          <a:solidFill>
                            <a:srgbClr val="1A254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Autenticado</a:t>
                      </a:r>
                      <a:endParaRPr lang="en-US" sz="1100"/>
                    </a:p>
                  </a:txBody>
                  <a:tcPr marL="73150" marR="73150" marT="73150" marB="73150" anchor="ctr">
                    <a:lnL cmpd="sng" algn="ctr" cap="flat" w="9525">
                      <a:solidFill>
                        <a:srgbClr val="E3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E3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E3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E3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889"/>
                        </a:lnSpc>
                        <a:defRPr/>
                      </a:pPr>
                      <a:r>
                        <a:rPr lang="en-US" sz="1575">
                          <a:solidFill>
                            <a:srgbClr val="1A254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Lista de usuários (ex: equipe de projeto)</a:t>
                      </a:r>
                      <a:endParaRPr lang="en-US" sz="1100"/>
                    </a:p>
                  </a:txBody>
                  <a:tcPr marL="73150" marR="73150" marT="73150" marB="73150" anchor="ctr">
                    <a:lnL cmpd="sng" algn="ctr" cap="flat" w="9525">
                      <a:solidFill>
                        <a:srgbClr val="E3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E3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E3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E3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81886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889"/>
                        </a:lnSpc>
                        <a:defRPr/>
                      </a:pPr>
                      <a:r>
                        <a:rPr lang="en-US" sz="1575">
                          <a:solidFill>
                            <a:srgbClr val="1A254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Dashboard</a:t>
                      </a:r>
                      <a:endParaRPr lang="en-US" sz="1100"/>
                    </a:p>
                  </a:txBody>
                  <a:tcPr marL="73150" marR="73150" marT="73150" marB="73150" anchor="ctr">
                    <a:lnL cmpd="sng" algn="ctr" cap="flat" w="9525">
                      <a:solidFill>
                        <a:srgbClr val="E3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E3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E3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E3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889"/>
                        </a:lnSpc>
                        <a:defRPr/>
                      </a:pPr>
                      <a:r>
                        <a:rPr lang="en-US" sz="1575">
                          <a:solidFill>
                            <a:srgbClr val="1A2540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/api/v1/dashboard/summary</a:t>
                      </a:r>
                      <a:endParaRPr lang="en-US" sz="1100"/>
                    </a:p>
                  </a:txBody>
                  <a:tcPr marL="73150" marR="73150" marT="73150" marB="73150" anchor="ctr">
                    <a:lnL cmpd="sng" algn="ctr" cap="flat" w="9525">
                      <a:solidFill>
                        <a:srgbClr val="E3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E3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E3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E3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889"/>
                        </a:lnSpc>
                        <a:defRPr/>
                      </a:pPr>
                      <a:r>
                        <a:rPr lang="en-US" sz="1575">
                          <a:solidFill>
                            <a:srgbClr val="1A254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GET</a:t>
                      </a:r>
                      <a:endParaRPr lang="en-US" sz="1100"/>
                    </a:p>
                  </a:txBody>
                  <a:tcPr marL="73150" marR="73150" marT="73150" marB="73150" anchor="ctr">
                    <a:lnL cmpd="sng" algn="ctr" cap="flat" w="9525">
                      <a:solidFill>
                        <a:srgbClr val="E3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E3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E3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E3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889"/>
                        </a:lnSpc>
                        <a:defRPr/>
                      </a:pPr>
                      <a:r>
                        <a:rPr lang="en-US" sz="1575">
                          <a:solidFill>
                            <a:srgbClr val="1A254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Líder</a:t>
                      </a:r>
                      <a:endParaRPr lang="en-US" sz="1100"/>
                    </a:p>
                  </a:txBody>
                  <a:tcPr marL="73150" marR="73150" marT="73150" marB="73150" anchor="ctr">
                    <a:lnL cmpd="sng" algn="ctr" cap="flat" w="9525">
                      <a:solidFill>
                        <a:srgbClr val="E3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E3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E3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E3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889"/>
                        </a:lnSpc>
                        <a:defRPr/>
                      </a:pPr>
                      <a:r>
                        <a:rPr lang="en-US" sz="1575">
                          <a:solidFill>
                            <a:srgbClr val="1A254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Resumo geral: ideias, projetos, ROI, taxa de conversão</a:t>
                      </a:r>
                      <a:endParaRPr lang="en-US" sz="1100"/>
                    </a:p>
                  </a:txBody>
                  <a:tcPr marL="73150" marR="73150" marT="73150" marB="73150" anchor="ctr">
                    <a:lnL cmpd="sng" algn="ctr" cap="flat" w="9525">
                      <a:solidFill>
                        <a:srgbClr val="E3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E3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E3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E3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81886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889"/>
                        </a:lnSpc>
                        <a:defRPr/>
                      </a:pPr>
                      <a:r>
                        <a:rPr lang="en-US" sz="1575">
                          <a:solidFill>
                            <a:srgbClr val="1A254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Dashboard</a:t>
                      </a:r>
                      <a:endParaRPr lang="en-US" sz="1100"/>
                    </a:p>
                  </a:txBody>
                  <a:tcPr marL="73150" marR="73150" marT="73150" marB="73150" anchor="ctr">
                    <a:lnL cmpd="sng" algn="ctr" cap="flat" w="9525">
                      <a:solidFill>
                        <a:srgbClr val="E3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E3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E3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E3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889"/>
                        </a:lnSpc>
                        <a:defRPr/>
                      </a:pPr>
                      <a:r>
                        <a:rPr lang="en-US" sz="1575">
                          <a:solidFill>
                            <a:srgbClr val="1A2540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/api/v1/dashboard/roi-by-project</a:t>
                      </a:r>
                      <a:endParaRPr lang="en-US" sz="1100"/>
                    </a:p>
                  </a:txBody>
                  <a:tcPr marL="73150" marR="73150" marT="73150" marB="73150" anchor="ctr">
                    <a:lnL cmpd="sng" algn="ctr" cap="flat" w="9525">
                      <a:solidFill>
                        <a:srgbClr val="E3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E3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E3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E3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889"/>
                        </a:lnSpc>
                        <a:defRPr/>
                      </a:pPr>
                      <a:r>
                        <a:rPr lang="en-US" sz="1575">
                          <a:solidFill>
                            <a:srgbClr val="1A254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GET</a:t>
                      </a:r>
                      <a:endParaRPr lang="en-US" sz="1100"/>
                    </a:p>
                  </a:txBody>
                  <a:tcPr marL="73150" marR="73150" marT="73150" marB="73150" anchor="ctr">
                    <a:lnL cmpd="sng" algn="ctr" cap="flat" w="9525">
                      <a:solidFill>
                        <a:srgbClr val="E3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E3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E3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E3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889"/>
                        </a:lnSpc>
                        <a:defRPr/>
                      </a:pPr>
                      <a:r>
                        <a:rPr lang="en-US" sz="1575">
                          <a:solidFill>
                            <a:srgbClr val="1A254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Líder</a:t>
                      </a:r>
                      <a:endParaRPr lang="en-US" sz="1100"/>
                    </a:p>
                  </a:txBody>
                  <a:tcPr marL="73150" marR="73150" marT="73150" marB="73150" anchor="ctr">
                    <a:lnL cmpd="sng" algn="ctr" cap="flat" w="9525">
                      <a:solidFill>
                        <a:srgbClr val="E3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E3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E3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E3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889"/>
                        </a:lnSpc>
                        <a:defRPr/>
                      </a:pPr>
                      <a:r>
                        <a:rPr lang="en-US" sz="1575">
                          <a:solidFill>
                            <a:srgbClr val="1A254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Retorno detalhado por projeto</a:t>
                      </a:r>
                      <a:endParaRPr lang="en-US" sz="1100"/>
                    </a:p>
                  </a:txBody>
                  <a:tcPr marL="73150" marR="73150" marT="73150" marB="73150" anchor="ctr">
                    <a:lnL cmpd="sng" algn="ctr" cap="flat" w="9525">
                      <a:solidFill>
                        <a:srgbClr val="E3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E3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E3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E3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81886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889"/>
                        </a:lnSpc>
                        <a:defRPr/>
                      </a:pPr>
                      <a:r>
                        <a:rPr lang="en-US" sz="1575">
                          <a:solidFill>
                            <a:srgbClr val="1A254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Dashboard</a:t>
                      </a:r>
                      <a:endParaRPr lang="en-US" sz="1100"/>
                    </a:p>
                  </a:txBody>
                  <a:tcPr marL="73150" marR="73150" marT="73150" marB="73150" anchor="ctr">
                    <a:lnL cmpd="sng" algn="ctr" cap="flat" w="9525">
                      <a:solidFill>
                        <a:srgbClr val="E3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E3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E3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E3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889"/>
                        </a:lnSpc>
                        <a:defRPr/>
                      </a:pPr>
                      <a:r>
                        <a:rPr lang="en-US" sz="1575">
                          <a:solidFill>
                            <a:srgbClr val="1A2540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/api/v1/dashboard/roi-by-strategy</a:t>
                      </a:r>
                      <a:endParaRPr lang="en-US" sz="1100"/>
                    </a:p>
                  </a:txBody>
                  <a:tcPr marL="73150" marR="73150" marT="73150" marB="73150" anchor="ctr">
                    <a:lnL cmpd="sng" algn="ctr" cap="flat" w="9525">
                      <a:solidFill>
                        <a:srgbClr val="E3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E3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E3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E3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889"/>
                        </a:lnSpc>
                        <a:defRPr/>
                      </a:pPr>
                      <a:r>
                        <a:rPr lang="en-US" sz="1575">
                          <a:solidFill>
                            <a:srgbClr val="1A254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GET</a:t>
                      </a:r>
                      <a:endParaRPr lang="en-US" sz="1100"/>
                    </a:p>
                  </a:txBody>
                  <a:tcPr marL="73150" marR="73150" marT="73150" marB="73150" anchor="ctr">
                    <a:lnL cmpd="sng" algn="ctr" cap="flat" w="9525">
                      <a:solidFill>
                        <a:srgbClr val="E3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E3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E3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E3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889"/>
                        </a:lnSpc>
                        <a:defRPr/>
                      </a:pPr>
                      <a:r>
                        <a:rPr lang="en-US" sz="1575">
                          <a:solidFill>
                            <a:srgbClr val="1A254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Líder</a:t>
                      </a:r>
                      <a:endParaRPr lang="en-US" sz="1100"/>
                    </a:p>
                  </a:txBody>
                  <a:tcPr marL="73150" marR="73150" marT="73150" marB="73150" anchor="ctr">
                    <a:lnL cmpd="sng" algn="ctr" cap="flat" w="9525">
                      <a:solidFill>
                        <a:srgbClr val="E3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E3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E3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E3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889"/>
                        </a:lnSpc>
                        <a:defRPr/>
                      </a:pPr>
                      <a:r>
                        <a:rPr lang="en-US" sz="1575">
                          <a:solidFill>
                            <a:srgbClr val="1A254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Retorno detalhado por orientação estratégica</a:t>
                      </a:r>
                      <a:endParaRPr lang="en-US" sz="1100"/>
                    </a:p>
                  </a:txBody>
                  <a:tcPr marL="73150" marR="73150" marT="73150" marB="73150" anchor="ctr">
                    <a:lnL cmpd="sng" algn="ctr" cap="flat" w="9525">
                      <a:solidFill>
                        <a:srgbClr val="E3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E3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E3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E3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pSp>
        <p:nvGrpSpPr>
          <p:cNvPr name="Group 9" id="9"/>
          <p:cNvGrpSpPr/>
          <p:nvPr/>
        </p:nvGrpSpPr>
        <p:grpSpPr>
          <a:xfrm rot="0">
            <a:off x="17323308" y="9669780"/>
            <a:ext cx="685800" cy="411480"/>
            <a:chOff x="0" y="0"/>
            <a:chExt cx="914400" cy="54864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914400" cy="548640"/>
            </a:xfrm>
            <a:custGeom>
              <a:avLst/>
              <a:gdLst/>
              <a:ahLst/>
              <a:cxnLst/>
              <a:rect r="r" b="b" t="t" l="l"/>
              <a:pathLst>
                <a:path h="54864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26982" t="0" r="-26982" b="0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91440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800"/>
                </a:lnSpc>
              </a:pPr>
              <a:r>
                <a:rPr lang="en-US" sz="1500">
                  <a:solidFill>
                    <a:srgbClr val="5B6472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15</a:t>
              </a:r>
            </a:p>
          </p:txBody>
        </p:sp>
      </p:grp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A25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234440" y="1028700"/>
            <a:ext cx="10972800" cy="480060"/>
            <a:chOff x="0" y="0"/>
            <a:chExt cx="14630400" cy="64008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4630400" cy="640080"/>
            </a:xfrm>
            <a:custGeom>
              <a:avLst/>
              <a:gdLst/>
              <a:ahLst/>
              <a:cxnLst/>
              <a:rect r="r" b="b" t="t" l="l"/>
              <a:pathLst>
                <a:path h="640080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95372" r="0" b="-395372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14630400" cy="6877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b="true" sz="1950">
                  <a:solidFill>
                    <a:srgbClr val="E8B15C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SEM TAPETE VERMELHO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234440" y="1508760"/>
            <a:ext cx="14401800" cy="960120"/>
            <a:chOff x="0" y="0"/>
            <a:chExt cx="19202400" cy="128016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9202400" cy="1280160"/>
            </a:xfrm>
            <a:custGeom>
              <a:avLst/>
              <a:gdLst/>
              <a:ahLst/>
              <a:cxnLst/>
              <a:rect r="r" b="b" t="t" l="l"/>
              <a:pathLst>
                <a:path h="1280160" w="19202400">
                  <a:moveTo>
                    <a:pt x="0" y="0"/>
                  </a:moveTo>
                  <a:lnTo>
                    <a:pt x="19202400" y="0"/>
                  </a:lnTo>
                  <a:lnTo>
                    <a:pt x="19202400" y="1280160"/>
                  </a:lnTo>
                  <a:lnTo>
                    <a:pt x="0" y="12801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42275" r="0" b="-242275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9525"/>
              <a:ext cx="19202400" cy="12896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759"/>
                </a:lnSpc>
              </a:pPr>
              <a:r>
                <a:rPr lang="en-US" b="true" sz="4800">
                  <a:solidFill>
                    <a:srgbClr val="FFFFF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Rodando na nuvem, agora mesmo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234440" y="2537460"/>
            <a:ext cx="13716000" cy="685800"/>
            <a:chOff x="0" y="0"/>
            <a:chExt cx="18288000" cy="9144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8288000" cy="914400"/>
            </a:xfrm>
            <a:custGeom>
              <a:avLst/>
              <a:gdLst/>
              <a:ahLst/>
              <a:cxnLst/>
              <a:rect r="r" b="b" t="t" l="l"/>
              <a:pathLst>
                <a:path h="914400" w="18288000">
                  <a:moveTo>
                    <a:pt x="0" y="0"/>
                  </a:moveTo>
                  <a:lnTo>
                    <a:pt x="18288000" y="0"/>
                  </a:lnTo>
                  <a:lnTo>
                    <a:pt x="1828800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39700" r="0" b="-339700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47625"/>
              <a:ext cx="18288000" cy="9620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C7CED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O APK de entrega já aponta para o backend hospedado — nenhuma configuração local é necessária para testar.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234440" y="4114800"/>
            <a:ext cx="4997196" cy="2880360"/>
            <a:chOff x="0" y="0"/>
            <a:chExt cx="6662928" cy="384048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6662928" cy="3840480"/>
            </a:xfrm>
            <a:custGeom>
              <a:avLst/>
              <a:gdLst/>
              <a:ahLst/>
              <a:cxnLst/>
              <a:rect r="r" b="b" t="t" l="l"/>
              <a:pathLst>
                <a:path h="3840480" w="6662928">
                  <a:moveTo>
                    <a:pt x="0" y="0"/>
                  </a:moveTo>
                  <a:lnTo>
                    <a:pt x="6662928" y="0"/>
                  </a:lnTo>
                  <a:lnTo>
                    <a:pt x="6662928" y="3840480"/>
                  </a:lnTo>
                  <a:lnTo>
                    <a:pt x="0" y="3840480"/>
                  </a:lnTo>
                  <a:close/>
                </a:path>
              </a:pathLst>
            </a:custGeom>
            <a:solidFill>
              <a:srgbClr val="273657"/>
            </a:solid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1645920" y="4457700"/>
            <a:ext cx="4174236" cy="548640"/>
            <a:chOff x="0" y="0"/>
            <a:chExt cx="5565648" cy="73152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5565648" cy="731520"/>
            </a:xfrm>
            <a:custGeom>
              <a:avLst/>
              <a:gdLst/>
              <a:ahLst/>
              <a:cxnLst/>
              <a:rect r="r" b="b" t="t" l="l"/>
              <a:pathLst>
                <a:path h="731520" w="5565648">
                  <a:moveTo>
                    <a:pt x="0" y="0"/>
                  </a:moveTo>
                  <a:lnTo>
                    <a:pt x="5565648" y="0"/>
                  </a:lnTo>
                  <a:lnTo>
                    <a:pt x="5565648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98248" r="0" b="-98248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47625"/>
              <a:ext cx="5565648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b="true" sz="2100">
                  <a:solidFill>
                    <a:srgbClr val="E8B15C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APP ANDROID</a:t>
              </a:r>
            </a:p>
          </p:txBody>
        </p:sp>
      </p:grpSp>
      <p:sp>
        <p:nvSpPr>
          <p:cNvPr name="TextBox 16" id="16"/>
          <p:cNvSpPr txBox="true"/>
          <p:nvPr/>
        </p:nvSpPr>
        <p:spPr>
          <a:xfrm rot="0">
            <a:off x="1645920" y="5036820"/>
            <a:ext cx="4174236" cy="18211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E3E7F2"/>
                </a:solidFill>
                <a:latin typeface="Calibri (MS)"/>
                <a:ea typeface="Calibri (MS)"/>
                <a:cs typeface="Calibri (MS)"/>
                <a:sym typeface="Calibri (MS)"/>
              </a:rPr>
              <a:t>APK de entrega — .apk assinado, pronto para instalar</a:t>
            </a:r>
          </a:p>
        </p:txBody>
      </p:sp>
      <p:sp>
        <p:nvSpPr>
          <p:cNvPr name="AutoShape 17" id="17"/>
          <p:cNvSpPr/>
          <p:nvPr/>
        </p:nvSpPr>
        <p:spPr>
          <a:xfrm flipV="true">
            <a:off x="6231636" y="5535930"/>
            <a:ext cx="444407" cy="19050"/>
          </a:xfrm>
          <a:prstGeom prst="line">
            <a:avLst/>
          </a:prstGeom>
          <a:ln cap="rnd" w="19050">
            <a:solidFill>
              <a:srgbClr val="C87D0E"/>
            </a:solidFill>
            <a:prstDash val="solid"/>
            <a:headEnd type="none" len="sm" w="sm"/>
            <a:tailEnd type="triangle" len="med" w="lg"/>
          </a:ln>
        </p:spPr>
      </p:sp>
      <p:grpSp>
        <p:nvGrpSpPr>
          <p:cNvPr name="Group 18" id="18"/>
          <p:cNvGrpSpPr/>
          <p:nvPr/>
        </p:nvGrpSpPr>
        <p:grpSpPr>
          <a:xfrm rot="0">
            <a:off x="6643116" y="4114800"/>
            <a:ext cx="4997196" cy="2880360"/>
            <a:chOff x="0" y="0"/>
            <a:chExt cx="6662928" cy="384048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6662928" cy="3840480"/>
            </a:xfrm>
            <a:custGeom>
              <a:avLst/>
              <a:gdLst/>
              <a:ahLst/>
              <a:cxnLst/>
              <a:rect r="r" b="b" t="t" l="l"/>
              <a:pathLst>
                <a:path h="3840480" w="6662928">
                  <a:moveTo>
                    <a:pt x="0" y="0"/>
                  </a:moveTo>
                  <a:lnTo>
                    <a:pt x="6662928" y="0"/>
                  </a:lnTo>
                  <a:lnTo>
                    <a:pt x="6662928" y="3840480"/>
                  </a:lnTo>
                  <a:lnTo>
                    <a:pt x="0" y="3840480"/>
                  </a:lnTo>
                  <a:close/>
                </a:path>
              </a:pathLst>
            </a:custGeom>
            <a:solidFill>
              <a:srgbClr val="273657"/>
            </a:solid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7054596" y="4457700"/>
            <a:ext cx="4174236" cy="548640"/>
            <a:chOff x="0" y="0"/>
            <a:chExt cx="5565648" cy="73152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5565648" cy="731520"/>
            </a:xfrm>
            <a:custGeom>
              <a:avLst/>
              <a:gdLst/>
              <a:ahLst/>
              <a:cxnLst/>
              <a:rect r="r" b="b" t="t" l="l"/>
              <a:pathLst>
                <a:path h="731520" w="5565648">
                  <a:moveTo>
                    <a:pt x="0" y="0"/>
                  </a:moveTo>
                  <a:lnTo>
                    <a:pt x="5565648" y="0"/>
                  </a:lnTo>
                  <a:lnTo>
                    <a:pt x="5565648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98248" r="0" b="-98248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47625"/>
              <a:ext cx="5565648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b="true" sz="2100">
                  <a:solidFill>
                    <a:srgbClr val="E8B15C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RENDER</a:t>
              </a:r>
            </a:p>
          </p:txBody>
        </p:sp>
      </p:grpSp>
      <p:sp>
        <p:nvSpPr>
          <p:cNvPr name="TextBox 23" id="23"/>
          <p:cNvSpPr txBox="true"/>
          <p:nvPr/>
        </p:nvSpPr>
        <p:spPr>
          <a:xfrm rot="0">
            <a:off x="7054596" y="5036820"/>
            <a:ext cx="4174236" cy="18211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E3E7F2"/>
                </a:solidFill>
                <a:latin typeface="Calibri (MS)"/>
                <a:ea typeface="Calibri (MS)"/>
                <a:cs typeface="Calibri (MS)"/>
                <a:sym typeface="Calibri (MS)"/>
              </a:rPr>
              <a:t>Backend Spring Boot em container Docker, HTTPS automático</a:t>
            </a:r>
          </a:p>
        </p:txBody>
      </p:sp>
      <p:sp>
        <p:nvSpPr>
          <p:cNvPr name="AutoShape 24" id="24"/>
          <p:cNvSpPr/>
          <p:nvPr/>
        </p:nvSpPr>
        <p:spPr>
          <a:xfrm>
            <a:off x="11640312" y="5554980"/>
            <a:ext cx="458290" cy="0"/>
          </a:xfrm>
          <a:prstGeom prst="line">
            <a:avLst/>
          </a:prstGeom>
          <a:ln cap="rnd" w="19050">
            <a:solidFill>
              <a:srgbClr val="C87D0E"/>
            </a:solidFill>
            <a:prstDash val="solid"/>
            <a:headEnd type="none" len="sm" w="sm"/>
            <a:tailEnd type="triangle" len="med" w="lg"/>
          </a:ln>
        </p:spPr>
      </p:sp>
      <p:grpSp>
        <p:nvGrpSpPr>
          <p:cNvPr name="Group 25" id="25"/>
          <p:cNvGrpSpPr/>
          <p:nvPr/>
        </p:nvGrpSpPr>
        <p:grpSpPr>
          <a:xfrm rot="0">
            <a:off x="12051792" y="4114800"/>
            <a:ext cx="4997196" cy="2880360"/>
            <a:chOff x="0" y="0"/>
            <a:chExt cx="6662928" cy="384048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6662928" cy="3840480"/>
            </a:xfrm>
            <a:custGeom>
              <a:avLst/>
              <a:gdLst/>
              <a:ahLst/>
              <a:cxnLst/>
              <a:rect r="r" b="b" t="t" l="l"/>
              <a:pathLst>
                <a:path h="3840480" w="6662928">
                  <a:moveTo>
                    <a:pt x="0" y="0"/>
                  </a:moveTo>
                  <a:lnTo>
                    <a:pt x="6662928" y="0"/>
                  </a:lnTo>
                  <a:lnTo>
                    <a:pt x="6662928" y="3840480"/>
                  </a:lnTo>
                  <a:lnTo>
                    <a:pt x="0" y="3840480"/>
                  </a:lnTo>
                  <a:close/>
                </a:path>
              </a:pathLst>
            </a:custGeom>
            <a:solidFill>
              <a:srgbClr val="273657"/>
            </a:solidFill>
          </p:spPr>
        </p:sp>
      </p:grpSp>
      <p:grpSp>
        <p:nvGrpSpPr>
          <p:cNvPr name="Group 27" id="27"/>
          <p:cNvGrpSpPr/>
          <p:nvPr/>
        </p:nvGrpSpPr>
        <p:grpSpPr>
          <a:xfrm rot="0">
            <a:off x="12463272" y="4457700"/>
            <a:ext cx="4174236" cy="548640"/>
            <a:chOff x="0" y="0"/>
            <a:chExt cx="5565648" cy="73152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5565648" cy="731520"/>
            </a:xfrm>
            <a:custGeom>
              <a:avLst/>
              <a:gdLst/>
              <a:ahLst/>
              <a:cxnLst/>
              <a:rect r="r" b="b" t="t" l="l"/>
              <a:pathLst>
                <a:path h="731520" w="5565648">
                  <a:moveTo>
                    <a:pt x="0" y="0"/>
                  </a:moveTo>
                  <a:lnTo>
                    <a:pt x="5565648" y="0"/>
                  </a:lnTo>
                  <a:lnTo>
                    <a:pt x="5565648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98248" r="0" b="-98248"/>
              </a:stretch>
            </a:blipFill>
          </p:spPr>
        </p:sp>
        <p:sp>
          <p:nvSpPr>
            <p:cNvPr name="TextBox 29" id="29"/>
            <p:cNvSpPr txBox="true"/>
            <p:nvPr/>
          </p:nvSpPr>
          <p:spPr>
            <a:xfrm>
              <a:off x="0" y="-47625"/>
              <a:ext cx="5565648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b="true" sz="2100">
                  <a:solidFill>
                    <a:srgbClr val="E8B15C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MONGODB ATLAS</a:t>
              </a:r>
            </a:p>
          </p:txBody>
        </p:sp>
      </p:grpSp>
      <p:sp>
        <p:nvSpPr>
          <p:cNvPr name="TextBox 30" id="30"/>
          <p:cNvSpPr txBox="true"/>
          <p:nvPr/>
        </p:nvSpPr>
        <p:spPr>
          <a:xfrm rot="0">
            <a:off x="12463272" y="5036820"/>
            <a:ext cx="4174236" cy="18211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E3E7F2"/>
                </a:solidFill>
                <a:latin typeface="Calibri (MS)"/>
                <a:ea typeface="Calibri (MS)"/>
                <a:cs typeface="Calibri (MS)"/>
                <a:sym typeface="Calibri (MS)"/>
              </a:rPr>
              <a:t>Banco na nuvem — mesma base usada em todo o desenvolvimento</a:t>
            </a:r>
          </a:p>
        </p:txBody>
      </p:sp>
      <p:grpSp>
        <p:nvGrpSpPr>
          <p:cNvPr name="Group 31" id="31"/>
          <p:cNvGrpSpPr/>
          <p:nvPr/>
        </p:nvGrpSpPr>
        <p:grpSpPr>
          <a:xfrm rot="0">
            <a:off x="1234440" y="7365492"/>
            <a:ext cx="13716000" cy="685800"/>
            <a:chOff x="0" y="0"/>
            <a:chExt cx="18288000" cy="91440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18288000" cy="914400"/>
            </a:xfrm>
            <a:custGeom>
              <a:avLst/>
              <a:gdLst/>
              <a:ahLst/>
              <a:cxnLst/>
              <a:rect r="r" b="b" t="t" l="l"/>
              <a:pathLst>
                <a:path h="914400" w="18288000">
                  <a:moveTo>
                    <a:pt x="0" y="0"/>
                  </a:moveTo>
                  <a:lnTo>
                    <a:pt x="18288000" y="0"/>
                  </a:lnTo>
                  <a:lnTo>
                    <a:pt x="1828800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39700" r="0" b="-339700"/>
              </a:stretch>
            </a:blipFill>
          </p:spPr>
        </p:sp>
        <p:sp>
          <p:nvSpPr>
            <p:cNvPr name="TextBox 33" id="33"/>
            <p:cNvSpPr txBox="true"/>
            <p:nvPr/>
          </p:nvSpPr>
          <p:spPr>
            <a:xfrm>
              <a:off x="0" y="-19050"/>
              <a:ext cx="18288000" cy="9334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00"/>
                </a:lnSpc>
              </a:pPr>
              <a:r>
                <a:rPr lang="en-US" sz="2250">
                  <a:solidFill>
                    <a:srgbClr val="E8B15C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https://aria-backend-p7bk.onrender.com</a:t>
              </a:r>
            </a:p>
          </p:txBody>
        </p:sp>
      </p:grpSp>
      <p:grpSp>
        <p:nvGrpSpPr>
          <p:cNvPr name="Group 34" id="34"/>
          <p:cNvGrpSpPr/>
          <p:nvPr/>
        </p:nvGrpSpPr>
        <p:grpSpPr>
          <a:xfrm rot="0">
            <a:off x="17323308" y="9669780"/>
            <a:ext cx="685800" cy="411480"/>
            <a:chOff x="0" y="0"/>
            <a:chExt cx="914400" cy="54864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914400" cy="548640"/>
            </a:xfrm>
            <a:custGeom>
              <a:avLst/>
              <a:gdLst/>
              <a:ahLst/>
              <a:cxnLst/>
              <a:rect r="r" b="b" t="t" l="l"/>
              <a:pathLst>
                <a:path h="54864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26982" t="0" r="-26982" b="0"/>
              </a:stretch>
            </a:blipFill>
          </p:spPr>
        </p:sp>
        <p:sp>
          <p:nvSpPr>
            <p:cNvPr name="TextBox 36" id="36"/>
            <p:cNvSpPr txBox="true"/>
            <p:nvPr/>
          </p:nvSpPr>
          <p:spPr>
            <a:xfrm>
              <a:off x="0" y="-38100"/>
              <a:ext cx="91440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800"/>
                </a:lnSpc>
              </a:pPr>
              <a:r>
                <a:rPr lang="en-US" sz="1500">
                  <a:solidFill>
                    <a:srgbClr val="5B6472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16</a:t>
              </a:r>
            </a:p>
          </p:txBody>
        </p:sp>
      </p:grpSp>
      <p:grpSp>
        <p:nvGrpSpPr>
          <p:cNvPr name="Group 37" id="37"/>
          <p:cNvGrpSpPr/>
          <p:nvPr/>
        </p:nvGrpSpPr>
        <p:grpSpPr>
          <a:xfrm rot="0">
            <a:off x="1234440" y="7982712"/>
            <a:ext cx="13716000" cy="411480"/>
            <a:chOff x="0" y="0"/>
            <a:chExt cx="18288000" cy="548640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18288000" cy="548640"/>
            </a:xfrm>
            <a:custGeom>
              <a:avLst/>
              <a:gdLst/>
              <a:ahLst/>
              <a:cxnLst/>
              <a:rect r="r" b="b" t="t" l="l"/>
              <a:pathLst>
                <a:path h="548640" w="18288000">
                  <a:moveTo>
                    <a:pt x="0" y="0"/>
                  </a:moveTo>
                  <a:lnTo>
                    <a:pt x="18288000" y="0"/>
                  </a:lnTo>
                  <a:lnTo>
                    <a:pt x="182880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599501" r="0" b="-599501"/>
              </a:stretch>
            </a:blipFill>
          </p:spPr>
        </p:sp>
        <p:sp>
          <p:nvSpPr>
            <p:cNvPr name="TextBox 39" id="39"/>
            <p:cNvSpPr txBox="true"/>
            <p:nvPr/>
          </p:nvSpPr>
          <p:spPr>
            <a:xfrm>
              <a:off x="0" y="-28575"/>
              <a:ext cx="18288000" cy="5772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b="true" sz="1650" spc="74">
                  <a:solidFill>
                    <a:srgbClr val="E8B15C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CREDENCIAIS DE TESTE  ·  senha para os 3 perfis: senha123</a:t>
              </a:r>
            </a:p>
          </p:txBody>
        </p:sp>
      </p:grpSp>
      <p:grpSp>
        <p:nvGrpSpPr>
          <p:cNvPr name="Group 40" id="40"/>
          <p:cNvGrpSpPr/>
          <p:nvPr/>
        </p:nvGrpSpPr>
        <p:grpSpPr>
          <a:xfrm rot="0">
            <a:off x="1234440" y="8435340"/>
            <a:ext cx="4663440" cy="685800"/>
            <a:chOff x="0" y="0"/>
            <a:chExt cx="6217920" cy="914400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6217920" cy="914400"/>
            </a:xfrm>
            <a:custGeom>
              <a:avLst/>
              <a:gdLst/>
              <a:ahLst/>
              <a:cxnLst/>
              <a:rect r="r" b="b" t="t" l="l"/>
              <a:pathLst>
                <a:path h="914400" w="6217920">
                  <a:moveTo>
                    <a:pt x="0" y="0"/>
                  </a:moveTo>
                  <a:lnTo>
                    <a:pt x="6217920" y="0"/>
                  </a:lnTo>
                  <a:lnTo>
                    <a:pt x="6217920" y="914400"/>
                  </a:lnTo>
                  <a:lnTo>
                    <a:pt x="0" y="914400"/>
                  </a:lnTo>
                  <a:close/>
                </a:path>
              </a:pathLst>
            </a:custGeom>
            <a:solidFill>
              <a:srgbClr val="273657"/>
            </a:solidFill>
          </p:spPr>
        </p:sp>
      </p:grpSp>
      <p:grpSp>
        <p:nvGrpSpPr>
          <p:cNvPr name="Group 42" id="42"/>
          <p:cNvGrpSpPr/>
          <p:nvPr/>
        </p:nvGrpSpPr>
        <p:grpSpPr>
          <a:xfrm rot="0">
            <a:off x="1481328" y="8435340"/>
            <a:ext cx="4251960" cy="685800"/>
            <a:chOff x="0" y="0"/>
            <a:chExt cx="5669280" cy="914400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5669280" cy="914400"/>
            </a:xfrm>
            <a:custGeom>
              <a:avLst/>
              <a:gdLst/>
              <a:ahLst/>
              <a:cxnLst/>
              <a:rect r="r" b="b" t="t" l="l"/>
              <a:pathLst>
                <a:path h="914400" w="5669280">
                  <a:moveTo>
                    <a:pt x="0" y="0"/>
                  </a:moveTo>
                  <a:lnTo>
                    <a:pt x="5669280" y="0"/>
                  </a:lnTo>
                  <a:lnTo>
                    <a:pt x="566928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70807" r="0" b="-70807"/>
              </a:stretch>
            </a:blipFill>
          </p:spPr>
        </p:sp>
        <p:sp>
          <p:nvSpPr>
            <p:cNvPr name="TextBox 44" id="44"/>
            <p:cNvSpPr txBox="true"/>
            <p:nvPr/>
          </p:nvSpPr>
          <p:spPr>
            <a:xfrm>
              <a:off x="0" y="-9525"/>
              <a:ext cx="5669280" cy="9239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sz="1650" b="true">
                  <a:solidFill>
                    <a:srgbClr val="E8B15C"/>
                  </a:solidFill>
                  <a:latin typeface="Courier New Bold"/>
                  <a:ea typeface="Courier New Bold"/>
                  <a:cs typeface="Courier New Bold"/>
                  <a:sym typeface="Courier New Bold"/>
                </a:rPr>
                <a:t>OPERADOR  </a:t>
              </a:r>
              <a:r>
                <a:rPr lang="en-US" sz="1650">
                  <a:solidFill>
                    <a:srgbClr val="FFFFFF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operador@aria.com</a:t>
              </a:r>
            </a:p>
          </p:txBody>
        </p:sp>
      </p:grpSp>
      <p:grpSp>
        <p:nvGrpSpPr>
          <p:cNvPr name="Group 45" id="45"/>
          <p:cNvGrpSpPr/>
          <p:nvPr/>
        </p:nvGrpSpPr>
        <p:grpSpPr>
          <a:xfrm rot="0">
            <a:off x="6103620" y="8435340"/>
            <a:ext cx="4663440" cy="685800"/>
            <a:chOff x="0" y="0"/>
            <a:chExt cx="6217920" cy="914400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6217920" cy="914400"/>
            </a:xfrm>
            <a:custGeom>
              <a:avLst/>
              <a:gdLst/>
              <a:ahLst/>
              <a:cxnLst/>
              <a:rect r="r" b="b" t="t" l="l"/>
              <a:pathLst>
                <a:path h="914400" w="6217920">
                  <a:moveTo>
                    <a:pt x="0" y="0"/>
                  </a:moveTo>
                  <a:lnTo>
                    <a:pt x="6217920" y="0"/>
                  </a:lnTo>
                  <a:lnTo>
                    <a:pt x="6217920" y="914400"/>
                  </a:lnTo>
                  <a:lnTo>
                    <a:pt x="0" y="914400"/>
                  </a:lnTo>
                  <a:close/>
                </a:path>
              </a:pathLst>
            </a:custGeom>
            <a:solidFill>
              <a:srgbClr val="273657"/>
            </a:solidFill>
          </p:spPr>
        </p:sp>
      </p:grpSp>
      <p:grpSp>
        <p:nvGrpSpPr>
          <p:cNvPr name="Group 47" id="47"/>
          <p:cNvGrpSpPr/>
          <p:nvPr/>
        </p:nvGrpSpPr>
        <p:grpSpPr>
          <a:xfrm rot="0">
            <a:off x="6350508" y="8435340"/>
            <a:ext cx="4251960" cy="685800"/>
            <a:chOff x="0" y="0"/>
            <a:chExt cx="5669280" cy="914400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5669280" cy="914400"/>
            </a:xfrm>
            <a:custGeom>
              <a:avLst/>
              <a:gdLst/>
              <a:ahLst/>
              <a:cxnLst/>
              <a:rect r="r" b="b" t="t" l="l"/>
              <a:pathLst>
                <a:path h="914400" w="5669280">
                  <a:moveTo>
                    <a:pt x="0" y="0"/>
                  </a:moveTo>
                  <a:lnTo>
                    <a:pt x="5669280" y="0"/>
                  </a:lnTo>
                  <a:lnTo>
                    <a:pt x="566928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70807" r="0" b="-70807"/>
              </a:stretch>
            </a:blipFill>
          </p:spPr>
        </p:sp>
        <p:sp>
          <p:nvSpPr>
            <p:cNvPr name="TextBox 49" id="49"/>
            <p:cNvSpPr txBox="true"/>
            <p:nvPr/>
          </p:nvSpPr>
          <p:spPr>
            <a:xfrm>
              <a:off x="0" y="-9525"/>
              <a:ext cx="5669280" cy="9239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sz="1650" b="true">
                  <a:solidFill>
                    <a:srgbClr val="E8B15C"/>
                  </a:solidFill>
                  <a:latin typeface="Courier New Bold"/>
                  <a:ea typeface="Courier New Bold"/>
                  <a:cs typeface="Courier New Bold"/>
                  <a:sym typeface="Courier New Bold"/>
                </a:rPr>
                <a:t>GESTOR  </a:t>
              </a:r>
              <a:r>
                <a:rPr lang="en-US" sz="1650">
                  <a:solidFill>
                    <a:srgbClr val="FFFFFF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gestor@aria.com</a:t>
              </a:r>
            </a:p>
          </p:txBody>
        </p:sp>
      </p:grpSp>
      <p:grpSp>
        <p:nvGrpSpPr>
          <p:cNvPr name="Group 50" id="50"/>
          <p:cNvGrpSpPr/>
          <p:nvPr/>
        </p:nvGrpSpPr>
        <p:grpSpPr>
          <a:xfrm rot="0">
            <a:off x="10972800" y="8435340"/>
            <a:ext cx="4663440" cy="685800"/>
            <a:chOff x="0" y="0"/>
            <a:chExt cx="6217920" cy="914400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6217920" cy="914400"/>
            </a:xfrm>
            <a:custGeom>
              <a:avLst/>
              <a:gdLst/>
              <a:ahLst/>
              <a:cxnLst/>
              <a:rect r="r" b="b" t="t" l="l"/>
              <a:pathLst>
                <a:path h="914400" w="6217920">
                  <a:moveTo>
                    <a:pt x="0" y="0"/>
                  </a:moveTo>
                  <a:lnTo>
                    <a:pt x="6217920" y="0"/>
                  </a:lnTo>
                  <a:lnTo>
                    <a:pt x="6217920" y="914400"/>
                  </a:lnTo>
                  <a:lnTo>
                    <a:pt x="0" y="914400"/>
                  </a:lnTo>
                  <a:close/>
                </a:path>
              </a:pathLst>
            </a:custGeom>
            <a:solidFill>
              <a:srgbClr val="273657"/>
            </a:solidFill>
          </p:spPr>
        </p:sp>
      </p:grpSp>
      <p:grpSp>
        <p:nvGrpSpPr>
          <p:cNvPr name="Group 52" id="52"/>
          <p:cNvGrpSpPr/>
          <p:nvPr/>
        </p:nvGrpSpPr>
        <p:grpSpPr>
          <a:xfrm rot="0">
            <a:off x="11219688" y="8435340"/>
            <a:ext cx="4251960" cy="685800"/>
            <a:chOff x="0" y="0"/>
            <a:chExt cx="5669280" cy="914400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5669280" cy="914400"/>
            </a:xfrm>
            <a:custGeom>
              <a:avLst/>
              <a:gdLst/>
              <a:ahLst/>
              <a:cxnLst/>
              <a:rect r="r" b="b" t="t" l="l"/>
              <a:pathLst>
                <a:path h="914400" w="5669280">
                  <a:moveTo>
                    <a:pt x="0" y="0"/>
                  </a:moveTo>
                  <a:lnTo>
                    <a:pt x="5669280" y="0"/>
                  </a:lnTo>
                  <a:lnTo>
                    <a:pt x="566928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70807" r="0" b="-70807"/>
              </a:stretch>
            </a:blipFill>
          </p:spPr>
        </p:sp>
        <p:sp>
          <p:nvSpPr>
            <p:cNvPr name="TextBox 54" id="54"/>
            <p:cNvSpPr txBox="true"/>
            <p:nvPr/>
          </p:nvSpPr>
          <p:spPr>
            <a:xfrm>
              <a:off x="0" y="-9525"/>
              <a:ext cx="5669280" cy="9239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sz="1650" b="true">
                  <a:solidFill>
                    <a:srgbClr val="E8B15C"/>
                  </a:solidFill>
                  <a:latin typeface="Courier New Bold"/>
                  <a:ea typeface="Courier New Bold"/>
                  <a:cs typeface="Courier New Bold"/>
                  <a:sym typeface="Courier New Bold"/>
                </a:rPr>
                <a:t>LIDER  </a:t>
              </a:r>
              <a:r>
                <a:rPr lang="en-US" sz="1650">
                  <a:solidFill>
                    <a:srgbClr val="FFFFFF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lider@aria.com</a:t>
              </a:r>
            </a:p>
          </p:txBody>
        </p:sp>
      </p:grpSp>
      <p:grpSp>
        <p:nvGrpSpPr>
          <p:cNvPr name="Group 55" id="55"/>
          <p:cNvGrpSpPr/>
          <p:nvPr/>
        </p:nvGrpSpPr>
        <p:grpSpPr>
          <a:xfrm rot="0">
            <a:off x="1234440" y="9258300"/>
            <a:ext cx="15087600" cy="411480"/>
            <a:chOff x="0" y="0"/>
            <a:chExt cx="20116800" cy="548640"/>
          </a:xfrm>
        </p:grpSpPr>
        <p:sp>
          <p:nvSpPr>
            <p:cNvPr name="Freeform 56" id="56"/>
            <p:cNvSpPr/>
            <p:nvPr/>
          </p:nvSpPr>
          <p:spPr>
            <a:xfrm flipH="false" flipV="false" rot="0">
              <a:off x="0" y="0"/>
              <a:ext cx="20116800" cy="548640"/>
            </a:xfrm>
            <a:custGeom>
              <a:avLst/>
              <a:gdLst/>
              <a:ahLst/>
              <a:cxnLst/>
              <a:rect r="r" b="b" t="t" l="l"/>
              <a:pathLst>
                <a:path h="548640" w="20116800">
                  <a:moveTo>
                    <a:pt x="0" y="0"/>
                  </a:moveTo>
                  <a:lnTo>
                    <a:pt x="20116800" y="0"/>
                  </a:lnTo>
                  <a:lnTo>
                    <a:pt x="201168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664451" r="0" b="-664451"/>
              </a:stretch>
            </a:blipFill>
          </p:spPr>
        </p:sp>
        <p:sp>
          <p:nvSpPr>
            <p:cNvPr name="TextBox 57" id="57"/>
            <p:cNvSpPr txBox="true"/>
            <p:nvPr/>
          </p:nvSpPr>
          <p:spPr>
            <a:xfrm>
              <a:off x="0" y="-38100"/>
              <a:ext cx="2011680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15"/>
                </a:lnSpc>
              </a:pPr>
              <a:r>
                <a:rPr lang="en-US" sz="1679" b="true">
                  <a:solidFill>
                    <a:srgbClr val="E8B15C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⚠ </a:t>
              </a:r>
              <a:r>
                <a:rPr lang="en-US" b="true" sz="1679" i="true">
                  <a:solidFill>
                    <a:srgbClr val="9AA5BF"/>
                  </a:solidFill>
                  <a:latin typeface="Calibri (MS) Bold Italics"/>
                  <a:ea typeface="Calibri (MS) Bold Italics"/>
                  <a:cs typeface="Calibri (MS) Bold Italics"/>
                  <a:sym typeface="Calibri (MS) Bold Italics"/>
                </a:rPr>
                <a:t>Plano gratuito do Render “hiberna” após inatividade — a 1ª requisição pode levar até ~1 min.</a:t>
              </a:r>
            </a:p>
          </p:txBody>
        </p:sp>
      </p:grp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234440" y="685800"/>
            <a:ext cx="10972800" cy="480060"/>
            <a:chOff x="0" y="0"/>
            <a:chExt cx="14630400" cy="64008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4630400" cy="640080"/>
            </a:xfrm>
            <a:custGeom>
              <a:avLst/>
              <a:gdLst/>
              <a:ahLst/>
              <a:cxnLst/>
              <a:rect r="r" b="b" t="t" l="l"/>
              <a:pathLst>
                <a:path h="640080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95372" r="0" b="-395372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14630400" cy="6877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b="true" sz="1950">
                  <a:solidFill>
                    <a:srgbClr val="C87D0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QUALIDADE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234440" y="1165860"/>
            <a:ext cx="15087600" cy="822960"/>
            <a:chOff x="0" y="0"/>
            <a:chExt cx="20116800" cy="109728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0116800" cy="1097280"/>
            </a:xfrm>
            <a:custGeom>
              <a:avLst/>
              <a:gdLst/>
              <a:ahLst/>
              <a:cxnLst/>
              <a:rect r="r" b="b" t="t" l="l"/>
              <a:pathLst>
                <a:path h="1097280" w="20116800">
                  <a:moveTo>
                    <a:pt x="0" y="0"/>
                  </a:moveTo>
                  <a:lnTo>
                    <a:pt x="20116800" y="0"/>
                  </a:lnTo>
                  <a:lnTo>
                    <a:pt x="2011680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07225" r="0" b="-307225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19050"/>
              <a:ext cx="20116800" cy="11163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400"/>
                </a:lnSpc>
              </a:pPr>
              <a:r>
                <a:rPr lang="en-US" b="true" sz="4500">
                  <a:solidFill>
                    <a:srgbClr val="1A2540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O que testamos de verdade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234440" y="2400300"/>
            <a:ext cx="7632954" cy="2811780"/>
            <a:chOff x="0" y="0"/>
            <a:chExt cx="10177272" cy="374904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0177272" cy="3749040"/>
            </a:xfrm>
            <a:custGeom>
              <a:avLst/>
              <a:gdLst/>
              <a:ahLst/>
              <a:cxnLst/>
              <a:rect r="r" b="b" t="t" l="l"/>
              <a:pathLst>
                <a:path h="3749040" w="10177272">
                  <a:moveTo>
                    <a:pt x="0" y="0"/>
                  </a:moveTo>
                  <a:lnTo>
                    <a:pt x="10177272" y="0"/>
                  </a:lnTo>
                  <a:lnTo>
                    <a:pt x="10177272" y="3749040"/>
                  </a:lnTo>
                  <a:lnTo>
                    <a:pt x="0" y="3749040"/>
                  </a:lnTo>
                  <a:close/>
                </a:path>
              </a:pathLst>
            </a:custGeom>
            <a:solidFill>
              <a:srgbClr val="F2F2F0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645920" y="2811780"/>
            <a:ext cx="480060" cy="480060"/>
            <a:chOff x="0" y="0"/>
            <a:chExt cx="640080" cy="64008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640080" cy="640080"/>
            </a:xfrm>
            <a:custGeom>
              <a:avLst/>
              <a:gdLst/>
              <a:ahLst/>
              <a:cxnLst/>
              <a:rect r="r" b="b" t="t" l="l"/>
              <a:pathLst>
                <a:path h="640080" w="640080">
                  <a:moveTo>
                    <a:pt x="0" y="320040"/>
                  </a:moveTo>
                  <a:cubicBezTo>
                    <a:pt x="0" y="143256"/>
                    <a:pt x="143256" y="0"/>
                    <a:pt x="320040" y="0"/>
                  </a:cubicBezTo>
                  <a:cubicBezTo>
                    <a:pt x="496824" y="0"/>
                    <a:pt x="640080" y="143256"/>
                    <a:pt x="640080" y="320040"/>
                  </a:cubicBezTo>
                  <a:cubicBezTo>
                    <a:pt x="640080" y="496824"/>
                    <a:pt x="496824" y="640080"/>
                    <a:pt x="320040" y="640080"/>
                  </a:cubicBezTo>
                  <a:cubicBezTo>
                    <a:pt x="143256" y="640080"/>
                    <a:pt x="0" y="496824"/>
                    <a:pt x="0" y="320040"/>
                  </a:cubicBezTo>
                  <a:close/>
                </a:path>
              </a:pathLst>
            </a:custGeom>
            <a:solidFill>
              <a:srgbClr val="2E7D46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1645920" y="2811780"/>
            <a:ext cx="480060" cy="480060"/>
            <a:chOff x="0" y="0"/>
            <a:chExt cx="640080" cy="64008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640080" cy="640080"/>
            </a:xfrm>
            <a:custGeom>
              <a:avLst/>
              <a:gdLst/>
              <a:ahLst/>
              <a:cxnLst/>
              <a:rect r="r" b="b" t="t" l="l"/>
              <a:pathLst>
                <a:path h="640080" w="640080">
                  <a:moveTo>
                    <a:pt x="0" y="0"/>
                  </a:moveTo>
                  <a:lnTo>
                    <a:pt x="640080" y="0"/>
                  </a:lnTo>
                  <a:lnTo>
                    <a:pt x="64008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38100"/>
              <a:ext cx="640080" cy="6781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9"/>
                </a:lnSpc>
              </a:pPr>
              <a:r>
                <a:rPr lang="en-US" b="true" sz="2400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✓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2400300" y="2784348"/>
            <a:ext cx="6124194" cy="548640"/>
            <a:chOff x="0" y="0"/>
            <a:chExt cx="8165592" cy="73152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8165592" cy="731520"/>
            </a:xfrm>
            <a:custGeom>
              <a:avLst/>
              <a:gdLst/>
              <a:ahLst/>
              <a:cxnLst/>
              <a:rect r="r" b="b" t="t" l="l"/>
              <a:pathLst>
                <a:path h="731520" w="8165592">
                  <a:moveTo>
                    <a:pt x="0" y="0"/>
                  </a:moveTo>
                  <a:lnTo>
                    <a:pt x="8165592" y="0"/>
                  </a:lnTo>
                  <a:lnTo>
                    <a:pt x="8165592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67501" r="0" b="-167501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47625"/>
              <a:ext cx="8165592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b="true" sz="2100">
                  <a:solidFill>
                    <a:srgbClr val="1A254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Fluxo completo ponta a ponta</a:t>
              </a:r>
            </a:p>
          </p:txBody>
        </p:sp>
      </p:grpSp>
      <p:sp>
        <p:nvSpPr>
          <p:cNvPr name="TextBox 18" id="18"/>
          <p:cNvSpPr txBox="true"/>
          <p:nvPr/>
        </p:nvSpPr>
        <p:spPr>
          <a:xfrm rot="0">
            <a:off x="1645920" y="3528060"/>
            <a:ext cx="6809994" cy="15468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5B6472"/>
                </a:solidFill>
                <a:latin typeface="Calibri (MS)"/>
                <a:ea typeface="Calibri (MS)"/>
                <a:cs typeface="Calibri (MS)"/>
                <a:sym typeface="Calibri (MS)"/>
              </a:rPr>
              <a:t>Ideia → aprovação por IA → projeto → progresso → dashboard, testado com os 3 perfis reais.</a:t>
            </a:r>
          </a:p>
        </p:txBody>
      </p:sp>
      <p:grpSp>
        <p:nvGrpSpPr>
          <p:cNvPr name="Group 19" id="19"/>
          <p:cNvGrpSpPr/>
          <p:nvPr/>
        </p:nvGrpSpPr>
        <p:grpSpPr>
          <a:xfrm rot="0">
            <a:off x="9416034" y="2400300"/>
            <a:ext cx="7632954" cy="2811780"/>
            <a:chOff x="0" y="0"/>
            <a:chExt cx="10177272" cy="374904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0177272" cy="3749040"/>
            </a:xfrm>
            <a:custGeom>
              <a:avLst/>
              <a:gdLst/>
              <a:ahLst/>
              <a:cxnLst/>
              <a:rect r="r" b="b" t="t" l="l"/>
              <a:pathLst>
                <a:path h="3749040" w="10177272">
                  <a:moveTo>
                    <a:pt x="0" y="0"/>
                  </a:moveTo>
                  <a:lnTo>
                    <a:pt x="10177272" y="0"/>
                  </a:lnTo>
                  <a:lnTo>
                    <a:pt x="10177272" y="3749040"/>
                  </a:lnTo>
                  <a:lnTo>
                    <a:pt x="0" y="3749040"/>
                  </a:lnTo>
                  <a:close/>
                </a:path>
              </a:pathLst>
            </a:custGeom>
            <a:solidFill>
              <a:srgbClr val="F2F2F0"/>
            </a:solidFill>
          </p:spPr>
        </p:sp>
      </p:grpSp>
      <p:grpSp>
        <p:nvGrpSpPr>
          <p:cNvPr name="Group 21" id="21"/>
          <p:cNvGrpSpPr/>
          <p:nvPr/>
        </p:nvGrpSpPr>
        <p:grpSpPr>
          <a:xfrm rot="0">
            <a:off x="9827514" y="2811780"/>
            <a:ext cx="480060" cy="480060"/>
            <a:chOff x="0" y="0"/>
            <a:chExt cx="640080" cy="64008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640080" cy="640080"/>
            </a:xfrm>
            <a:custGeom>
              <a:avLst/>
              <a:gdLst/>
              <a:ahLst/>
              <a:cxnLst/>
              <a:rect r="r" b="b" t="t" l="l"/>
              <a:pathLst>
                <a:path h="640080" w="640080">
                  <a:moveTo>
                    <a:pt x="0" y="320040"/>
                  </a:moveTo>
                  <a:cubicBezTo>
                    <a:pt x="0" y="143256"/>
                    <a:pt x="143256" y="0"/>
                    <a:pt x="320040" y="0"/>
                  </a:cubicBezTo>
                  <a:cubicBezTo>
                    <a:pt x="496824" y="0"/>
                    <a:pt x="640080" y="143256"/>
                    <a:pt x="640080" y="320040"/>
                  </a:cubicBezTo>
                  <a:cubicBezTo>
                    <a:pt x="640080" y="496824"/>
                    <a:pt x="496824" y="640080"/>
                    <a:pt x="320040" y="640080"/>
                  </a:cubicBezTo>
                  <a:cubicBezTo>
                    <a:pt x="143256" y="640080"/>
                    <a:pt x="0" y="496824"/>
                    <a:pt x="0" y="320040"/>
                  </a:cubicBezTo>
                  <a:close/>
                </a:path>
              </a:pathLst>
            </a:custGeom>
            <a:solidFill>
              <a:srgbClr val="2E7D46"/>
            </a:solidFill>
          </p:spPr>
        </p:sp>
      </p:grpSp>
      <p:grpSp>
        <p:nvGrpSpPr>
          <p:cNvPr name="Group 23" id="23"/>
          <p:cNvGrpSpPr/>
          <p:nvPr/>
        </p:nvGrpSpPr>
        <p:grpSpPr>
          <a:xfrm rot="0">
            <a:off x="9827514" y="2811780"/>
            <a:ext cx="480060" cy="480060"/>
            <a:chOff x="0" y="0"/>
            <a:chExt cx="640080" cy="64008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640080" cy="640080"/>
            </a:xfrm>
            <a:custGeom>
              <a:avLst/>
              <a:gdLst/>
              <a:ahLst/>
              <a:cxnLst/>
              <a:rect r="r" b="b" t="t" l="l"/>
              <a:pathLst>
                <a:path h="640080" w="640080">
                  <a:moveTo>
                    <a:pt x="0" y="0"/>
                  </a:moveTo>
                  <a:lnTo>
                    <a:pt x="640080" y="0"/>
                  </a:lnTo>
                  <a:lnTo>
                    <a:pt x="64008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38100"/>
              <a:ext cx="640080" cy="6781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9"/>
                </a:lnSpc>
              </a:pPr>
              <a:r>
                <a:rPr lang="en-US" b="true" sz="2400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✓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10581894" y="2784348"/>
            <a:ext cx="6124194" cy="548640"/>
            <a:chOff x="0" y="0"/>
            <a:chExt cx="8165592" cy="73152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8165592" cy="731520"/>
            </a:xfrm>
            <a:custGeom>
              <a:avLst/>
              <a:gdLst/>
              <a:ahLst/>
              <a:cxnLst/>
              <a:rect r="r" b="b" t="t" l="l"/>
              <a:pathLst>
                <a:path h="731520" w="8165592">
                  <a:moveTo>
                    <a:pt x="0" y="0"/>
                  </a:moveTo>
                  <a:lnTo>
                    <a:pt x="8165592" y="0"/>
                  </a:lnTo>
                  <a:lnTo>
                    <a:pt x="8165592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67501" r="0" b="-167501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47625"/>
              <a:ext cx="8165592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b="true" sz="2100">
                  <a:solidFill>
                    <a:srgbClr val="1A254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Resiliência a falhas de rede</a:t>
              </a:r>
            </a:p>
          </p:txBody>
        </p:sp>
      </p:grpSp>
      <p:sp>
        <p:nvSpPr>
          <p:cNvPr name="TextBox 29" id="29"/>
          <p:cNvSpPr txBox="true"/>
          <p:nvPr/>
        </p:nvSpPr>
        <p:spPr>
          <a:xfrm rot="0">
            <a:off x="9827514" y="3528060"/>
            <a:ext cx="6809994" cy="15468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5B6472"/>
                </a:solidFill>
                <a:latin typeface="Calibri (MS)"/>
                <a:ea typeface="Calibri (MS)"/>
                <a:cs typeface="Calibri (MS)"/>
                <a:sym typeface="Calibri (MS)"/>
              </a:rPr>
              <a:t>Backend fora do ar não derruba o app — telas degradam com segurança em vez de crashar.</a:t>
            </a:r>
          </a:p>
        </p:txBody>
      </p:sp>
      <p:grpSp>
        <p:nvGrpSpPr>
          <p:cNvPr name="Group 30" id="30"/>
          <p:cNvGrpSpPr/>
          <p:nvPr/>
        </p:nvGrpSpPr>
        <p:grpSpPr>
          <a:xfrm rot="0">
            <a:off x="1234440" y="5623560"/>
            <a:ext cx="7632954" cy="2811780"/>
            <a:chOff x="0" y="0"/>
            <a:chExt cx="10177272" cy="374904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10177272" cy="3749040"/>
            </a:xfrm>
            <a:custGeom>
              <a:avLst/>
              <a:gdLst/>
              <a:ahLst/>
              <a:cxnLst/>
              <a:rect r="r" b="b" t="t" l="l"/>
              <a:pathLst>
                <a:path h="3749040" w="10177272">
                  <a:moveTo>
                    <a:pt x="0" y="0"/>
                  </a:moveTo>
                  <a:lnTo>
                    <a:pt x="10177272" y="0"/>
                  </a:lnTo>
                  <a:lnTo>
                    <a:pt x="10177272" y="3749040"/>
                  </a:lnTo>
                  <a:lnTo>
                    <a:pt x="0" y="3749040"/>
                  </a:lnTo>
                  <a:close/>
                </a:path>
              </a:pathLst>
            </a:custGeom>
            <a:solidFill>
              <a:srgbClr val="F2F2F0"/>
            </a:solidFill>
          </p:spPr>
        </p:sp>
      </p:grpSp>
      <p:grpSp>
        <p:nvGrpSpPr>
          <p:cNvPr name="Group 32" id="32"/>
          <p:cNvGrpSpPr/>
          <p:nvPr/>
        </p:nvGrpSpPr>
        <p:grpSpPr>
          <a:xfrm rot="0">
            <a:off x="1645920" y="6035040"/>
            <a:ext cx="480060" cy="480060"/>
            <a:chOff x="0" y="0"/>
            <a:chExt cx="640080" cy="64008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640080" cy="640080"/>
            </a:xfrm>
            <a:custGeom>
              <a:avLst/>
              <a:gdLst/>
              <a:ahLst/>
              <a:cxnLst/>
              <a:rect r="r" b="b" t="t" l="l"/>
              <a:pathLst>
                <a:path h="640080" w="640080">
                  <a:moveTo>
                    <a:pt x="0" y="320040"/>
                  </a:moveTo>
                  <a:cubicBezTo>
                    <a:pt x="0" y="143256"/>
                    <a:pt x="143256" y="0"/>
                    <a:pt x="320040" y="0"/>
                  </a:cubicBezTo>
                  <a:cubicBezTo>
                    <a:pt x="496824" y="0"/>
                    <a:pt x="640080" y="143256"/>
                    <a:pt x="640080" y="320040"/>
                  </a:cubicBezTo>
                  <a:cubicBezTo>
                    <a:pt x="640080" y="496824"/>
                    <a:pt x="496824" y="640080"/>
                    <a:pt x="320040" y="640080"/>
                  </a:cubicBezTo>
                  <a:cubicBezTo>
                    <a:pt x="143256" y="640080"/>
                    <a:pt x="0" y="496824"/>
                    <a:pt x="0" y="320040"/>
                  </a:cubicBezTo>
                  <a:close/>
                </a:path>
              </a:pathLst>
            </a:custGeom>
            <a:solidFill>
              <a:srgbClr val="2E7D46"/>
            </a:solidFill>
          </p:spPr>
        </p:sp>
      </p:grpSp>
      <p:grpSp>
        <p:nvGrpSpPr>
          <p:cNvPr name="Group 34" id="34"/>
          <p:cNvGrpSpPr/>
          <p:nvPr/>
        </p:nvGrpSpPr>
        <p:grpSpPr>
          <a:xfrm rot="0">
            <a:off x="1645920" y="6035040"/>
            <a:ext cx="480060" cy="480060"/>
            <a:chOff x="0" y="0"/>
            <a:chExt cx="640080" cy="64008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640080" cy="640080"/>
            </a:xfrm>
            <a:custGeom>
              <a:avLst/>
              <a:gdLst/>
              <a:ahLst/>
              <a:cxnLst/>
              <a:rect r="r" b="b" t="t" l="l"/>
              <a:pathLst>
                <a:path h="640080" w="640080">
                  <a:moveTo>
                    <a:pt x="0" y="0"/>
                  </a:moveTo>
                  <a:lnTo>
                    <a:pt x="640080" y="0"/>
                  </a:lnTo>
                  <a:lnTo>
                    <a:pt x="64008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36" id="36"/>
            <p:cNvSpPr txBox="true"/>
            <p:nvPr/>
          </p:nvSpPr>
          <p:spPr>
            <a:xfrm>
              <a:off x="0" y="-38100"/>
              <a:ext cx="640080" cy="6781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9"/>
                </a:lnSpc>
              </a:pPr>
              <a:r>
                <a:rPr lang="en-US" b="true" sz="2400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✓</a:t>
              </a:r>
            </a:p>
          </p:txBody>
        </p:sp>
      </p:grpSp>
      <p:grpSp>
        <p:nvGrpSpPr>
          <p:cNvPr name="Group 37" id="37"/>
          <p:cNvGrpSpPr/>
          <p:nvPr/>
        </p:nvGrpSpPr>
        <p:grpSpPr>
          <a:xfrm rot="0">
            <a:off x="2400300" y="6007608"/>
            <a:ext cx="6124194" cy="548640"/>
            <a:chOff x="0" y="0"/>
            <a:chExt cx="8165592" cy="731520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8165592" cy="731520"/>
            </a:xfrm>
            <a:custGeom>
              <a:avLst/>
              <a:gdLst/>
              <a:ahLst/>
              <a:cxnLst/>
              <a:rect r="r" b="b" t="t" l="l"/>
              <a:pathLst>
                <a:path h="731520" w="8165592">
                  <a:moveTo>
                    <a:pt x="0" y="0"/>
                  </a:moveTo>
                  <a:lnTo>
                    <a:pt x="8165592" y="0"/>
                  </a:lnTo>
                  <a:lnTo>
                    <a:pt x="8165592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67501" r="0" b="-167501"/>
              </a:stretch>
            </a:blipFill>
          </p:spPr>
        </p:sp>
        <p:sp>
          <p:nvSpPr>
            <p:cNvPr name="TextBox 39" id="39"/>
            <p:cNvSpPr txBox="true"/>
            <p:nvPr/>
          </p:nvSpPr>
          <p:spPr>
            <a:xfrm>
              <a:off x="0" y="-47625"/>
              <a:ext cx="8165592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b="true" sz="2100">
                  <a:solidFill>
                    <a:srgbClr val="1A254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Permissões por role</a:t>
              </a:r>
            </a:p>
          </p:txBody>
        </p:sp>
      </p:grpSp>
      <p:sp>
        <p:nvSpPr>
          <p:cNvPr name="TextBox 40" id="40"/>
          <p:cNvSpPr txBox="true"/>
          <p:nvPr/>
        </p:nvSpPr>
        <p:spPr>
          <a:xfrm rot="0">
            <a:off x="1645920" y="6751320"/>
            <a:ext cx="6809994" cy="15468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5B6472"/>
                </a:solidFill>
                <a:latin typeface="Calibri (MS)"/>
                <a:ea typeface="Calibri (MS)"/>
                <a:cs typeface="Calibri (MS)"/>
                <a:sym typeface="Calibri (MS)"/>
              </a:rPr>
              <a:t>Cada restrição de acesso testada tanto pelo lado que deve funcionar quanto pelo que deve barrar (403).</a:t>
            </a:r>
          </a:p>
        </p:txBody>
      </p:sp>
      <p:grpSp>
        <p:nvGrpSpPr>
          <p:cNvPr name="Group 41" id="41"/>
          <p:cNvGrpSpPr/>
          <p:nvPr/>
        </p:nvGrpSpPr>
        <p:grpSpPr>
          <a:xfrm rot="0">
            <a:off x="9416034" y="5623560"/>
            <a:ext cx="7632954" cy="2811780"/>
            <a:chOff x="0" y="0"/>
            <a:chExt cx="10177272" cy="3749040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10177272" cy="3749040"/>
            </a:xfrm>
            <a:custGeom>
              <a:avLst/>
              <a:gdLst/>
              <a:ahLst/>
              <a:cxnLst/>
              <a:rect r="r" b="b" t="t" l="l"/>
              <a:pathLst>
                <a:path h="3749040" w="10177272">
                  <a:moveTo>
                    <a:pt x="0" y="0"/>
                  </a:moveTo>
                  <a:lnTo>
                    <a:pt x="10177272" y="0"/>
                  </a:lnTo>
                  <a:lnTo>
                    <a:pt x="10177272" y="3749040"/>
                  </a:lnTo>
                  <a:lnTo>
                    <a:pt x="0" y="3749040"/>
                  </a:lnTo>
                  <a:close/>
                </a:path>
              </a:pathLst>
            </a:custGeom>
            <a:solidFill>
              <a:srgbClr val="F2F2F0"/>
            </a:solidFill>
          </p:spPr>
        </p:sp>
      </p:grpSp>
      <p:grpSp>
        <p:nvGrpSpPr>
          <p:cNvPr name="Group 43" id="43"/>
          <p:cNvGrpSpPr/>
          <p:nvPr/>
        </p:nvGrpSpPr>
        <p:grpSpPr>
          <a:xfrm rot="0">
            <a:off x="9827514" y="6035040"/>
            <a:ext cx="480060" cy="480060"/>
            <a:chOff x="0" y="0"/>
            <a:chExt cx="640080" cy="640080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640080" cy="640080"/>
            </a:xfrm>
            <a:custGeom>
              <a:avLst/>
              <a:gdLst/>
              <a:ahLst/>
              <a:cxnLst/>
              <a:rect r="r" b="b" t="t" l="l"/>
              <a:pathLst>
                <a:path h="640080" w="640080">
                  <a:moveTo>
                    <a:pt x="0" y="320040"/>
                  </a:moveTo>
                  <a:cubicBezTo>
                    <a:pt x="0" y="143256"/>
                    <a:pt x="143256" y="0"/>
                    <a:pt x="320040" y="0"/>
                  </a:cubicBezTo>
                  <a:cubicBezTo>
                    <a:pt x="496824" y="0"/>
                    <a:pt x="640080" y="143256"/>
                    <a:pt x="640080" y="320040"/>
                  </a:cubicBezTo>
                  <a:cubicBezTo>
                    <a:pt x="640080" y="496824"/>
                    <a:pt x="496824" y="640080"/>
                    <a:pt x="320040" y="640080"/>
                  </a:cubicBezTo>
                  <a:cubicBezTo>
                    <a:pt x="143256" y="640080"/>
                    <a:pt x="0" y="496824"/>
                    <a:pt x="0" y="320040"/>
                  </a:cubicBezTo>
                  <a:close/>
                </a:path>
              </a:pathLst>
            </a:custGeom>
            <a:solidFill>
              <a:srgbClr val="2E7D46"/>
            </a:solidFill>
          </p:spPr>
        </p:sp>
      </p:grpSp>
      <p:grpSp>
        <p:nvGrpSpPr>
          <p:cNvPr name="Group 45" id="45"/>
          <p:cNvGrpSpPr/>
          <p:nvPr/>
        </p:nvGrpSpPr>
        <p:grpSpPr>
          <a:xfrm rot="0">
            <a:off x="9827514" y="6035040"/>
            <a:ext cx="480060" cy="480060"/>
            <a:chOff x="0" y="0"/>
            <a:chExt cx="640080" cy="640080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640080" cy="640080"/>
            </a:xfrm>
            <a:custGeom>
              <a:avLst/>
              <a:gdLst/>
              <a:ahLst/>
              <a:cxnLst/>
              <a:rect r="r" b="b" t="t" l="l"/>
              <a:pathLst>
                <a:path h="640080" w="640080">
                  <a:moveTo>
                    <a:pt x="0" y="0"/>
                  </a:moveTo>
                  <a:lnTo>
                    <a:pt x="640080" y="0"/>
                  </a:lnTo>
                  <a:lnTo>
                    <a:pt x="64008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47" id="47"/>
            <p:cNvSpPr txBox="true"/>
            <p:nvPr/>
          </p:nvSpPr>
          <p:spPr>
            <a:xfrm>
              <a:off x="0" y="-38100"/>
              <a:ext cx="640080" cy="6781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9"/>
                </a:lnSpc>
              </a:pPr>
              <a:r>
                <a:rPr lang="en-US" b="true" sz="2400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✓</a:t>
              </a:r>
            </a:p>
          </p:txBody>
        </p:sp>
      </p:grpSp>
      <p:grpSp>
        <p:nvGrpSpPr>
          <p:cNvPr name="Group 48" id="48"/>
          <p:cNvGrpSpPr/>
          <p:nvPr/>
        </p:nvGrpSpPr>
        <p:grpSpPr>
          <a:xfrm rot="0">
            <a:off x="10581894" y="6007608"/>
            <a:ext cx="6124194" cy="548640"/>
            <a:chOff x="0" y="0"/>
            <a:chExt cx="8165592" cy="731520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8165592" cy="731520"/>
            </a:xfrm>
            <a:custGeom>
              <a:avLst/>
              <a:gdLst/>
              <a:ahLst/>
              <a:cxnLst/>
              <a:rect r="r" b="b" t="t" l="l"/>
              <a:pathLst>
                <a:path h="731520" w="8165592">
                  <a:moveTo>
                    <a:pt x="0" y="0"/>
                  </a:moveTo>
                  <a:lnTo>
                    <a:pt x="8165592" y="0"/>
                  </a:lnTo>
                  <a:lnTo>
                    <a:pt x="8165592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67501" r="0" b="-167501"/>
              </a:stretch>
            </a:blipFill>
          </p:spPr>
        </p:sp>
        <p:sp>
          <p:nvSpPr>
            <p:cNvPr name="TextBox 50" id="50"/>
            <p:cNvSpPr txBox="true"/>
            <p:nvPr/>
          </p:nvSpPr>
          <p:spPr>
            <a:xfrm>
              <a:off x="0" y="-47625"/>
              <a:ext cx="8165592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b="true" sz="2100">
                  <a:solidFill>
                    <a:srgbClr val="1A254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Dados órfãos e casos de borda</a:t>
              </a:r>
            </a:p>
          </p:txBody>
        </p:sp>
      </p:grpSp>
      <p:sp>
        <p:nvSpPr>
          <p:cNvPr name="TextBox 51" id="51"/>
          <p:cNvSpPr txBox="true"/>
          <p:nvPr/>
        </p:nvSpPr>
        <p:spPr>
          <a:xfrm rot="0">
            <a:off x="9827514" y="6751320"/>
            <a:ext cx="6809994" cy="15468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5B6472"/>
                </a:solidFill>
                <a:latin typeface="Calibri (MS)"/>
                <a:ea typeface="Calibri (MS)"/>
                <a:cs typeface="Calibri (MS)"/>
                <a:sym typeface="Calibri (MS)"/>
              </a:rPr>
              <a:t>Ideia/usuário removido do banco não quebra a listagem — resolvido com fallback no backend.</a:t>
            </a:r>
          </a:p>
        </p:txBody>
      </p:sp>
      <p:grpSp>
        <p:nvGrpSpPr>
          <p:cNvPr name="Group 52" id="52"/>
          <p:cNvGrpSpPr/>
          <p:nvPr/>
        </p:nvGrpSpPr>
        <p:grpSpPr>
          <a:xfrm rot="0">
            <a:off x="17323308" y="9669780"/>
            <a:ext cx="685800" cy="411480"/>
            <a:chOff x="0" y="0"/>
            <a:chExt cx="914400" cy="548640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914400" cy="548640"/>
            </a:xfrm>
            <a:custGeom>
              <a:avLst/>
              <a:gdLst/>
              <a:ahLst/>
              <a:cxnLst/>
              <a:rect r="r" b="b" t="t" l="l"/>
              <a:pathLst>
                <a:path h="54864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26982" t="0" r="-26982" b="0"/>
              </a:stretch>
            </a:blipFill>
          </p:spPr>
        </p:sp>
        <p:sp>
          <p:nvSpPr>
            <p:cNvPr name="TextBox 54" id="54"/>
            <p:cNvSpPr txBox="true"/>
            <p:nvPr/>
          </p:nvSpPr>
          <p:spPr>
            <a:xfrm>
              <a:off x="0" y="-38100"/>
              <a:ext cx="91440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800"/>
                </a:lnSpc>
              </a:pPr>
              <a:r>
                <a:rPr lang="en-US" sz="1500">
                  <a:solidFill>
                    <a:srgbClr val="5B6472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17</a:t>
              </a:r>
            </a:p>
          </p:txBody>
        </p:sp>
      </p:grp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234440" y="754380"/>
            <a:ext cx="10972800" cy="480060"/>
            <a:chOff x="0" y="0"/>
            <a:chExt cx="14630400" cy="64008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4630400" cy="640080"/>
            </a:xfrm>
            <a:custGeom>
              <a:avLst/>
              <a:gdLst/>
              <a:ahLst/>
              <a:cxnLst/>
              <a:rect r="r" b="b" t="t" l="l"/>
              <a:pathLst>
                <a:path h="640080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95372" r="0" b="-395372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14630400" cy="6877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b="true" sz="1950" spc="299">
                  <a:solidFill>
                    <a:srgbClr val="C87D0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CÓDIGO-FONTE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234440" y="1234440"/>
            <a:ext cx="15087600" cy="960120"/>
            <a:chOff x="0" y="0"/>
            <a:chExt cx="20116800" cy="128016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0116800" cy="1280160"/>
            </a:xfrm>
            <a:custGeom>
              <a:avLst/>
              <a:gdLst/>
              <a:ahLst/>
              <a:cxnLst/>
              <a:rect r="r" b="b" t="t" l="l"/>
              <a:pathLst>
                <a:path h="1280160" w="20116800">
                  <a:moveTo>
                    <a:pt x="0" y="0"/>
                  </a:moveTo>
                  <a:lnTo>
                    <a:pt x="20116800" y="0"/>
                  </a:lnTo>
                  <a:lnTo>
                    <a:pt x="20116800" y="1280160"/>
                  </a:lnTo>
                  <a:lnTo>
                    <a:pt x="0" y="12801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56193" r="0" b="-256193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9525"/>
              <a:ext cx="20116800" cy="12896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759"/>
                </a:lnSpc>
              </a:pPr>
              <a:r>
                <a:rPr lang="en-US" sz="4800" b="true">
                  <a:solidFill>
                    <a:srgbClr val="1A2540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Repositórios do projeto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234440" y="2263140"/>
            <a:ext cx="14401800" cy="685800"/>
            <a:chOff x="0" y="0"/>
            <a:chExt cx="19202400" cy="9144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9202400" cy="914400"/>
            </a:xfrm>
            <a:custGeom>
              <a:avLst/>
              <a:gdLst/>
              <a:ahLst/>
              <a:cxnLst/>
              <a:rect r="r" b="b" t="t" l="l"/>
              <a:pathLst>
                <a:path h="914400" w="19202400">
                  <a:moveTo>
                    <a:pt x="0" y="0"/>
                  </a:moveTo>
                  <a:lnTo>
                    <a:pt x="19202400" y="0"/>
                  </a:lnTo>
                  <a:lnTo>
                    <a:pt x="1920240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59185" r="0" b="-359185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47625"/>
              <a:ext cx="19202400" cy="9620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5B6472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Aponte a câmera para acessar o código-fonte de cada repositório no GitHub.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323594" y="3429000"/>
            <a:ext cx="7406640" cy="6035040"/>
            <a:chOff x="0" y="0"/>
            <a:chExt cx="9875520" cy="804672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9875520" cy="8046720"/>
            </a:xfrm>
            <a:custGeom>
              <a:avLst/>
              <a:gdLst/>
              <a:ahLst/>
              <a:cxnLst/>
              <a:rect r="r" b="b" t="t" l="l"/>
              <a:pathLst>
                <a:path h="8046720" w="9875520">
                  <a:moveTo>
                    <a:pt x="0" y="0"/>
                  </a:moveTo>
                  <a:lnTo>
                    <a:pt x="9875520" y="0"/>
                  </a:lnTo>
                  <a:lnTo>
                    <a:pt x="9875520" y="8046720"/>
                  </a:lnTo>
                  <a:lnTo>
                    <a:pt x="0" y="8046720"/>
                  </a:lnTo>
                  <a:close/>
                </a:path>
              </a:pathLst>
            </a:custGeom>
            <a:solidFill>
              <a:srgbClr val="1A2540"/>
            </a:solid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3229546" y="3894772"/>
            <a:ext cx="3594735" cy="3594735"/>
            <a:chOff x="0" y="0"/>
            <a:chExt cx="4792980" cy="479298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4792980" cy="4792980"/>
            </a:xfrm>
            <a:custGeom>
              <a:avLst/>
              <a:gdLst/>
              <a:ahLst/>
              <a:cxnLst/>
              <a:rect r="r" b="b" t="t" l="l"/>
              <a:pathLst>
                <a:path h="4792980" w="4792980">
                  <a:moveTo>
                    <a:pt x="0" y="0"/>
                  </a:moveTo>
                  <a:lnTo>
                    <a:pt x="4792980" y="0"/>
                  </a:lnTo>
                  <a:lnTo>
                    <a:pt x="4792980" y="4792980"/>
                  </a:lnTo>
                  <a:lnTo>
                    <a:pt x="0" y="479298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  <a:ln w="28575" cap="sq">
              <a:solidFill>
                <a:srgbClr val="1A2540"/>
              </a:solidFill>
              <a:prstDash val="solid"/>
              <a:miter/>
            </a:ln>
          </p:spPr>
        </p:sp>
      </p:grpSp>
      <p:grpSp>
        <p:nvGrpSpPr>
          <p:cNvPr name="Group 15" id="15"/>
          <p:cNvGrpSpPr/>
          <p:nvPr/>
        </p:nvGrpSpPr>
        <p:grpSpPr>
          <a:xfrm rot="0">
            <a:off x="1735074" y="7886700"/>
            <a:ext cx="6583680" cy="548640"/>
            <a:chOff x="0" y="0"/>
            <a:chExt cx="8778240" cy="73152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8778240" cy="731520"/>
            </a:xfrm>
            <a:custGeom>
              <a:avLst/>
              <a:gdLst/>
              <a:ahLst/>
              <a:cxnLst/>
              <a:rect r="r" b="b" t="t" l="l"/>
              <a:pathLst>
                <a:path h="731520" w="8778240">
                  <a:moveTo>
                    <a:pt x="0" y="0"/>
                  </a:moveTo>
                  <a:lnTo>
                    <a:pt x="8778240" y="0"/>
                  </a:lnTo>
                  <a:lnTo>
                    <a:pt x="877824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83820" r="0" b="-183820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19050"/>
              <a:ext cx="8778240" cy="7505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240"/>
                </a:lnSpc>
              </a:pPr>
              <a:r>
                <a:rPr lang="en-US" sz="2700" b="true">
                  <a:solidFill>
                    <a:srgbClr val="1A2540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aria-project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1735074" y="7680960"/>
            <a:ext cx="6583680" cy="480060"/>
            <a:chOff x="0" y="0"/>
            <a:chExt cx="8778240" cy="64008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8778240" cy="640080"/>
            </a:xfrm>
            <a:custGeom>
              <a:avLst/>
              <a:gdLst/>
              <a:ahLst/>
              <a:cxnLst/>
              <a:rect r="r" b="b" t="t" l="l"/>
              <a:pathLst>
                <a:path h="640080" w="8778240">
                  <a:moveTo>
                    <a:pt x="0" y="0"/>
                  </a:moveTo>
                  <a:lnTo>
                    <a:pt x="8778240" y="0"/>
                  </a:lnTo>
                  <a:lnTo>
                    <a:pt x="877824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17223" r="0" b="-217223"/>
              </a:stretch>
            </a:blip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38100"/>
              <a:ext cx="8778240" cy="6781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279"/>
                </a:lnSpc>
              </a:pPr>
              <a:r>
                <a:rPr lang="en-US" sz="1899">
                  <a:solidFill>
                    <a:srgbClr val="C7CED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App Android (Kotlin + Jetpack Compose)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1735074" y="8288655"/>
            <a:ext cx="6583680" cy="681651"/>
            <a:chOff x="0" y="0"/>
            <a:chExt cx="8778240" cy="908869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8778239" cy="908869"/>
            </a:xfrm>
            <a:custGeom>
              <a:avLst/>
              <a:gdLst/>
              <a:ahLst/>
              <a:cxnLst/>
              <a:rect r="r" b="b" t="t" l="l"/>
              <a:pathLst>
                <a:path h="908869" w="8778239">
                  <a:moveTo>
                    <a:pt x="0" y="0"/>
                  </a:moveTo>
                  <a:lnTo>
                    <a:pt x="8778239" y="0"/>
                  </a:lnTo>
                  <a:lnTo>
                    <a:pt x="8778239" y="908869"/>
                  </a:lnTo>
                  <a:lnTo>
                    <a:pt x="0" y="908869"/>
                  </a:ln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D8D8D6"/>
              </a:solidFill>
              <a:prstDash val="solid"/>
              <a:miter/>
            </a:ln>
          </p:spPr>
        </p:sp>
      </p:grpSp>
      <p:grpSp>
        <p:nvGrpSpPr>
          <p:cNvPr name="Group 23" id="23"/>
          <p:cNvGrpSpPr/>
          <p:nvPr/>
        </p:nvGrpSpPr>
        <p:grpSpPr>
          <a:xfrm rot="0">
            <a:off x="1735074" y="8355415"/>
            <a:ext cx="6583680" cy="534966"/>
            <a:chOff x="0" y="0"/>
            <a:chExt cx="8778240" cy="713289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8778239" cy="713289"/>
            </a:xfrm>
            <a:custGeom>
              <a:avLst/>
              <a:gdLst/>
              <a:ahLst/>
              <a:cxnLst/>
              <a:rect r="r" b="b" t="t" l="l"/>
              <a:pathLst>
                <a:path h="713289" w="8778239">
                  <a:moveTo>
                    <a:pt x="0" y="0"/>
                  </a:moveTo>
                  <a:lnTo>
                    <a:pt x="8778239" y="0"/>
                  </a:lnTo>
                  <a:lnTo>
                    <a:pt x="8778239" y="713289"/>
                  </a:lnTo>
                  <a:lnTo>
                    <a:pt x="0" y="71328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8535" r="8333" b="-171091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>
              <a:off x="0" y="0"/>
              <a:ext cx="8778240" cy="71328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89"/>
                </a:lnSpc>
              </a:pPr>
              <a:r>
                <a:rPr lang="en-US" sz="1575" i="true" u="sng">
                  <a:solidFill>
                    <a:srgbClr val="5B6472"/>
                  </a:solidFill>
                  <a:latin typeface="Courier New Italics"/>
                  <a:ea typeface="Courier New Italics"/>
                  <a:cs typeface="Courier New Italics"/>
                  <a:sym typeface="Courier New Italics"/>
                  <a:hlinkClick r:id="rId5" tooltip="https://github.com/PROJETOS-FIAP-2TDSOD/aria-project"/>
                </a:rPr>
                <a:t>https://github.com/PROJETOS-FIAP-2TDSOD/aria-project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9553194" y="3429000"/>
            <a:ext cx="7406640" cy="6035040"/>
            <a:chOff x="0" y="0"/>
            <a:chExt cx="9875520" cy="804672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9875520" cy="8046720"/>
            </a:xfrm>
            <a:custGeom>
              <a:avLst/>
              <a:gdLst/>
              <a:ahLst/>
              <a:cxnLst/>
              <a:rect r="r" b="b" t="t" l="l"/>
              <a:pathLst>
                <a:path h="8046720" w="9875520">
                  <a:moveTo>
                    <a:pt x="0" y="0"/>
                  </a:moveTo>
                  <a:lnTo>
                    <a:pt x="9875520" y="0"/>
                  </a:lnTo>
                  <a:lnTo>
                    <a:pt x="9875520" y="8046720"/>
                  </a:lnTo>
                  <a:lnTo>
                    <a:pt x="0" y="8046720"/>
                  </a:lnTo>
                  <a:close/>
                </a:path>
              </a:pathLst>
            </a:custGeom>
            <a:solidFill>
              <a:srgbClr val="1A2540"/>
            </a:solidFill>
          </p:spPr>
        </p:sp>
      </p:grpSp>
      <p:grpSp>
        <p:nvGrpSpPr>
          <p:cNvPr name="Group 28" id="28"/>
          <p:cNvGrpSpPr/>
          <p:nvPr/>
        </p:nvGrpSpPr>
        <p:grpSpPr>
          <a:xfrm rot="0">
            <a:off x="11459146" y="3894772"/>
            <a:ext cx="3594735" cy="3594735"/>
            <a:chOff x="0" y="0"/>
            <a:chExt cx="4792980" cy="479298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4792980" cy="4792980"/>
            </a:xfrm>
            <a:custGeom>
              <a:avLst/>
              <a:gdLst/>
              <a:ahLst/>
              <a:cxnLst/>
              <a:rect r="r" b="b" t="t" l="l"/>
              <a:pathLst>
                <a:path h="4792980" w="4792980">
                  <a:moveTo>
                    <a:pt x="0" y="0"/>
                  </a:moveTo>
                  <a:lnTo>
                    <a:pt x="4792980" y="0"/>
                  </a:lnTo>
                  <a:lnTo>
                    <a:pt x="4792980" y="4792980"/>
                  </a:lnTo>
                  <a:lnTo>
                    <a:pt x="0" y="479298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0"/>
              </a:stretch>
            </a:blipFill>
            <a:ln w="28575" cap="sq">
              <a:solidFill>
                <a:srgbClr val="1A2540"/>
              </a:solidFill>
              <a:prstDash val="solid"/>
              <a:miter/>
            </a:ln>
          </p:spPr>
        </p:sp>
      </p:grpSp>
      <p:grpSp>
        <p:nvGrpSpPr>
          <p:cNvPr name="Group 30" id="30"/>
          <p:cNvGrpSpPr/>
          <p:nvPr/>
        </p:nvGrpSpPr>
        <p:grpSpPr>
          <a:xfrm rot="0">
            <a:off x="9964674" y="7886700"/>
            <a:ext cx="6583680" cy="548640"/>
            <a:chOff x="0" y="0"/>
            <a:chExt cx="8778240" cy="73152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8778240" cy="731520"/>
            </a:xfrm>
            <a:custGeom>
              <a:avLst/>
              <a:gdLst/>
              <a:ahLst/>
              <a:cxnLst/>
              <a:rect r="r" b="b" t="t" l="l"/>
              <a:pathLst>
                <a:path h="731520" w="8778240">
                  <a:moveTo>
                    <a:pt x="0" y="0"/>
                  </a:moveTo>
                  <a:lnTo>
                    <a:pt x="8778240" y="0"/>
                  </a:lnTo>
                  <a:lnTo>
                    <a:pt x="877824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83820" r="0" b="-183820"/>
              </a:stretch>
            </a:blipFill>
          </p:spPr>
        </p:sp>
        <p:sp>
          <p:nvSpPr>
            <p:cNvPr name="TextBox 32" id="32"/>
            <p:cNvSpPr txBox="true"/>
            <p:nvPr/>
          </p:nvSpPr>
          <p:spPr>
            <a:xfrm>
              <a:off x="0" y="-19050"/>
              <a:ext cx="8778240" cy="7505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240"/>
                </a:lnSpc>
              </a:pPr>
              <a:r>
                <a:rPr lang="en-US" sz="2700" b="true">
                  <a:solidFill>
                    <a:srgbClr val="1A2540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aria-backend</a:t>
              </a:r>
            </a:p>
          </p:txBody>
        </p:sp>
      </p:grpSp>
      <p:grpSp>
        <p:nvGrpSpPr>
          <p:cNvPr name="Group 33" id="33"/>
          <p:cNvGrpSpPr/>
          <p:nvPr/>
        </p:nvGrpSpPr>
        <p:grpSpPr>
          <a:xfrm rot="0">
            <a:off x="9964674" y="7680960"/>
            <a:ext cx="6583680" cy="480060"/>
            <a:chOff x="0" y="0"/>
            <a:chExt cx="8778240" cy="640080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8778240" cy="640080"/>
            </a:xfrm>
            <a:custGeom>
              <a:avLst/>
              <a:gdLst/>
              <a:ahLst/>
              <a:cxnLst/>
              <a:rect r="r" b="b" t="t" l="l"/>
              <a:pathLst>
                <a:path h="640080" w="8778240">
                  <a:moveTo>
                    <a:pt x="0" y="0"/>
                  </a:moveTo>
                  <a:lnTo>
                    <a:pt x="8778240" y="0"/>
                  </a:lnTo>
                  <a:lnTo>
                    <a:pt x="877824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17223" r="0" b="-217223"/>
              </a:stretch>
            </a:blipFill>
          </p:spPr>
        </p:sp>
        <p:sp>
          <p:nvSpPr>
            <p:cNvPr name="TextBox 35" id="35"/>
            <p:cNvSpPr txBox="true"/>
            <p:nvPr/>
          </p:nvSpPr>
          <p:spPr>
            <a:xfrm>
              <a:off x="0" y="-38100"/>
              <a:ext cx="8778240" cy="6781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279"/>
                </a:lnSpc>
              </a:pPr>
              <a:r>
                <a:rPr lang="en-US" b="true" sz="1899">
                  <a:solidFill>
                    <a:srgbClr val="C7CEDD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Backend (Spring Boot + MongoDB)</a:t>
              </a:r>
            </a:p>
          </p:txBody>
        </p:sp>
      </p:grpSp>
      <p:grpSp>
        <p:nvGrpSpPr>
          <p:cNvPr name="Group 36" id="36"/>
          <p:cNvGrpSpPr/>
          <p:nvPr/>
        </p:nvGrpSpPr>
        <p:grpSpPr>
          <a:xfrm rot="0">
            <a:off x="9964674" y="8288655"/>
            <a:ext cx="6583680" cy="681651"/>
            <a:chOff x="0" y="0"/>
            <a:chExt cx="8778240" cy="908869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8778239" cy="908869"/>
            </a:xfrm>
            <a:custGeom>
              <a:avLst/>
              <a:gdLst/>
              <a:ahLst/>
              <a:cxnLst/>
              <a:rect r="r" b="b" t="t" l="l"/>
              <a:pathLst>
                <a:path h="908869" w="8778239">
                  <a:moveTo>
                    <a:pt x="0" y="0"/>
                  </a:moveTo>
                  <a:lnTo>
                    <a:pt x="8778239" y="0"/>
                  </a:lnTo>
                  <a:lnTo>
                    <a:pt x="8778239" y="908869"/>
                  </a:lnTo>
                  <a:lnTo>
                    <a:pt x="0" y="908869"/>
                  </a:ln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D8D8D6"/>
              </a:solidFill>
              <a:prstDash val="solid"/>
              <a:miter/>
            </a:ln>
          </p:spPr>
        </p:sp>
      </p:grpSp>
      <p:grpSp>
        <p:nvGrpSpPr>
          <p:cNvPr name="Group 38" id="38"/>
          <p:cNvGrpSpPr/>
          <p:nvPr/>
        </p:nvGrpSpPr>
        <p:grpSpPr>
          <a:xfrm rot="0">
            <a:off x="9964674" y="8351520"/>
            <a:ext cx="6583680" cy="542756"/>
            <a:chOff x="0" y="0"/>
            <a:chExt cx="8778240" cy="723674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8778239" cy="723674"/>
            </a:xfrm>
            <a:custGeom>
              <a:avLst/>
              <a:gdLst/>
              <a:ahLst/>
              <a:cxnLst/>
              <a:rect r="r" b="b" t="t" l="l"/>
              <a:pathLst>
                <a:path h="723674" w="8778239">
                  <a:moveTo>
                    <a:pt x="0" y="0"/>
                  </a:moveTo>
                  <a:lnTo>
                    <a:pt x="8778239" y="0"/>
                  </a:lnTo>
                  <a:lnTo>
                    <a:pt x="8778239" y="723674"/>
                  </a:lnTo>
                  <a:lnTo>
                    <a:pt x="0" y="72367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6117" r="8333" b="-167201"/>
              </a:stretch>
            </a:blipFill>
          </p:spPr>
        </p:sp>
        <p:sp>
          <p:nvSpPr>
            <p:cNvPr name="TextBox 40" id="40"/>
            <p:cNvSpPr txBox="true"/>
            <p:nvPr/>
          </p:nvSpPr>
          <p:spPr>
            <a:xfrm>
              <a:off x="0" y="0"/>
              <a:ext cx="8778240" cy="72367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89"/>
                </a:lnSpc>
              </a:pPr>
              <a:r>
                <a:rPr lang="en-US" sz="1575" i="true" u="sng">
                  <a:solidFill>
                    <a:srgbClr val="5B6472"/>
                  </a:solidFill>
                  <a:latin typeface="Courier New Italics"/>
                  <a:ea typeface="Courier New Italics"/>
                  <a:cs typeface="Courier New Italics"/>
                  <a:sym typeface="Courier New Italics"/>
                  <a:hlinkClick r:id="rId7" tooltip="https://github.com/PROJETOS-FIAP-2TDSOD/aria-backend"/>
                </a:rPr>
                <a:t>https://github.com/PROJETOS-FIAP-2TDSOD/aria-backend</a:t>
              </a:r>
            </a:p>
          </p:txBody>
        </p:sp>
      </p:grpSp>
      <p:grpSp>
        <p:nvGrpSpPr>
          <p:cNvPr name="Group 41" id="41"/>
          <p:cNvGrpSpPr/>
          <p:nvPr/>
        </p:nvGrpSpPr>
        <p:grpSpPr>
          <a:xfrm rot="0">
            <a:off x="17323308" y="9669780"/>
            <a:ext cx="685800" cy="411480"/>
            <a:chOff x="0" y="0"/>
            <a:chExt cx="914400" cy="548640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914400" cy="548640"/>
            </a:xfrm>
            <a:custGeom>
              <a:avLst/>
              <a:gdLst/>
              <a:ahLst/>
              <a:cxnLst/>
              <a:rect r="r" b="b" t="t" l="l"/>
              <a:pathLst>
                <a:path h="54864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6982" t="0" r="-26982" b="0"/>
              </a:stretch>
            </a:blipFill>
          </p:spPr>
        </p:sp>
        <p:sp>
          <p:nvSpPr>
            <p:cNvPr name="TextBox 43" id="43"/>
            <p:cNvSpPr txBox="true"/>
            <p:nvPr/>
          </p:nvSpPr>
          <p:spPr>
            <a:xfrm>
              <a:off x="0" y="-38100"/>
              <a:ext cx="91440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800"/>
                </a:lnSpc>
              </a:pPr>
              <a:r>
                <a:rPr lang="en-US" sz="1500">
                  <a:solidFill>
                    <a:srgbClr val="5B6472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17</a:t>
              </a:r>
            </a:p>
          </p:txBody>
        </p:sp>
      </p:grp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A25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3345668" y="-3017520"/>
            <a:ext cx="8915400" cy="8915400"/>
            <a:chOff x="0" y="0"/>
            <a:chExt cx="11887200" cy="118872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1887200" cy="11887200"/>
            </a:xfrm>
            <a:custGeom>
              <a:avLst/>
              <a:gdLst/>
              <a:ahLst/>
              <a:cxnLst/>
              <a:rect r="r" b="b" t="t" l="l"/>
              <a:pathLst>
                <a:path h="11887200" w="11887200">
                  <a:moveTo>
                    <a:pt x="0" y="5943600"/>
                  </a:moveTo>
                  <a:cubicBezTo>
                    <a:pt x="0" y="2661031"/>
                    <a:pt x="2661031" y="0"/>
                    <a:pt x="5943600" y="0"/>
                  </a:cubicBezTo>
                  <a:cubicBezTo>
                    <a:pt x="9226169" y="0"/>
                    <a:pt x="11887200" y="2661031"/>
                    <a:pt x="11887200" y="5943600"/>
                  </a:cubicBezTo>
                  <a:cubicBezTo>
                    <a:pt x="11887200" y="9226169"/>
                    <a:pt x="9226169" y="11887200"/>
                    <a:pt x="5943600" y="11887200"/>
                  </a:cubicBezTo>
                  <a:cubicBezTo>
                    <a:pt x="2661031" y="11887200"/>
                    <a:pt x="0" y="9226169"/>
                    <a:pt x="0" y="5943600"/>
                  </a:cubicBezTo>
                  <a:close/>
                </a:path>
              </a:pathLst>
            </a:custGeom>
            <a:solidFill>
              <a:srgbClr val="273657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234440" y="2194560"/>
            <a:ext cx="13716000" cy="3017520"/>
            <a:chOff x="0" y="0"/>
            <a:chExt cx="18288000" cy="402336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8288000" cy="4023360"/>
            </a:xfrm>
            <a:custGeom>
              <a:avLst/>
              <a:gdLst/>
              <a:ahLst/>
              <a:cxnLst/>
              <a:rect r="r" b="b" t="t" l="l"/>
              <a:pathLst>
                <a:path h="4023360" w="18288000">
                  <a:moveTo>
                    <a:pt x="0" y="0"/>
                  </a:moveTo>
                  <a:lnTo>
                    <a:pt x="18288000" y="0"/>
                  </a:lnTo>
                  <a:lnTo>
                    <a:pt x="18288000" y="4023360"/>
                  </a:lnTo>
                  <a:lnTo>
                    <a:pt x="0" y="40233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8568" r="0" b="-38568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9525"/>
              <a:ext cx="18288000" cy="40328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120"/>
                </a:lnSpc>
              </a:pPr>
              <a:r>
                <a:rPr lang="en-US" b="true" sz="5100" i="true">
                  <a:solidFill>
                    <a:srgbClr val="FFFFFF"/>
                  </a:solidFill>
                  <a:latin typeface="Cambria Bold Italics"/>
                  <a:ea typeface="Cambria Bold Italics"/>
                  <a:cs typeface="Cambria Bold Italics"/>
                  <a:sym typeface="Cambria Bold Italics"/>
                </a:rPr>
                <a:t>ARIA transforma inovação</a:t>
              </a:r>
            </a:p>
            <a:p>
              <a:pPr algn="l">
                <a:lnSpc>
                  <a:spcPts val="6120"/>
                </a:lnSpc>
              </a:pPr>
              <a:r>
                <a:rPr lang="en-US" b="true" sz="5100" i="true">
                  <a:solidFill>
                    <a:srgbClr val="FFFFFF"/>
                  </a:solidFill>
                  <a:latin typeface="Cambria Bold Italics"/>
                  <a:ea typeface="Cambria Bold Italics"/>
                  <a:cs typeface="Cambria Bold Italics"/>
                  <a:sym typeface="Cambria Bold Italics"/>
                </a:rPr>
                <a:t>operacional em resultado</a:t>
              </a:r>
            </a:p>
            <a:p>
              <a:pPr algn="l">
                <a:lnSpc>
                  <a:spcPts val="6120"/>
                </a:lnSpc>
              </a:pPr>
              <a:r>
                <a:rPr lang="en-US" b="true" sz="5100" i="true">
                  <a:solidFill>
                    <a:srgbClr val="FFFFFF"/>
                  </a:solidFill>
                  <a:latin typeface="Cambria Bold Italics"/>
                  <a:ea typeface="Cambria Bold Italics"/>
                  <a:cs typeface="Cambria Bold Italics"/>
                  <a:sym typeface="Cambria Bold Italics"/>
                </a:rPr>
                <a:t>estratégico.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234440" y="5143500"/>
            <a:ext cx="13030200" cy="822960"/>
            <a:chOff x="0" y="0"/>
            <a:chExt cx="17373600" cy="109728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7373600" cy="1097280"/>
            </a:xfrm>
            <a:custGeom>
              <a:avLst/>
              <a:gdLst/>
              <a:ahLst/>
              <a:cxnLst/>
              <a:rect r="r" b="b" t="t" l="l"/>
              <a:pathLst>
                <a:path h="1097280" w="17373600">
                  <a:moveTo>
                    <a:pt x="0" y="0"/>
                  </a:moveTo>
                  <a:lnTo>
                    <a:pt x="17373600" y="0"/>
                  </a:lnTo>
                  <a:lnTo>
                    <a:pt x="1737360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58513" r="0" b="-258513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17373600" cy="11353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>
                  <a:solidFill>
                    <a:srgbClr val="C7CED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Não é mais uma promessa. É uma plataforma rodando, hoje, na nuvem.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234440" y="8229600"/>
            <a:ext cx="3610737" cy="548640"/>
            <a:chOff x="0" y="0"/>
            <a:chExt cx="4814316" cy="73152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4814316" cy="731520"/>
            </a:xfrm>
            <a:custGeom>
              <a:avLst/>
              <a:gdLst/>
              <a:ahLst/>
              <a:cxnLst/>
              <a:rect r="r" b="b" t="t" l="l"/>
              <a:pathLst>
                <a:path h="731520" w="4814316">
                  <a:moveTo>
                    <a:pt x="0" y="0"/>
                  </a:moveTo>
                  <a:lnTo>
                    <a:pt x="4814316" y="0"/>
                  </a:lnTo>
                  <a:lnTo>
                    <a:pt x="4814316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78235" r="0" b="-78235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38100"/>
              <a:ext cx="4814316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b="true" sz="1800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Ana Cristina dos Santos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234440" y="8709660"/>
            <a:ext cx="3610737" cy="480060"/>
            <a:chOff x="0" y="0"/>
            <a:chExt cx="4814316" cy="64008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4814316" cy="640080"/>
            </a:xfrm>
            <a:custGeom>
              <a:avLst/>
              <a:gdLst/>
              <a:ahLst/>
              <a:cxnLst/>
              <a:rect r="r" b="b" t="t" l="l"/>
              <a:pathLst>
                <a:path h="640080" w="4814316">
                  <a:moveTo>
                    <a:pt x="0" y="0"/>
                  </a:moveTo>
                  <a:lnTo>
                    <a:pt x="4814316" y="0"/>
                  </a:lnTo>
                  <a:lnTo>
                    <a:pt x="4814316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96555" r="0" b="-96555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28575"/>
              <a:ext cx="4814316" cy="66865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sz="1650">
                  <a:solidFill>
                    <a:srgbClr val="E8B15C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RM 565086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5188077" y="8229600"/>
            <a:ext cx="3610737" cy="548640"/>
            <a:chOff x="0" y="0"/>
            <a:chExt cx="4814316" cy="73152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4814316" cy="731520"/>
            </a:xfrm>
            <a:custGeom>
              <a:avLst/>
              <a:gdLst/>
              <a:ahLst/>
              <a:cxnLst/>
              <a:rect r="r" b="b" t="t" l="l"/>
              <a:pathLst>
                <a:path h="731520" w="4814316">
                  <a:moveTo>
                    <a:pt x="0" y="0"/>
                  </a:moveTo>
                  <a:lnTo>
                    <a:pt x="4814316" y="0"/>
                  </a:lnTo>
                  <a:lnTo>
                    <a:pt x="4814316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78235" r="0" b="-78235"/>
              </a:stretch>
            </a:blip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38100"/>
              <a:ext cx="4814316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b="true" sz="1800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Bruno Queiroz Pires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5188077" y="8709660"/>
            <a:ext cx="3610737" cy="480060"/>
            <a:chOff x="0" y="0"/>
            <a:chExt cx="4814316" cy="64008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4814316" cy="640080"/>
            </a:xfrm>
            <a:custGeom>
              <a:avLst/>
              <a:gdLst/>
              <a:ahLst/>
              <a:cxnLst/>
              <a:rect r="r" b="b" t="t" l="l"/>
              <a:pathLst>
                <a:path h="640080" w="4814316">
                  <a:moveTo>
                    <a:pt x="0" y="0"/>
                  </a:moveTo>
                  <a:lnTo>
                    <a:pt x="4814316" y="0"/>
                  </a:lnTo>
                  <a:lnTo>
                    <a:pt x="4814316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96555" r="0" b="-96555"/>
              </a:stretch>
            </a:blip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28575"/>
              <a:ext cx="4814316" cy="66865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sz="1650">
                  <a:solidFill>
                    <a:srgbClr val="E8B15C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RM 561676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9141714" y="8229600"/>
            <a:ext cx="3610737" cy="548640"/>
            <a:chOff x="0" y="0"/>
            <a:chExt cx="4814316" cy="73152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4814316" cy="731520"/>
            </a:xfrm>
            <a:custGeom>
              <a:avLst/>
              <a:gdLst/>
              <a:ahLst/>
              <a:cxnLst/>
              <a:rect r="r" b="b" t="t" l="l"/>
              <a:pathLst>
                <a:path h="731520" w="4814316">
                  <a:moveTo>
                    <a:pt x="0" y="0"/>
                  </a:moveTo>
                  <a:lnTo>
                    <a:pt x="4814316" y="0"/>
                  </a:lnTo>
                  <a:lnTo>
                    <a:pt x="4814316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78235" r="0" b="-78235"/>
              </a:stretch>
            </a:blip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38100"/>
              <a:ext cx="4814316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b="true" sz="1800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Vitor Mello de Araújo</a:t>
              </a: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9141714" y="8709660"/>
            <a:ext cx="3610737" cy="480060"/>
            <a:chOff x="0" y="0"/>
            <a:chExt cx="4814316" cy="64008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4814316" cy="640080"/>
            </a:xfrm>
            <a:custGeom>
              <a:avLst/>
              <a:gdLst/>
              <a:ahLst/>
              <a:cxnLst/>
              <a:rect r="r" b="b" t="t" l="l"/>
              <a:pathLst>
                <a:path h="640080" w="4814316">
                  <a:moveTo>
                    <a:pt x="0" y="0"/>
                  </a:moveTo>
                  <a:lnTo>
                    <a:pt x="4814316" y="0"/>
                  </a:lnTo>
                  <a:lnTo>
                    <a:pt x="4814316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96555" r="0" b="-96555"/>
              </a:stretch>
            </a:blipFill>
          </p:spPr>
        </p:sp>
        <p:sp>
          <p:nvSpPr>
            <p:cNvPr name="TextBox 27" id="27"/>
            <p:cNvSpPr txBox="true"/>
            <p:nvPr/>
          </p:nvSpPr>
          <p:spPr>
            <a:xfrm>
              <a:off x="0" y="-28575"/>
              <a:ext cx="4814316" cy="66865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sz="1650">
                  <a:solidFill>
                    <a:srgbClr val="E8B15C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RM 561632</a:t>
              </a: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13095351" y="8229600"/>
            <a:ext cx="3610737" cy="548640"/>
            <a:chOff x="0" y="0"/>
            <a:chExt cx="4814316" cy="73152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4814316" cy="731520"/>
            </a:xfrm>
            <a:custGeom>
              <a:avLst/>
              <a:gdLst/>
              <a:ahLst/>
              <a:cxnLst/>
              <a:rect r="r" b="b" t="t" l="l"/>
              <a:pathLst>
                <a:path h="731520" w="4814316">
                  <a:moveTo>
                    <a:pt x="0" y="0"/>
                  </a:moveTo>
                  <a:lnTo>
                    <a:pt x="4814316" y="0"/>
                  </a:lnTo>
                  <a:lnTo>
                    <a:pt x="4814316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78235" r="0" b="-78235"/>
              </a:stretch>
            </a:blipFill>
          </p:spPr>
        </p:sp>
        <p:sp>
          <p:nvSpPr>
            <p:cNvPr name="TextBox 30" id="30"/>
            <p:cNvSpPr txBox="true"/>
            <p:nvPr/>
          </p:nvSpPr>
          <p:spPr>
            <a:xfrm>
              <a:off x="0" y="-38100"/>
              <a:ext cx="4814316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b="true" sz="1800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Vitor Passeri de Souza Kaluf</a:t>
              </a: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13095351" y="8709660"/>
            <a:ext cx="3610737" cy="480060"/>
            <a:chOff x="0" y="0"/>
            <a:chExt cx="4814316" cy="64008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4814316" cy="640080"/>
            </a:xfrm>
            <a:custGeom>
              <a:avLst/>
              <a:gdLst/>
              <a:ahLst/>
              <a:cxnLst/>
              <a:rect r="r" b="b" t="t" l="l"/>
              <a:pathLst>
                <a:path h="640080" w="4814316">
                  <a:moveTo>
                    <a:pt x="0" y="0"/>
                  </a:moveTo>
                  <a:lnTo>
                    <a:pt x="4814316" y="0"/>
                  </a:lnTo>
                  <a:lnTo>
                    <a:pt x="4814316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96555" r="0" b="-96555"/>
              </a:stretch>
            </a:blipFill>
          </p:spPr>
        </p:sp>
        <p:sp>
          <p:nvSpPr>
            <p:cNvPr name="TextBox 33" id="33"/>
            <p:cNvSpPr txBox="true"/>
            <p:nvPr/>
          </p:nvSpPr>
          <p:spPr>
            <a:xfrm>
              <a:off x="0" y="-28575"/>
              <a:ext cx="4814316" cy="66865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sz="1650">
                  <a:solidFill>
                    <a:srgbClr val="E8B15C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RM 562852</a:t>
              </a:r>
            </a:p>
          </p:txBody>
        </p:sp>
      </p:grpSp>
      <p:grpSp>
        <p:nvGrpSpPr>
          <p:cNvPr name="Group 34" id="34"/>
          <p:cNvGrpSpPr/>
          <p:nvPr/>
        </p:nvGrpSpPr>
        <p:grpSpPr>
          <a:xfrm rot="0">
            <a:off x="1234440" y="822960"/>
            <a:ext cx="12344400" cy="480060"/>
            <a:chOff x="0" y="0"/>
            <a:chExt cx="16459200" cy="64008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16459200" cy="640080"/>
            </a:xfrm>
            <a:custGeom>
              <a:avLst/>
              <a:gdLst/>
              <a:ahLst/>
              <a:cxnLst/>
              <a:rect r="r" b="b" t="t" l="l"/>
              <a:pathLst>
                <a:path h="640080" w="16459200">
                  <a:moveTo>
                    <a:pt x="0" y="0"/>
                  </a:moveTo>
                  <a:lnTo>
                    <a:pt x="16459200" y="0"/>
                  </a:lnTo>
                  <a:lnTo>
                    <a:pt x="1645920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51043" r="0" b="-451043"/>
              </a:stretch>
            </a:blipFill>
          </p:spPr>
        </p:sp>
        <p:sp>
          <p:nvSpPr>
            <p:cNvPr name="TextBox 36" id="36"/>
            <p:cNvSpPr txBox="true"/>
            <p:nvPr/>
          </p:nvSpPr>
          <p:spPr>
            <a:xfrm>
              <a:off x="0" y="-38100"/>
              <a:ext cx="16459200" cy="6781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b="true" sz="1800">
                  <a:solidFill>
                    <a:srgbClr val="E8B15C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CHALLENGE ÁGUIA BRANCA · SPRINT 2 · FIAP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DAHV4D47QQY</dc:identifier>
  <dcterms:modified xsi:type="dcterms:W3CDTF">2011-08-01T06:04:30Z</dcterms:modified>
  <cp:revision>1</cp:revision>
  <dc:title>ARIA - Águia Branca - Challenge Sprint 2</dc:title>
</cp:coreProperties>
</file>